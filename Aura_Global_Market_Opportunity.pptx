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slide. Set the scene: Aura is a modern, NAAC-native academic ERP built for Indian higher education — but the opportunity is far larger.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insight: this isn't a niche problem. Nearly every institution in India and similar markets faces the same fragmentation.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India is the beachhead. Even 1% penetration of the Indian college market at ₹20,000/month average = ₹840 Cr ARR. The market is massive and underserved.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distinct customer segments. Core market is India, but expansion path is clear. South &amp; SE Asia is the fastest international route — structurally similar, no major product changes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expansion path is India → Sri Lanka → Bangladesh/Philippines → Gulf → Africa → Western markets. Each step is incremental, not a full rebuild.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competitive window is now. Legacy players are technically stale and Western-focused. Modern cloud players are generic. Aura is the first NAAC-native, cloud-first, full academic ERP for this market.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Pricing is benchmarked against the Indian EdTech SaaS market. At ₹20,000/month average across all tiers, 1% of Indian colleges = ₹100 Cr ARR. The Growth tier is the sweet spot for volume.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roadmap already addresses all of these. Phase 2.5 is the security and compliance gate before first paid customer. Architecture track A6 unlocks international.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moat compounds: the more institutions use Aura, the richer the NAAC data model gets, the harder it is to leave, and the stronger the reference network for new sales.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horizons: India first, South Asia + Gulf second, Western markets third. Each horizon funds the next. The roadmap already covers all the technical work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urgency. The competitive window is open today. Every month of delay is market share that someone else might claim. Phase 2.5 is the only gate before the first paying customer.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3E"/>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28090"/>
          </a:solidFill>
          <a:ln w="12700">
            <a:solidFill>
              <a:srgbClr val="028090"/>
            </a:solidFill>
            <a:prstDash val="solid"/>
          </a:ln>
        </p:spPr>
      </p:sp>
      <p:sp>
        <p:nvSpPr>
          <p:cNvPr id="3" name="Shape 1"/>
          <p:cNvSpPr/>
          <p:nvPr/>
        </p:nvSpPr>
        <p:spPr>
          <a:xfrm>
            <a:off x="5669280" y="-1097280"/>
            <a:ext cx="5029200" cy="5029200"/>
          </a:xfrm>
          <a:prstGeom prst="ellipse">
            <a:avLst/>
          </a:prstGeom>
          <a:solidFill>
            <a:srgbClr val="028090">
              <a:alpha val="12000"/>
            </a:srgbClr>
          </a:solidFill>
          <a:ln w="12700">
            <a:solidFill>
              <a:srgbClr val="028090">
                <a:alpha val="20000"/>
              </a:srgbClr>
            </a:solidFill>
            <a:prstDash val="solid"/>
          </a:ln>
        </p:spPr>
      </p:sp>
      <p:sp>
        <p:nvSpPr>
          <p:cNvPr id="4" name="Shape 2"/>
          <p:cNvSpPr/>
          <p:nvPr/>
        </p:nvSpPr>
        <p:spPr>
          <a:xfrm>
            <a:off x="6400800" y="-457200"/>
            <a:ext cx="3474720" cy="3474720"/>
          </a:xfrm>
          <a:prstGeom prst="ellipse">
            <a:avLst/>
          </a:prstGeom>
          <a:solidFill>
            <a:srgbClr val="02C39A">
              <a:alpha val="8000"/>
            </a:srgbClr>
          </a:solidFill>
          <a:ln w="12700">
            <a:solidFill>
              <a:srgbClr val="02C39A">
                <a:alpha val="12000"/>
              </a:srgbClr>
            </a:solidFill>
            <a:prstDash val="solid"/>
          </a:ln>
        </p:spPr>
      </p:sp>
      <p:sp>
        <p:nvSpPr>
          <p:cNvPr id="5" name="Text 3"/>
          <p:cNvSpPr/>
          <p:nvPr/>
        </p:nvSpPr>
        <p:spPr>
          <a:xfrm>
            <a:off x="411480" y="914400"/>
            <a:ext cx="8229600" cy="502920"/>
          </a:xfrm>
          <a:prstGeom prst="rect">
            <a:avLst/>
          </a:prstGeom>
          <a:noFill/>
          <a:ln/>
        </p:spPr>
        <p:txBody>
          <a:bodyPr wrap="square" rtlCol="0" anchor="ctr"/>
          <a:lstStyle/>
          <a:p>
            <a:pPr indent="0" marL="0">
              <a:buNone/>
            </a:pPr>
            <a:r>
              <a:rPr lang="en-US" sz="1200" b="1" spc="800" kern="0" dirty="0">
                <a:solidFill>
                  <a:srgbClr val="028090"/>
                </a:solidFill>
              </a:rPr>
              <a:t>AURA ERP</a:t>
            </a:r>
            <a:endParaRPr lang="en-US" sz="1200" dirty="0"/>
          </a:p>
        </p:txBody>
      </p:sp>
      <p:sp>
        <p:nvSpPr>
          <p:cNvPr id="6" name="Text 4"/>
          <p:cNvSpPr/>
          <p:nvPr/>
        </p:nvSpPr>
        <p:spPr>
          <a:xfrm>
            <a:off x="411480" y="1463040"/>
            <a:ext cx="6858000" cy="1737360"/>
          </a:xfrm>
          <a:prstGeom prst="rect">
            <a:avLst/>
          </a:prstGeom>
          <a:noFill/>
          <a:ln/>
        </p:spPr>
        <p:txBody>
          <a:bodyPr wrap="square" rtlCol="0" anchor="t"/>
          <a:lstStyle/>
          <a:p>
            <a:pPr indent="0" marL="0">
              <a:buNone/>
            </a:pPr>
            <a:r>
              <a:rPr lang="en-US" sz="5200" b="1" dirty="0">
                <a:solidFill>
                  <a:srgbClr val="FFFFFF"/>
                </a:solidFill>
                <a:latin typeface="Cambria" pitchFamily="34" charset="0"/>
                <a:ea typeface="Cambria" pitchFamily="34" charset="-122"/>
                <a:cs typeface="Cambria" pitchFamily="34" charset="-120"/>
              </a:rPr>
              <a:t>Global Market</a:t>
            </a:r>
            <a:endParaRPr lang="en-US" sz="5200" dirty="0"/>
          </a:p>
          <a:p>
            <a:pPr indent="0" marL="0">
              <a:buNone/>
            </a:pPr>
            <a:r>
              <a:rPr lang="en-US" sz="5200" b="1" dirty="0">
                <a:solidFill>
                  <a:srgbClr val="FFFFFF"/>
                </a:solidFill>
                <a:latin typeface="Cambria" pitchFamily="34" charset="0"/>
                <a:ea typeface="Cambria" pitchFamily="34" charset="-122"/>
                <a:cs typeface="Cambria" pitchFamily="34" charset="-120"/>
              </a:rPr>
              <a:t>Opportunity</a:t>
            </a:r>
            <a:endParaRPr lang="en-US" sz="5200" dirty="0"/>
          </a:p>
        </p:txBody>
      </p:sp>
      <p:sp>
        <p:nvSpPr>
          <p:cNvPr id="7" name="Text 5"/>
          <p:cNvSpPr/>
          <p:nvPr/>
        </p:nvSpPr>
        <p:spPr>
          <a:xfrm>
            <a:off x="411480" y="3291840"/>
            <a:ext cx="6400800" cy="457200"/>
          </a:xfrm>
          <a:prstGeom prst="rect">
            <a:avLst/>
          </a:prstGeom>
          <a:noFill/>
          <a:ln/>
        </p:spPr>
        <p:txBody>
          <a:bodyPr wrap="square" rtlCol="0" anchor="ctr"/>
          <a:lstStyle/>
          <a:p>
            <a:pPr indent="0" marL="0">
              <a:buNone/>
            </a:pPr>
            <a:r>
              <a:rPr lang="en-US" sz="1500" i="1" dirty="0">
                <a:solidFill>
                  <a:srgbClr val="94A3B8"/>
                </a:solidFill>
              </a:rPr>
              <a:t>Where Aura can go, who it can serve, and how big the prize is.</a:t>
            </a:r>
            <a:endParaRPr lang="en-US" sz="1500" dirty="0"/>
          </a:p>
        </p:txBody>
      </p:sp>
      <p:sp>
        <p:nvSpPr>
          <p:cNvPr id="8" name="Shape 6"/>
          <p:cNvSpPr/>
          <p:nvPr/>
        </p:nvSpPr>
        <p:spPr>
          <a:xfrm>
            <a:off x="411480" y="3977640"/>
            <a:ext cx="2011680" cy="868680"/>
          </a:xfrm>
          <a:prstGeom prst="roundRect">
            <a:avLst>
              <a:gd name="adj" fmla="val 8421"/>
            </a:avLst>
          </a:prstGeom>
          <a:solidFill>
            <a:srgbClr val="1A2F5C"/>
          </a:solidFill>
          <a:ln w="12700">
            <a:solidFill>
              <a:srgbClr val="028090">
                <a:alpha val="40000"/>
              </a:srgbClr>
            </a:solidFill>
            <a:prstDash val="solid"/>
          </a:ln>
        </p:spPr>
      </p:sp>
      <p:sp>
        <p:nvSpPr>
          <p:cNvPr id="9" name="Text 7"/>
          <p:cNvSpPr/>
          <p:nvPr/>
        </p:nvSpPr>
        <p:spPr>
          <a:xfrm>
            <a:off x="411480" y="4005072"/>
            <a:ext cx="2011680" cy="384048"/>
          </a:xfrm>
          <a:prstGeom prst="rect">
            <a:avLst/>
          </a:prstGeom>
          <a:noFill/>
          <a:ln/>
        </p:spPr>
        <p:txBody>
          <a:bodyPr wrap="square" lIns="0" tIns="0" rIns="0" bIns="0" rtlCol="0" anchor="ctr"/>
          <a:lstStyle/>
          <a:p>
            <a:pPr algn="ctr" indent="0" marL="0">
              <a:buNone/>
            </a:pPr>
            <a:r>
              <a:rPr lang="en-US" sz="1800" b="1" dirty="0">
                <a:solidFill>
                  <a:srgbClr val="028090"/>
                </a:solidFill>
              </a:rPr>
              <a:t>1.4B+</a:t>
            </a:r>
            <a:endParaRPr lang="en-US" sz="1800" dirty="0"/>
          </a:p>
        </p:txBody>
      </p:sp>
      <p:sp>
        <p:nvSpPr>
          <p:cNvPr id="10" name="Text 8"/>
          <p:cNvSpPr/>
          <p:nvPr/>
        </p:nvSpPr>
        <p:spPr>
          <a:xfrm>
            <a:off x="411480" y="4370832"/>
            <a:ext cx="2011680" cy="256032"/>
          </a:xfrm>
          <a:prstGeom prst="rect">
            <a:avLst/>
          </a:prstGeom>
          <a:noFill/>
          <a:ln/>
        </p:spPr>
        <p:txBody>
          <a:bodyPr wrap="square" lIns="0" tIns="0" rIns="0" bIns="0" rtlCol="0" anchor="ctr"/>
          <a:lstStyle/>
          <a:p>
            <a:pPr algn="ctr" indent="0" marL="0">
              <a:buNone/>
            </a:pPr>
            <a:r>
              <a:rPr lang="en-US" sz="900" dirty="0">
                <a:solidFill>
                  <a:srgbClr val="94A3B8"/>
                </a:solidFill>
              </a:rPr>
              <a:t>Students globally</a:t>
            </a:r>
            <a:endParaRPr lang="en-US" sz="900" dirty="0"/>
          </a:p>
        </p:txBody>
      </p:sp>
      <p:sp>
        <p:nvSpPr>
          <p:cNvPr id="11" name="Shape 9"/>
          <p:cNvSpPr/>
          <p:nvPr/>
        </p:nvSpPr>
        <p:spPr>
          <a:xfrm>
            <a:off x="2587752" y="3977640"/>
            <a:ext cx="2011680" cy="868680"/>
          </a:xfrm>
          <a:prstGeom prst="roundRect">
            <a:avLst>
              <a:gd name="adj" fmla="val 8421"/>
            </a:avLst>
          </a:prstGeom>
          <a:solidFill>
            <a:srgbClr val="1A2F5C"/>
          </a:solidFill>
          <a:ln w="12700">
            <a:solidFill>
              <a:srgbClr val="028090">
                <a:alpha val="40000"/>
              </a:srgbClr>
            </a:solidFill>
            <a:prstDash val="solid"/>
          </a:ln>
        </p:spPr>
      </p:sp>
      <p:sp>
        <p:nvSpPr>
          <p:cNvPr id="12" name="Text 10"/>
          <p:cNvSpPr/>
          <p:nvPr/>
        </p:nvSpPr>
        <p:spPr>
          <a:xfrm>
            <a:off x="2587752" y="4005072"/>
            <a:ext cx="2011680" cy="384048"/>
          </a:xfrm>
          <a:prstGeom prst="rect">
            <a:avLst/>
          </a:prstGeom>
          <a:noFill/>
          <a:ln/>
        </p:spPr>
        <p:txBody>
          <a:bodyPr wrap="square" lIns="0" tIns="0" rIns="0" bIns="0" rtlCol="0" anchor="ctr"/>
          <a:lstStyle/>
          <a:p>
            <a:pPr algn="ctr" indent="0" marL="0">
              <a:buNone/>
            </a:pPr>
            <a:r>
              <a:rPr lang="en-US" sz="1800" b="1" dirty="0">
                <a:solidFill>
                  <a:srgbClr val="028090"/>
                </a:solidFill>
              </a:rPr>
              <a:t>$23B</a:t>
            </a:r>
            <a:endParaRPr lang="en-US" sz="1800" dirty="0"/>
          </a:p>
        </p:txBody>
      </p:sp>
      <p:sp>
        <p:nvSpPr>
          <p:cNvPr id="13" name="Text 11"/>
          <p:cNvSpPr/>
          <p:nvPr/>
        </p:nvSpPr>
        <p:spPr>
          <a:xfrm>
            <a:off x="2587752" y="4370832"/>
            <a:ext cx="2011680" cy="256032"/>
          </a:xfrm>
          <a:prstGeom prst="rect">
            <a:avLst/>
          </a:prstGeom>
          <a:noFill/>
          <a:ln/>
        </p:spPr>
        <p:txBody>
          <a:bodyPr wrap="square" lIns="0" tIns="0" rIns="0" bIns="0" rtlCol="0" anchor="ctr"/>
          <a:lstStyle/>
          <a:p>
            <a:pPr algn="ctr" indent="0" marL="0">
              <a:buNone/>
            </a:pPr>
            <a:r>
              <a:rPr lang="en-US" sz="900" dirty="0">
                <a:solidFill>
                  <a:srgbClr val="94A3B8"/>
                </a:solidFill>
              </a:rPr>
              <a:t>ERP market by 2028</a:t>
            </a:r>
            <a:endParaRPr lang="en-US" sz="900" dirty="0"/>
          </a:p>
        </p:txBody>
      </p:sp>
      <p:sp>
        <p:nvSpPr>
          <p:cNvPr id="14" name="Shape 12"/>
          <p:cNvSpPr/>
          <p:nvPr/>
        </p:nvSpPr>
        <p:spPr>
          <a:xfrm>
            <a:off x="4764024" y="3977640"/>
            <a:ext cx="2011680" cy="868680"/>
          </a:xfrm>
          <a:prstGeom prst="roundRect">
            <a:avLst>
              <a:gd name="adj" fmla="val 8421"/>
            </a:avLst>
          </a:prstGeom>
          <a:solidFill>
            <a:srgbClr val="1A2F5C"/>
          </a:solidFill>
          <a:ln w="12700">
            <a:solidFill>
              <a:srgbClr val="028090">
                <a:alpha val="40000"/>
              </a:srgbClr>
            </a:solidFill>
            <a:prstDash val="solid"/>
          </a:ln>
        </p:spPr>
      </p:sp>
      <p:sp>
        <p:nvSpPr>
          <p:cNvPr id="15" name="Text 13"/>
          <p:cNvSpPr/>
          <p:nvPr/>
        </p:nvSpPr>
        <p:spPr>
          <a:xfrm>
            <a:off x="4764024" y="4005072"/>
            <a:ext cx="2011680" cy="384048"/>
          </a:xfrm>
          <a:prstGeom prst="rect">
            <a:avLst/>
          </a:prstGeom>
          <a:noFill/>
          <a:ln/>
        </p:spPr>
        <p:txBody>
          <a:bodyPr wrap="square" lIns="0" tIns="0" rIns="0" bIns="0" rtlCol="0" anchor="ctr"/>
          <a:lstStyle/>
          <a:p>
            <a:pPr algn="ctr" indent="0" marL="0">
              <a:buNone/>
            </a:pPr>
            <a:r>
              <a:rPr lang="en-US" sz="1800" b="1" dirty="0">
                <a:solidFill>
                  <a:srgbClr val="028090"/>
                </a:solidFill>
              </a:rPr>
              <a:t>42,000+</a:t>
            </a:r>
            <a:endParaRPr lang="en-US" sz="1800" dirty="0"/>
          </a:p>
        </p:txBody>
      </p:sp>
      <p:sp>
        <p:nvSpPr>
          <p:cNvPr id="16" name="Text 14"/>
          <p:cNvSpPr/>
          <p:nvPr/>
        </p:nvSpPr>
        <p:spPr>
          <a:xfrm>
            <a:off x="4764024" y="4370832"/>
            <a:ext cx="2011680" cy="256032"/>
          </a:xfrm>
          <a:prstGeom prst="rect">
            <a:avLst/>
          </a:prstGeom>
          <a:noFill/>
          <a:ln/>
        </p:spPr>
        <p:txBody>
          <a:bodyPr wrap="square" lIns="0" tIns="0" rIns="0" bIns="0" rtlCol="0" anchor="ctr"/>
          <a:lstStyle/>
          <a:p>
            <a:pPr algn="ctr" indent="0" marL="0">
              <a:buNone/>
            </a:pPr>
            <a:r>
              <a:rPr lang="en-US" sz="900" dirty="0">
                <a:solidFill>
                  <a:srgbClr val="94A3B8"/>
                </a:solidFill>
              </a:rPr>
              <a:t>Indian colleges</a:t>
            </a:r>
            <a:endParaRPr lang="en-US" sz="900" dirty="0"/>
          </a:p>
        </p:txBody>
      </p:sp>
      <p:sp>
        <p:nvSpPr>
          <p:cNvPr id="17" name="Shape 15"/>
          <p:cNvSpPr/>
          <p:nvPr/>
        </p:nvSpPr>
        <p:spPr>
          <a:xfrm>
            <a:off x="6940296" y="3977640"/>
            <a:ext cx="2011680" cy="868680"/>
          </a:xfrm>
          <a:prstGeom prst="roundRect">
            <a:avLst>
              <a:gd name="adj" fmla="val 8421"/>
            </a:avLst>
          </a:prstGeom>
          <a:solidFill>
            <a:srgbClr val="1A2F5C"/>
          </a:solidFill>
          <a:ln w="12700">
            <a:solidFill>
              <a:srgbClr val="028090">
                <a:alpha val="40000"/>
              </a:srgbClr>
            </a:solidFill>
            <a:prstDash val="solid"/>
          </a:ln>
        </p:spPr>
      </p:sp>
      <p:sp>
        <p:nvSpPr>
          <p:cNvPr id="18" name="Text 16"/>
          <p:cNvSpPr/>
          <p:nvPr/>
        </p:nvSpPr>
        <p:spPr>
          <a:xfrm>
            <a:off x="6940296" y="4005072"/>
            <a:ext cx="2011680" cy="384048"/>
          </a:xfrm>
          <a:prstGeom prst="rect">
            <a:avLst/>
          </a:prstGeom>
          <a:noFill/>
          <a:ln/>
        </p:spPr>
        <p:txBody>
          <a:bodyPr wrap="square" lIns="0" tIns="0" rIns="0" bIns="0" rtlCol="0" anchor="ctr"/>
          <a:lstStyle/>
          <a:p>
            <a:pPr algn="ctr" indent="0" marL="0">
              <a:buNone/>
            </a:pPr>
            <a:r>
              <a:rPr lang="en-US" sz="1800" b="1" dirty="0">
                <a:solidFill>
                  <a:srgbClr val="028090"/>
                </a:solidFill>
              </a:rPr>
              <a:t>~80%</a:t>
            </a:r>
            <a:endParaRPr lang="en-US" sz="1800" dirty="0"/>
          </a:p>
        </p:txBody>
      </p:sp>
      <p:sp>
        <p:nvSpPr>
          <p:cNvPr id="19" name="Text 17"/>
          <p:cNvSpPr/>
          <p:nvPr/>
        </p:nvSpPr>
        <p:spPr>
          <a:xfrm>
            <a:off x="6940296" y="4370832"/>
            <a:ext cx="2011680" cy="256032"/>
          </a:xfrm>
          <a:prstGeom prst="rect">
            <a:avLst/>
          </a:prstGeom>
          <a:noFill/>
          <a:ln/>
        </p:spPr>
        <p:txBody>
          <a:bodyPr wrap="square" lIns="0" tIns="0" rIns="0" bIns="0" rtlCol="0" anchor="ctr"/>
          <a:lstStyle/>
          <a:p>
            <a:pPr algn="ctr" indent="0" marL="0">
              <a:buNone/>
            </a:pPr>
            <a:r>
              <a:rPr lang="en-US" sz="900" dirty="0">
                <a:solidFill>
                  <a:srgbClr val="94A3B8"/>
                </a:solidFill>
              </a:rPr>
              <a:t>On legacy systems</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D1B3E"/>
          </a:solidFill>
          <a:ln w="12700">
            <a:solidFill>
              <a:srgbClr val="0D1B3E"/>
            </a:solidFill>
            <a:prstDash val="solid"/>
          </a:ln>
        </p:spPr>
      </p:sp>
      <p:sp>
        <p:nvSpPr>
          <p:cNvPr id="3" name="Text 1"/>
          <p:cNvSpPr/>
          <p:nvPr/>
        </p:nvSpPr>
        <p:spPr>
          <a:xfrm>
            <a:off x="365760" y="0"/>
            <a:ext cx="8412480" cy="822960"/>
          </a:xfrm>
          <a:prstGeom prst="rect">
            <a:avLst/>
          </a:prstGeom>
          <a:noFill/>
          <a:ln/>
        </p:spPr>
        <p:txBody>
          <a:bodyPr wrap="square" rtlCol="0" anchor="ctr"/>
          <a:lstStyle/>
          <a:p>
            <a:pPr indent="0" marL="0">
              <a:buNone/>
            </a:pPr>
            <a:r>
              <a:rPr lang="en-US" sz="1100" b="1" spc="500" kern="0" dirty="0">
                <a:solidFill>
                  <a:srgbClr val="028090"/>
                </a:solidFill>
              </a:rPr>
              <a:t>THE PROBLEM AURA SOLVES</a:t>
            </a:r>
            <a:endParaRPr lang="en-US" sz="1100" dirty="0"/>
          </a:p>
        </p:txBody>
      </p:sp>
      <p:sp>
        <p:nvSpPr>
          <p:cNvPr id="4" name="Text 2"/>
          <p:cNvSpPr/>
          <p:nvPr/>
        </p:nvSpPr>
        <p:spPr>
          <a:xfrm>
            <a:off x="365760" y="960120"/>
            <a:ext cx="8412480" cy="502920"/>
          </a:xfrm>
          <a:prstGeom prst="rect">
            <a:avLst/>
          </a:prstGeom>
          <a:noFill/>
          <a:ln/>
        </p:spPr>
        <p:txBody>
          <a:bodyPr wrap="square" rtlCol="0" anchor="ctr"/>
          <a:lstStyle/>
          <a:p>
            <a:pPr indent="0" marL="0">
              <a:buNone/>
            </a:pPr>
            <a:r>
              <a:rPr lang="en-US" sz="1700" b="1" dirty="0">
                <a:solidFill>
                  <a:srgbClr val="0D1B3E"/>
                </a:solidFill>
              </a:rPr>
              <a:t>Most institutions worldwide are managing academics on tools that were never designed for it.</a:t>
            </a:r>
            <a:endParaRPr lang="en-US" sz="1700" dirty="0"/>
          </a:p>
        </p:txBody>
      </p:sp>
      <p:sp>
        <p:nvSpPr>
          <p:cNvPr id="5" name="Shape 3"/>
          <p:cNvSpPr/>
          <p:nvPr/>
        </p:nvSpPr>
        <p:spPr>
          <a:xfrm>
            <a:off x="365760" y="1600200"/>
            <a:ext cx="4114800" cy="1188720"/>
          </a:xfrm>
          <a:prstGeom prst="roundRect">
            <a:avLst>
              <a:gd name="adj" fmla="val 7692"/>
            </a:avLst>
          </a:prstGeom>
          <a:solidFill>
            <a:srgbClr val="FFFFFF"/>
          </a:solidFill>
          <a:ln w="12700">
            <a:solidFill>
              <a:srgbClr val="CBD5E1"/>
            </a:solidFill>
            <a:prstDash val="solid"/>
          </a:ln>
          <a:effectLst>
            <a:outerShdw sx="100000" sy="100000" kx="0" ky="0" algn="bl" rotWithShape="0" blurRad="101600" dist="25400" dir="2700000">
              <a:srgbClr val="000000">
                <a:alpha val="12000"/>
              </a:srgbClr>
            </a:outerShdw>
          </a:effectLst>
        </p:spPr>
      </p:sp>
      <p:sp>
        <p:nvSpPr>
          <p:cNvPr id="6" name="Text 4"/>
          <p:cNvSpPr/>
          <p:nvPr/>
        </p:nvSpPr>
        <p:spPr>
          <a:xfrm>
            <a:off x="530352" y="1709928"/>
            <a:ext cx="3840480" cy="320040"/>
          </a:xfrm>
          <a:prstGeom prst="rect">
            <a:avLst/>
          </a:prstGeom>
          <a:noFill/>
          <a:ln/>
        </p:spPr>
        <p:txBody>
          <a:bodyPr wrap="square" lIns="0" tIns="0" rIns="0" bIns="0" rtlCol="0" anchor="ctr"/>
          <a:lstStyle/>
          <a:p>
            <a:pPr indent="0" marL="0">
              <a:buNone/>
            </a:pPr>
            <a:r>
              <a:rPr lang="en-US" sz="1200" b="1" dirty="0">
                <a:solidFill>
                  <a:srgbClr val="0D1B3E"/>
                </a:solidFill>
              </a:rPr>
              <a:t>📋  Spreadsheets &amp; manual registers</a:t>
            </a:r>
            <a:endParaRPr lang="en-US" sz="1200" dirty="0"/>
          </a:p>
        </p:txBody>
      </p:sp>
      <p:sp>
        <p:nvSpPr>
          <p:cNvPr id="7" name="Text 5"/>
          <p:cNvSpPr/>
          <p:nvPr/>
        </p:nvSpPr>
        <p:spPr>
          <a:xfrm>
            <a:off x="530352" y="2039112"/>
            <a:ext cx="3785616" cy="621792"/>
          </a:xfrm>
          <a:prstGeom prst="rect">
            <a:avLst/>
          </a:prstGeom>
          <a:noFill/>
          <a:ln/>
        </p:spPr>
        <p:txBody>
          <a:bodyPr wrap="square" lIns="0" tIns="0" rIns="0" bIns="0" rtlCol="0" anchor="ctr"/>
          <a:lstStyle/>
          <a:p>
            <a:pPr indent="0" marL="0">
              <a:buNone/>
            </a:pPr>
            <a:r>
              <a:rPr lang="en-US" sz="1100" dirty="0">
                <a:solidFill>
                  <a:srgbClr val="64748B"/>
                </a:solidFill>
              </a:rPr>
              <a:t>Attendance, marks, and fee records managed in Excel or paper. Error-prone, not auditable, fails NAAC scrutiny.</a:t>
            </a:r>
            <a:endParaRPr lang="en-US" sz="1100" dirty="0"/>
          </a:p>
        </p:txBody>
      </p:sp>
      <p:sp>
        <p:nvSpPr>
          <p:cNvPr id="8" name="Shape 6"/>
          <p:cNvSpPr/>
          <p:nvPr/>
        </p:nvSpPr>
        <p:spPr>
          <a:xfrm>
            <a:off x="365760" y="3017520"/>
            <a:ext cx="4114800" cy="1188720"/>
          </a:xfrm>
          <a:prstGeom prst="roundRect">
            <a:avLst>
              <a:gd name="adj" fmla="val 7692"/>
            </a:avLst>
          </a:prstGeom>
          <a:solidFill>
            <a:srgbClr val="FFFFFF"/>
          </a:solidFill>
          <a:ln w="12700">
            <a:solidFill>
              <a:srgbClr val="CBD5E1"/>
            </a:solidFill>
            <a:prstDash val="solid"/>
          </a:ln>
          <a:effectLst>
            <a:outerShdw sx="100000" sy="100000" kx="0" ky="0" algn="bl" rotWithShape="0" blurRad="101600" dist="25400" dir="2700000">
              <a:srgbClr val="000000">
                <a:alpha val="12000"/>
              </a:srgbClr>
            </a:outerShdw>
          </a:effectLst>
        </p:spPr>
      </p:sp>
      <p:sp>
        <p:nvSpPr>
          <p:cNvPr id="9" name="Text 7"/>
          <p:cNvSpPr/>
          <p:nvPr/>
        </p:nvSpPr>
        <p:spPr>
          <a:xfrm>
            <a:off x="530352" y="3127248"/>
            <a:ext cx="3840480" cy="320040"/>
          </a:xfrm>
          <a:prstGeom prst="rect">
            <a:avLst/>
          </a:prstGeom>
          <a:noFill/>
          <a:ln/>
        </p:spPr>
        <p:txBody>
          <a:bodyPr wrap="square" lIns="0" tIns="0" rIns="0" bIns="0" rtlCol="0" anchor="ctr"/>
          <a:lstStyle/>
          <a:p>
            <a:pPr indent="0" marL="0">
              <a:buNone/>
            </a:pPr>
            <a:r>
              <a:rPr lang="en-US" sz="1200" b="1" dirty="0">
                <a:solidFill>
                  <a:srgbClr val="0D1B3E"/>
                </a:solidFill>
              </a:rPr>
              <a:t>💾  Decade-old on-premise software</a:t>
            </a:r>
            <a:endParaRPr lang="en-US" sz="1200" dirty="0"/>
          </a:p>
        </p:txBody>
      </p:sp>
      <p:sp>
        <p:nvSpPr>
          <p:cNvPr id="10" name="Text 8"/>
          <p:cNvSpPr/>
          <p:nvPr/>
        </p:nvSpPr>
        <p:spPr>
          <a:xfrm>
            <a:off x="530352" y="3456432"/>
            <a:ext cx="3785616" cy="621792"/>
          </a:xfrm>
          <a:prstGeom prst="rect">
            <a:avLst/>
          </a:prstGeom>
          <a:noFill/>
          <a:ln/>
        </p:spPr>
        <p:txBody>
          <a:bodyPr wrap="square" lIns="0" tIns="0" rIns="0" bIns="0" rtlCol="0" anchor="ctr"/>
          <a:lstStyle/>
          <a:p>
            <a:pPr indent="0" marL="0">
              <a:buNone/>
            </a:pPr>
            <a:r>
              <a:rPr lang="en-US" sz="1100" dirty="0">
                <a:solidFill>
                  <a:srgbClr val="64748B"/>
                </a:solidFill>
              </a:rPr>
              <a:t>Slow, expensive to maintain, no mobile access, no real-time data. IT teams spend more time patching than improving.</a:t>
            </a:r>
            <a:endParaRPr lang="en-US" sz="1100" dirty="0"/>
          </a:p>
        </p:txBody>
      </p:sp>
      <p:sp>
        <p:nvSpPr>
          <p:cNvPr id="11" name="Shape 9"/>
          <p:cNvSpPr/>
          <p:nvPr/>
        </p:nvSpPr>
        <p:spPr>
          <a:xfrm>
            <a:off x="4663440" y="1600200"/>
            <a:ext cx="4114800" cy="1188720"/>
          </a:xfrm>
          <a:prstGeom prst="roundRect">
            <a:avLst>
              <a:gd name="adj" fmla="val 7692"/>
            </a:avLst>
          </a:prstGeom>
          <a:solidFill>
            <a:srgbClr val="FFFFFF"/>
          </a:solidFill>
          <a:ln w="12700">
            <a:solidFill>
              <a:srgbClr val="CBD5E1"/>
            </a:solidFill>
            <a:prstDash val="solid"/>
          </a:ln>
          <a:effectLst>
            <a:outerShdw sx="100000" sy="100000" kx="0" ky="0" algn="bl" rotWithShape="0" blurRad="101600" dist="25400" dir="2700000">
              <a:srgbClr val="000000">
                <a:alpha val="12000"/>
              </a:srgbClr>
            </a:outerShdw>
          </a:effectLst>
        </p:spPr>
      </p:sp>
      <p:sp>
        <p:nvSpPr>
          <p:cNvPr id="12" name="Text 10"/>
          <p:cNvSpPr/>
          <p:nvPr/>
        </p:nvSpPr>
        <p:spPr>
          <a:xfrm>
            <a:off x="4828032" y="1709928"/>
            <a:ext cx="3840480" cy="320040"/>
          </a:xfrm>
          <a:prstGeom prst="rect">
            <a:avLst/>
          </a:prstGeom>
          <a:noFill/>
          <a:ln/>
        </p:spPr>
        <p:txBody>
          <a:bodyPr wrap="square" lIns="0" tIns="0" rIns="0" bIns="0" rtlCol="0" anchor="ctr"/>
          <a:lstStyle/>
          <a:p>
            <a:pPr indent="0" marL="0">
              <a:buNone/>
            </a:pPr>
            <a:r>
              <a:rPr lang="en-US" sz="1200" b="1" dirty="0">
                <a:solidFill>
                  <a:srgbClr val="0D1B3E"/>
                </a:solidFill>
              </a:rPr>
              <a:t>🧩  Disconnected point solutions</a:t>
            </a:r>
            <a:endParaRPr lang="en-US" sz="1200" dirty="0"/>
          </a:p>
        </p:txBody>
      </p:sp>
      <p:sp>
        <p:nvSpPr>
          <p:cNvPr id="13" name="Text 11"/>
          <p:cNvSpPr/>
          <p:nvPr/>
        </p:nvSpPr>
        <p:spPr>
          <a:xfrm>
            <a:off x="4828032" y="2039112"/>
            <a:ext cx="3785616" cy="621792"/>
          </a:xfrm>
          <a:prstGeom prst="rect">
            <a:avLst/>
          </a:prstGeom>
          <a:noFill/>
          <a:ln/>
        </p:spPr>
        <p:txBody>
          <a:bodyPr wrap="square" lIns="0" tIns="0" rIns="0" bIns="0" rtlCol="0" anchor="ctr"/>
          <a:lstStyle/>
          <a:p>
            <a:pPr indent="0" marL="0">
              <a:buNone/>
            </a:pPr>
            <a:r>
              <a:rPr lang="en-US" sz="1100" dirty="0">
                <a:solidFill>
                  <a:srgbClr val="64748B"/>
                </a:solidFill>
              </a:rPr>
              <a:t>One app for fees, another for attendance, another for timetables. No single source of truth. Data silos everywhere.</a:t>
            </a:r>
            <a:endParaRPr lang="en-US" sz="1100" dirty="0"/>
          </a:p>
        </p:txBody>
      </p:sp>
      <p:sp>
        <p:nvSpPr>
          <p:cNvPr id="14" name="Shape 12"/>
          <p:cNvSpPr/>
          <p:nvPr/>
        </p:nvSpPr>
        <p:spPr>
          <a:xfrm>
            <a:off x="4663440" y="3017520"/>
            <a:ext cx="4114800" cy="1188720"/>
          </a:xfrm>
          <a:prstGeom prst="roundRect">
            <a:avLst>
              <a:gd name="adj" fmla="val 7692"/>
            </a:avLst>
          </a:prstGeom>
          <a:solidFill>
            <a:srgbClr val="FFFFFF"/>
          </a:solidFill>
          <a:ln w="12700">
            <a:solidFill>
              <a:srgbClr val="CBD5E1"/>
            </a:solidFill>
            <a:prstDash val="solid"/>
          </a:ln>
          <a:effectLst>
            <a:outerShdw sx="100000" sy="100000" kx="0" ky="0" algn="bl" rotWithShape="0" blurRad="101600" dist="25400" dir="2700000">
              <a:srgbClr val="000000">
                <a:alpha val="12000"/>
              </a:srgbClr>
            </a:outerShdw>
          </a:effectLst>
        </p:spPr>
      </p:sp>
      <p:sp>
        <p:nvSpPr>
          <p:cNvPr id="15" name="Text 13"/>
          <p:cNvSpPr/>
          <p:nvPr/>
        </p:nvSpPr>
        <p:spPr>
          <a:xfrm>
            <a:off x="4828032" y="3127248"/>
            <a:ext cx="3840480" cy="320040"/>
          </a:xfrm>
          <a:prstGeom prst="rect">
            <a:avLst/>
          </a:prstGeom>
          <a:noFill/>
          <a:ln/>
        </p:spPr>
        <p:txBody>
          <a:bodyPr wrap="square" lIns="0" tIns="0" rIns="0" bIns="0" rtlCol="0" anchor="ctr"/>
          <a:lstStyle/>
          <a:p>
            <a:pPr indent="0" marL="0">
              <a:buNone/>
            </a:pPr>
            <a:r>
              <a:rPr lang="en-US" sz="1200" b="1" dirty="0">
                <a:solidFill>
                  <a:srgbClr val="0D1B3E"/>
                </a:solidFill>
              </a:rPr>
              <a:t>📑  NAAC compliance done manually</a:t>
            </a:r>
            <a:endParaRPr lang="en-US" sz="1200" dirty="0"/>
          </a:p>
        </p:txBody>
      </p:sp>
      <p:sp>
        <p:nvSpPr>
          <p:cNvPr id="16" name="Text 14"/>
          <p:cNvSpPr/>
          <p:nvPr/>
        </p:nvSpPr>
        <p:spPr>
          <a:xfrm>
            <a:off x="4828032" y="3456432"/>
            <a:ext cx="3785616" cy="621792"/>
          </a:xfrm>
          <a:prstGeom prst="rect">
            <a:avLst/>
          </a:prstGeom>
          <a:noFill/>
          <a:ln/>
        </p:spPr>
        <p:txBody>
          <a:bodyPr wrap="square" lIns="0" tIns="0" rIns="0" bIns="0" rtlCol="0" anchor="ctr"/>
          <a:lstStyle/>
          <a:p>
            <a:pPr indent="0" marL="0">
              <a:buNone/>
            </a:pPr>
            <a:r>
              <a:rPr lang="en-US" sz="1100" dirty="0">
                <a:solidFill>
                  <a:srgbClr val="64748B"/>
                </a:solidFill>
              </a:rPr>
              <a:t>Faculty spend weeks compiling accreditation data from scattered sources. Errors, missed deadlines, failed criteria.</a:t>
            </a:r>
            <a:endParaRPr lang="en-US" sz="1100" dirty="0"/>
          </a:p>
        </p:txBody>
      </p:sp>
      <p:sp>
        <p:nvSpPr>
          <p:cNvPr id="17" name="Text 15"/>
          <p:cNvSpPr/>
          <p:nvPr/>
        </p:nvSpPr>
        <p:spPr>
          <a:xfrm>
            <a:off x="365760" y="4498848"/>
            <a:ext cx="8412480" cy="347472"/>
          </a:xfrm>
          <a:prstGeom prst="rect">
            <a:avLst/>
          </a:prstGeom>
          <a:noFill/>
          <a:ln/>
        </p:spPr>
        <p:txBody>
          <a:bodyPr wrap="square" rtlCol="0" anchor="ctr"/>
          <a:lstStyle/>
          <a:p>
            <a:pPr algn="ctr" indent="0" marL="0">
              <a:buNone/>
            </a:pPr>
            <a:r>
              <a:rPr lang="en-US" sz="1300" b="1" dirty="0">
                <a:solidFill>
                  <a:srgbClr val="028090"/>
                </a:solidFill>
              </a:rPr>
              <a:t>Aura replaces all of this with a single, cloud-native, NAAC-mapped ERP.</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D1B3E"/>
          </a:solidFill>
          <a:ln w="12700">
            <a:solidFill>
              <a:srgbClr val="0D1B3E"/>
            </a:solidFill>
            <a:prstDash val="solid"/>
          </a:ln>
        </p:spPr>
      </p:sp>
      <p:sp>
        <p:nvSpPr>
          <p:cNvPr id="3" name="Text 1"/>
          <p:cNvSpPr/>
          <p:nvPr/>
        </p:nvSpPr>
        <p:spPr>
          <a:xfrm>
            <a:off x="365760" y="0"/>
            <a:ext cx="8412480" cy="822960"/>
          </a:xfrm>
          <a:prstGeom prst="rect">
            <a:avLst/>
          </a:prstGeom>
          <a:noFill/>
          <a:ln/>
        </p:spPr>
        <p:txBody>
          <a:bodyPr wrap="square" rtlCol="0" anchor="ctr"/>
          <a:lstStyle/>
          <a:p>
            <a:pPr indent="0" marL="0">
              <a:buNone/>
            </a:pPr>
            <a:r>
              <a:rPr lang="en-US" sz="1100" b="1" spc="500" kern="0" dirty="0">
                <a:solidFill>
                  <a:srgbClr val="028090"/>
                </a:solidFill>
              </a:rPr>
              <a:t>CORE MARKET — INDIA</a:t>
            </a:r>
            <a:endParaRPr lang="en-US" sz="1100" dirty="0"/>
          </a:p>
        </p:txBody>
      </p:sp>
      <p:sp>
        <p:nvSpPr>
          <p:cNvPr id="4" name="Shape 2"/>
          <p:cNvSpPr/>
          <p:nvPr/>
        </p:nvSpPr>
        <p:spPr>
          <a:xfrm>
            <a:off x="365760" y="960120"/>
            <a:ext cx="3657600" cy="1097280"/>
          </a:xfrm>
          <a:prstGeom prst="roundRect">
            <a:avLst>
              <a:gd name="adj" fmla="val 8333"/>
            </a:avLst>
          </a:prstGeom>
          <a:solidFill>
            <a:srgbClr val="0D1B3E"/>
          </a:solidFill>
          <a:ln w="12700">
            <a:solidFill>
              <a:srgbClr val="028090">
                <a:alpha val="70000"/>
              </a:srgbClr>
            </a:solidFill>
            <a:prstDash val="solid"/>
          </a:ln>
        </p:spPr>
      </p:sp>
      <p:sp>
        <p:nvSpPr>
          <p:cNvPr id="5" name="Text 3"/>
          <p:cNvSpPr/>
          <p:nvPr/>
        </p:nvSpPr>
        <p:spPr>
          <a:xfrm>
            <a:off x="365760" y="1051560"/>
            <a:ext cx="3657600" cy="530352"/>
          </a:xfrm>
          <a:prstGeom prst="rect">
            <a:avLst/>
          </a:prstGeom>
          <a:noFill/>
          <a:ln/>
        </p:spPr>
        <p:txBody>
          <a:bodyPr wrap="square" lIns="0" tIns="0" rIns="0" bIns="0" rtlCol="0" anchor="ctr"/>
          <a:lstStyle/>
          <a:p>
            <a:pPr algn="ctr" indent="0" marL="0">
              <a:buNone/>
            </a:pPr>
            <a:r>
              <a:rPr lang="en-US" sz="3000" b="1" dirty="0">
                <a:solidFill>
                  <a:srgbClr val="028090"/>
                </a:solidFill>
                <a:latin typeface="Cambria" pitchFamily="34" charset="0"/>
                <a:ea typeface="Cambria" pitchFamily="34" charset="-122"/>
                <a:cs typeface="Cambria" pitchFamily="34" charset="-120"/>
              </a:rPr>
              <a:t>42,000+</a:t>
            </a:r>
            <a:endParaRPr lang="en-US" sz="3000" dirty="0"/>
          </a:p>
        </p:txBody>
      </p:sp>
      <p:sp>
        <p:nvSpPr>
          <p:cNvPr id="6" name="Text 4"/>
          <p:cNvSpPr/>
          <p:nvPr/>
        </p:nvSpPr>
        <p:spPr>
          <a:xfrm>
            <a:off x="365760" y="1581912"/>
            <a:ext cx="3657600" cy="347472"/>
          </a:xfrm>
          <a:prstGeom prst="rect">
            <a:avLst/>
          </a:prstGeom>
          <a:noFill/>
          <a:ln/>
        </p:spPr>
        <p:txBody>
          <a:bodyPr wrap="square" lIns="0" tIns="0" rIns="0" bIns="0" rtlCol="0" anchor="ctr"/>
          <a:lstStyle/>
          <a:p>
            <a:pPr algn="ctr" indent="0" marL="0">
              <a:buNone/>
            </a:pPr>
            <a:r>
              <a:rPr lang="en-US" sz="1100" dirty="0">
                <a:solidFill>
                  <a:srgbClr val="94A3B8"/>
                </a:solidFill>
              </a:rPr>
              <a:t>Colleges &amp; universities</a:t>
            </a:r>
            <a:endParaRPr lang="en-US" sz="1100" dirty="0"/>
          </a:p>
        </p:txBody>
      </p:sp>
      <p:sp>
        <p:nvSpPr>
          <p:cNvPr id="7" name="Shape 5"/>
          <p:cNvSpPr/>
          <p:nvPr/>
        </p:nvSpPr>
        <p:spPr>
          <a:xfrm>
            <a:off x="365760" y="2240280"/>
            <a:ext cx="3657600" cy="1097280"/>
          </a:xfrm>
          <a:prstGeom prst="roundRect">
            <a:avLst>
              <a:gd name="adj" fmla="val 8333"/>
            </a:avLst>
          </a:prstGeom>
          <a:solidFill>
            <a:srgbClr val="0D1B3E"/>
          </a:solidFill>
          <a:ln w="12700">
            <a:solidFill>
              <a:srgbClr val="F9A825">
                <a:alpha val="70000"/>
              </a:srgbClr>
            </a:solidFill>
            <a:prstDash val="solid"/>
          </a:ln>
        </p:spPr>
      </p:sp>
      <p:sp>
        <p:nvSpPr>
          <p:cNvPr id="8" name="Text 6"/>
          <p:cNvSpPr/>
          <p:nvPr/>
        </p:nvSpPr>
        <p:spPr>
          <a:xfrm>
            <a:off x="365760" y="2331720"/>
            <a:ext cx="3657600" cy="530352"/>
          </a:xfrm>
          <a:prstGeom prst="rect">
            <a:avLst/>
          </a:prstGeom>
          <a:noFill/>
          <a:ln/>
        </p:spPr>
        <p:txBody>
          <a:bodyPr wrap="square" lIns="0" tIns="0" rIns="0" bIns="0" rtlCol="0" anchor="ctr"/>
          <a:lstStyle/>
          <a:p>
            <a:pPr algn="ctr" indent="0" marL="0">
              <a:buNone/>
            </a:pPr>
            <a:r>
              <a:rPr lang="en-US" sz="3000" b="1" dirty="0">
                <a:solidFill>
                  <a:srgbClr val="F9A825"/>
                </a:solidFill>
                <a:latin typeface="Cambria" pitchFamily="34" charset="0"/>
                <a:ea typeface="Cambria" pitchFamily="34" charset="-122"/>
                <a:cs typeface="Cambria" pitchFamily="34" charset="-120"/>
              </a:rPr>
              <a:t>35,000+</a:t>
            </a:r>
            <a:endParaRPr lang="en-US" sz="3000" dirty="0"/>
          </a:p>
        </p:txBody>
      </p:sp>
      <p:sp>
        <p:nvSpPr>
          <p:cNvPr id="9" name="Text 7"/>
          <p:cNvSpPr/>
          <p:nvPr/>
        </p:nvSpPr>
        <p:spPr>
          <a:xfrm>
            <a:off x="365760" y="2862072"/>
            <a:ext cx="3657600" cy="347472"/>
          </a:xfrm>
          <a:prstGeom prst="rect">
            <a:avLst/>
          </a:prstGeom>
          <a:noFill/>
          <a:ln/>
        </p:spPr>
        <p:txBody>
          <a:bodyPr wrap="square" lIns="0" tIns="0" rIns="0" bIns="0" rtlCol="0" anchor="ctr"/>
          <a:lstStyle/>
          <a:p>
            <a:pPr algn="ctr" indent="0" marL="0">
              <a:buNone/>
            </a:pPr>
            <a:r>
              <a:rPr lang="en-US" sz="1100" dirty="0">
                <a:solidFill>
                  <a:srgbClr val="94A3B8"/>
                </a:solidFill>
              </a:rPr>
              <a:t>Schools (CBSE/ICSE/State)</a:t>
            </a:r>
            <a:endParaRPr lang="en-US" sz="1100" dirty="0"/>
          </a:p>
        </p:txBody>
      </p:sp>
      <p:sp>
        <p:nvSpPr>
          <p:cNvPr id="10" name="Shape 8"/>
          <p:cNvSpPr/>
          <p:nvPr/>
        </p:nvSpPr>
        <p:spPr>
          <a:xfrm>
            <a:off x="365760" y="3520440"/>
            <a:ext cx="3657600" cy="1097280"/>
          </a:xfrm>
          <a:prstGeom prst="roundRect">
            <a:avLst>
              <a:gd name="adj" fmla="val 8333"/>
            </a:avLst>
          </a:prstGeom>
          <a:solidFill>
            <a:srgbClr val="0D1B3E"/>
          </a:solidFill>
          <a:ln w="12700">
            <a:solidFill>
              <a:srgbClr val="1D9E75">
                <a:alpha val="70000"/>
              </a:srgbClr>
            </a:solidFill>
            <a:prstDash val="solid"/>
          </a:ln>
        </p:spPr>
      </p:sp>
      <p:sp>
        <p:nvSpPr>
          <p:cNvPr id="11" name="Text 9"/>
          <p:cNvSpPr/>
          <p:nvPr/>
        </p:nvSpPr>
        <p:spPr>
          <a:xfrm>
            <a:off x="365760" y="3611880"/>
            <a:ext cx="3657600" cy="530352"/>
          </a:xfrm>
          <a:prstGeom prst="rect">
            <a:avLst/>
          </a:prstGeom>
          <a:noFill/>
          <a:ln/>
        </p:spPr>
        <p:txBody>
          <a:bodyPr wrap="square" lIns="0" tIns="0" rIns="0" bIns="0" rtlCol="0" anchor="ctr"/>
          <a:lstStyle/>
          <a:p>
            <a:pPr algn="ctr" indent="0" marL="0">
              <a:buNone/>
            </a:pPr>
            <a:r>
              <a:rPr lang="en-US" sz="3000" b="1" dirty="0">
                <a:solidFill>
                  <a:srgbClr val="1D9E75"/>
                </a:solidFill>
                <a:latin typeface="Cambria" pitchFamily="34" charset="0"/>
                <a:ea typeface="Cambria" pitchFamily="34" charset="-122"/>
                <a:cs typeface="Cambria" pitchFamily="34" charset="-120"/>
              </a:rPr>
              <a:t>₹15K–2L</a:t>
            </a:r>
            <a:endParaRPr lang="en-US" sz="3000" dirty="0"/>
          </a:p>
        </p:txBody>
      </p:sp>
      <p:sp>
        <p:nvSpPr>
          <p:cNvPr id="12" name="Text 10"/>
          <p:cNvSpPr/>
          <p:nvPr/>
        </p:nvSpPr>
        <p:spPr>
          <a:xfrm>
            <a:off x="365760" y="4142232"/>
            <a:ext cx="3657600" cy="347472"/>
          </a:xfrm>
          <a:prstGeom prst="rect">
            <a:avLst/>
          </a:prstGeom>
          <a:noFill/>
          <a:ln/>
        </p:spPr>
        <p:txBody>
          <a:bodyPr wrap="square" lIns="0" tIns="0" rIns="0" bIns="0" rtlCol="0" anchor="ctr"/>
          <a:lstStyle/>
          <a:p>
            <a:pPr algn="ctr" indent="0" marL="0">
              <a:buNone/>
            </a:pPr>
            <a:r>
              <a:rPr lang="en-US" sz="1100" dirty="0">
                <a:solidFill>
                  <a:srgbClr val="94A3B8"/>
                </a:solidFill>
              </a:rPr>
              <a:t>Monthly SaaS potential per institution</a:t>
            </a:r>
            <a:endParaRPr lang="en-US" sz="1100" dirty="0"/>
          </a:p>
        </p:txBody>
      </p:sp>
      <p:sp>
        <p:nvSpPr>
          <p:cNvPr id="13" name="Text 11"/>
          <p:cNvSpPr/>
          <p:nvPr/>
        </p:nvSpPr>
        <p:spPr>
          <a:xfrm>
            <a:off x="4572000" y="960120"/>
            <a:ext cx="4206240" cy="347472"/>
          </a:xfrm>
          <a:prstGeom prst="rect">
            <a:avLst/>
          </a:prstGeom>
          <a:noFill/>
          <a:ln/>
        </p:spPr>
        <p:txBody>
          <a:bodyPr wrap="square" rtlCol="0" anchor="ctr"/>
          <a:lstStyle/>
          <a:p>
            <a:pPr indent="0" marL="0">
              <a:buNone/>
            </a:pPr>
            <a:r>
              <a:rPr lang="en-US" sz="1400" b="1" dirty="0">
                <a:solidFill>
                  <a:srgbClr val="0D1B3E"/>
                </a:solidFill>
              </a:rPr>
              <a:t>Why Aura wins in India</a:t>
            </a:r>
            <a:endParaRPr lang="en-US" sz="1400" dirty="0"/>
          </a:p>
        </p:txBody>
      </p:sp>
      <p:sp>
        <p:nvSpPr>
          <p:cNvPr id="14" name="Shape 12"/>
          <p:cNvSpPr/>
          <p:nvPr/>
        </p:nvSpPr>
        <p:spPr>
          <a:xfrm>
            <a:off x="4572000" y="1417320"/>
            <a:ext cx="146304" cy="146304"/>
          </a:xfrm>
          <a:prstGeom prst="ellipse">
            <a:avLst/>
          </a:prstGeom>
          <a:solidFill>
            <a:srgbClr val="028090"/>
          </a:solidFill>
          <a:ln w="12700">
            <a:solidFill>
              <a:srgbClr val="028090"/>
            </a:solidFill>
            <a:prstDash val="solid"/>
          </a:ln>
        </p:spPr>
      </p:sp>
      <p:sp>
        <p:nvSpPr>
          <p:cNvPr id="15" name="Text 13"/>
          <p:cNvSpPr/>
          <p:nvPr/>
        </p:nvSpPr>
        <p:spPr>
          <a:xfrm>
            <a:off x="4791456" y="1380744"/>
            <a:ext cx="3986784" cy="347472"/>
          </a:xfrm>
          <a:prstGeom prst="rect">
            <a:avLst/>
          </a:prstGeom>
          <a:noFill/>
          <a:ln/>
        </p:spPr>
        <p:txBody>
          <a:bodyPr wrap="square" lIns="0" tIns="0" rIns="0" bIns="0" rtlCol="0" anchor="ctr"/>
          <a:lstStyle/>
          <a:p>
            <a:pPr indent="0" marL="0">
              <a:buNone/>
            </a:pPr>
            <a:r>
              <a:rPr lang="en-US" sz="1100" dirty="0">
                <a:solidFill>
                  <a:srgbClr val="64748B"/>
                </a:solidFill>
              </a:rPr>
              <a:t>NAAC Criteria 1–7 fully mapped — no competitor does this</a:t>
            </a:r>
            <a:endParaRPr lang="en-US" sz="1100" dirty="0"/>
          </a:p>
        </p:txBody>
      </p:sp>
      <p:sp>
        <p:nvSpPr>
          <p:cNvPr id="16" name="Shape 14"/>
          <p:cNvSpPr/>
          <p:nvPr/>
        </p:nvSpPr>
        <p:spPr>
          <a:xfrm>
            <a:off x="4572000" y="1837944"/>
            <a:ext cx="146304" cy="146304"/>
          </a:xfrm>
          <a:prstGeom prst="ellipse">
            <a:avLst/>
          </a:prstGeom>
          <a:solidFill>
            <a:srgbClr val="028090"/>
          </a:solidFill>
          <a:ln w="12700">
            <a:solidFill>
              <a:srgbClr val="028090"/>
            </a:solidFill>
            <a:prstDash val="solid"/>
          </a:ln>
        </p:spPr>
      </p:sp>
      <p:sp>
        <p:nvSpPr>
          <p:cNvPr id="17" name="Text 15"/>
          <p:cNvSpPr/>
          <p:nvPr/>
        </p:nvSpPr>
        <p:spPr>
          <a:xfrm>
            <a:off x="4791456" y="1801368"/>
            <a:ext cx="3986784" cy="347472"/>
          </a:xfrm>
          <a:prstGeom prst="rect">
            <a:avLst/>
          </a:prstGeom>
          <a:noFill/>
          <a:ln/>
        </p:spPr>
        <p:txBody>
          <a:bodyPr wrap="square" lIns="0" tIns="0" rIns="0" bIns="0" rtlCol="0" anchor="ctr"/>
          <a:lstStyle/>
          <a:p>
            <a:pPr indent="0" marL="0">
              <a:buNone/>
            </a:pPr>
            <a:r>
              <a:rPr lang="en-US" sz="1100" dirty="0">
                <a:solidFill>
                  <a:srgbClr val="64748B"/>
                </a:solidFill>
              </a:rPr>
              <a:t>NIRF data ready to export from existing module data</a:t>
            </a:r>
            <a:endParaRPr lang="en-US" sz="1100" dirty="0"/>
          </a:p>
        </p:txBody>
      </p:sp>
      <p:sp>
        <p:nvSpPr>
          <p:cNvPr id="18" name="Shape 16"/>
          <p:cNvSpPr/>
          <p:nvPr/>
        </p:nvSpPr>
        <p:spPr>
          <a:xfrm>
            <a:off x="4572000" y="2258568"/>
            <a:ext cx="146304" cy="146304"/>
          </a:xfrm>
          <a:prstGeom prst="ellipse">
            <a:avLst/>
          </a:prstGeom>
          <a:solidFill>
            <a:srgbClr val="028090"/>
          </a:solidFill>
          <a:ln w="12700">
            <a:solidFill>
              <a:srgbClr val="028090"/>
            </a:solidFill>
            <a:prstDash val="solid"/>
          </a:ln>
        </p:spPr>
      </p:sp>
      <p:sp>
        <p:nvSpPr>
          <p:cNvPr id="19" name="Text 17"/>
          <p:cNvSpPr/>
          <p:nvPr/>
        </p:nvSpPr>
        <p:spPr>
          <a:xfrm>
            <a:off x="4791456" y="2221992"/>
            <a:ext cx="3986784" cy="347472"/>
          </a:xfrm>
          <a:prstGeom prst="rect">
            <a:avLst/>
          </a:prstGeom>
          <a:noFill/>
          <a:ln/>
        </p:spPr>
        <p:txBody>
          <a:bodyPr wrap="square" lIns="0" tIns="0" rIns="0" bIns="0" rtlCol="0" anchor="ctr"/>
          <a:lstStyle/>
          <a:p>
            <a:pPr indent="0" marL="0">
              <a:buNone/>
            </a:pPr>
            <a:r>
              <a:rPr lang="en-US" sz="1100" dirty="0">
                <a:solidFill>
                  <a:srgbClr val="64748B"/>
                </a:solidFill>
              </a:rPr>
              <a:t>Razorpay fee payments natively integrated</a:t>
            </a:r>
            <a:endParaRPr lang="en-US" sz="1100" dirty="0"/>
          </a:p>
        </p:txBody>
      </p:sp>
      <p:sp>
        <p:nvSpPr>
          <p:cNvPr id="20" name="Shape 18"/>
          <p:cNvSpPr/>
          <p:nvPr/>
        </p:nvSpPr>
        <p:spPr>
          <a:xfrm>
            <a:off x="4572000" y="2679192"/>
            <a:ext cx="146304" cy="146304"/>
          </a:xfrm>
          <a:prstGeom prst="ellipse">
            <a:avLst/>
          </a:prstGeom>
          <a:solidFill>
            <a:srgbClr val="028090"/>
          </a:solidFill>
          <a:ln w="12700">
            <a:solidFill>
              <a:srgbClr val="028090"/>
            </a:solidFill>
            <a:prstDash val="solid"/>
          </a:ln>
        </p:spPr>
      </p:sp>
      <p:sp>
        <p:nvSpPr>
          <p:cNvPr id="21" name="Text 19"/>
          <p:cNvSpPr/>
          <p:nvPr/>
        </p:nvSpPr>
        <p:spPr>
          <a:xfrm>
            <a:off x="4791456" y="2642616"/>
            <a:ext cx="3986784" cy="347472"/>
          </a:xfrm>
          <a:prstGeom prst="rect">
            <a:avLst/>
          </a:prstGeom>
          <a:noFill/>
          <a:ln/>
        </p:spPr>
        <p:txBody>
          <a:bodyPr wrap="square" lIns="0" tIns="0" rIns="0" bIns="0" rtlCol="0" anchor="ctr"/>
          <a:lstStyle/>
          <a:p>
            <a:pPr indent="0" marL="0">
              <a:buNone/>
            </a:pPr>
            <a:r>
              <a:rPr lang="en-US" sz="1100" dirty="0">
                <a:solidFill>
                  <a:srgbClr val="64748B"/>
                </a:solidFill>
              </a:rPr>
              <a:t>AI timetable scheduler — unique differentiator</a:t>
            </a:r>
            <a:endParaRPr lang="en-US" sz="1100" dirty="0"/>
          </a:p>
        </p:txBody>
      </p:sp>
      <p:sp>
        <p:nvSpPr>
          <p:cNvPr id="22" name="Shape 20"/>
          <p:cNvSpPr/>
          <p:nvPr/>
        </p:nvSpPr>
        <p:spPr>
          <a:xfrm>
            <a:off x="4572000" y="3099816"/>
            <a:ext cx="146304" cy="146304"/>
          </a:xfrm>
          <a:prstGeom prst="ellipse">
            <a:avLst/>
          </a:prstGeom>
          <a:solidFill>
            <a:srgbClr val="028090"/>
          </a:solidFill>
          <a:ln w="12700">
            <a:solidFill>
              <a:srgbClr val="028090"/>
            </a:solidFill>
            <a:prstDash val="solid"/>
          </a:ln>
        </p:spPr>
      </p:sp>
      <p:sp>
        <p:nvSpPr>
          <p:cNvPr id="23" name="Text 21"/>
          <p:cNvSpPr/>
          <p:nvPr/>
        </p:nvSpPr>
        <p:spPr>
          <a:xfrm>
            <a:off x="4791456" y="3063240"/>
            <a:ext cx="3986784" cy="347472"/>
          </a:xfrm>
          <a:prstGeom prst="rect">
            <a:avLst/>
          </a:prstGeom>
          <a:noFill/>
          <a:ln/>
        </p:spPr>
        <p:txBody>
          <a:bodyPr wrap="square" lIns="0" tIns="0" rIns="0" bIns="0" rtlCol="0" anchor="ctr"/>
          <a:lstStyle/>
          <a:p>
            <a:pPr indent="0" marL="0">
              <a:buNone/>
            </a:pPr>
            <a:r>
              <a:rPr lang="en-US" sz="1100" dirty="0">
                <a:solidFill>
                  <a:srgbClr val="64748B"/>
                </a:solidFill>
              </a:rPr>
              <a:t>CIA, hall tickets, arrears, promotions — Indian academic workflow</a:t>
            </a:r>
            <a:endParaRPr lang="en-US" sz="1100" dirty="0"/>
          </a:p>
        </p:txBody>
      </p:sp>
      <p:sp>
        <p:nvSpPr>
          <p:cNvPr id="24" name="Shape 22"/>
          <p:cNvSpPr/>
          <p:nvPr/>
        </p:nvSpPr>
        <p:spPr>
          <a:xfrm>
            <a:off x="4572000" y="3520440"/>
            <a:ext cx="146304" cy="146304"/>
          </a:xfrm>
          <a:prstGeom prst="ellipse">
            <a:avLst/>
          </a:prstGeom>
          <a:solidFill>
            <a:srgbClr val="028090"/>
          </a:solidFill>
          <a:ln w="12700">
            <a:solidFill>
              <a:srgbClr val="028090"/>
            </a:solidFill>
            <a:prstDash val="solid"/>
          </a:ln>
        </p:spPr>
      </p:sp>
      <p:sp>
        <p:nvSpPr>
          <p:cNvPr id="25" name="Text 23"/>
          <p:cNvSpPr/>
          <p:nvPr/>
        </p:nvSpPr>
        <p:spPr>
          <a:xfrm>
            <a:off x="4791456" y="3483864"/>
            <a:ext cx="3986784" cy="347472"/>
          </a:xfrm>
          <a:prstGeom prst="rect">
            <a:avLst/>
          </a:prstGeom>
          <a:noFill/>
          <a:ln/>
        </p:spPr>
        <p:txBody>
          <a:bodyPr wrap="square" lIns="0" tIns="0" rIns="0" bIns="0" rtlCol="0" anchor="ctr"/>
          <a:lstStyle/>
          <a:p>
            <a:pPr indent="0" marL="0">
              <a:buNone/>
            </a:pPr>
            <a:r>
              <a:rPr lang="en-US" sz="1100" dirty="0">
                <a:solidFill>
                  <a:srgbClr val="64748B"/>
                </a:solidFill>
              </a:rPr>
              <a:t>DPDP Act 2023 compliance framework built in</a:t>
            </a:r>
            <a:endParaRPr lang="en-US" sz="1100" dirty="0"/>
          </a:p>
        </p:txBody>
      </p:sp>
      <p:sp>
        <p:nvSpPr>
          <p:cNvPr id="26" name="Shape 24"/>
          <p:cNvSpPr/>
          <p:nvPr/>
        </p:nvSpPr>
        <p:spPr>
          <a:xfrm>
            <a:off x="4572000" y="3941064"/>
            <a:ext cx="146304" cy="146304"/>
          </a:xfrm>
          <a:prstGeom prst="ellipse">
            <a:avLst/>
          </a:prstGeom>
          <a:solidFill>
            <a:srgbClr val="028090"/>
          </a:solidFill>
          <a:ln w="12700">
            <a:solidFill>
              <a:srgbClr val="028090"/>
            </a:solidFill>
            <a:prstDash val="solid"/>
          </a:ln>
        </p:spPr>
      </p:sp>
      <p:sp>
        <p:nvSpPr>
          <p:cNvPr id="27" name="Text 25"/>
          <p:cNvSpPr/>
          <p:nvPr/>
        </p:nvSpPr>
        <p:spPr>
          <a:xfrm>
            <a:off x="4791456" y="3904488"/>
            <a:ext cx="3986784" cy="347472"/>
          </a:xfrm>
          <a:prstGeom prst="rect">
            <a:avLst/>
          </a:prstGeom>
          <a:noFill/>
          <a:ln/>
        </p:spPr>
        <p:txBody>
          <a:bodyPr wrap="square" lIns="0" tIns="0" rIns="0" bIns="0" rtlCol="0" anchor="ctr"/>
          <a:lstStyle/>
          <a:p>
            <a:pPr indent="0" marL="0">
              <a:buNone/>
            </a:pPr>
            <a:r>
              <a:rPr lang="en-US" sz="1100" dirty="0">
                <a:solidFill>
                  <a:srgbClr val="64748B"/>
                </a:solidFill>
              </a:rPr>
              <a:t>Indian statutory payroll (TDS / PF / ESI / Form 16)</a:t>
            </a:r>
            <a:endParaRPr lang="en-US" sz="1100" dirty="0"/>
          </a:p>
        </p:txBody>
      </p:sp>
      <p:sp>
        <p:nvSpPr>
          <p:cNvPr id="28" name="Text 26"/>
          <p:cNvSpPr/>
          <p:nvPr/>
        </p:nvSpPr>
        <p:spPr>
          <a:xfrm>
            <a:off x="365760" y="4553712"/>
            <a:ext cx="8412480" cy="320040"/>
          </a:xfrm>
          <a:prstGeom prst="rect">
            <a:avLst/>
          </a:prstGeom>
          <a:noFill/>
          <a:ln/>
        </p:spPr>
        <p:txBody>
          <a:bodyPr wrap="square" rtlCol="0" anchor="ctr"/>
          <a:lstStyle/>
          <a:p>
            <a:pPr algn="ctr" indent="0" marL="0">
              <a:buNone/>
            </a:pPr>
            <a:r>
              <a:rPr lang="en-US" sz="1200" b="1" dirty="0">
                <a:solidFill>
                  <a:srgbClr val="F9A825"/>
                </a:solidFill>
              </a:rPr>
              <a:t>Beachhead opportunity: ₹630 Cr+ annual revenue at 1% market penetration</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D1B3E"/>
          </a:solidFill>
          <a:ln w="12700">
            <a:solidFill>
              <a:srgbClr val="0D1B3E"/>
            </a:solidFill>
            <a:prstDash val="solid"/>
          </a:ln>
        </p:spPr>
      </p:sp>
      <p:sp>
        <p:nvSpPr>
          <p:cNvPr id="3" name="Text 1"/>
          <p:cNvSpPr/>
          <p:nvPr/>
        </p:nvSpPr>
        <p:spPr>
          <a:xfrm>
            <a:off x="365760" y="0"/>
            <a:ext cx="8412480" cy="822960"/>
          </a:xfrm>
          <a:prstGeom prst="rect">
            <a:avLst/>
          </a:prstGeom>
          <a:noFill/>
          <a:ln/>
        </p:spPr>
        <p:txBody>
          <a:bodyPr wrap="square" rtlCol="0" anchor="ctr"/>
          <a:lstStyle/>
          <a:p>
            <a:pPr indent="0" marL="0">
              <a:buNone/>
            </a:pPr>
            <a:r>
              <a:rPr lang="en-US" sz="1100" b="1" spc="500" kern="0" dirty="0">
                <a:solidFill>
                  <a:srgbClr val="028090"/>
                </a:solidFill>
              </a:rPr>
              <a:t>SIX CUSTOMER SEGMENTS</a:t>
            </a:r>
            <a:endParaRPr lang="en-US" sz="1100" dirty="0"/>
          </a:p>
        </p:txBody>
      </p:sp>
      <p:sp>
        <p:nvSpPr>
          <p:cNvPr id="4" name="Shape 2"/>
          <p:cNvSpPr/>
          <p:nvPr/>
        </p:nvSpPr>
        <p:spPr>
          <a:xfrm>
            <a:off x="274320" y="960120"/>
            <a:ext cx="2788920" cy="1737360"/>
          </a:xfrm>
          <a:prstGeom prst="roundRect">
            <a:avLst>
              <a:gd name="adj" fmla="val 5263"/>
            </a:avLst>
          </a:prstGeom>
          <a:solidFill>
            <a:srgbClr val="FFFFFF"/>
          </a:solidFill>
          <a:ln w="12700">
            <a:solidFill>
              <a:srgbClr val="CBD5E1"/>
            </a:solidFill>
            <a:prstDash val="solid"/>
          </a:ln>
          <a:effectLst>
            <a:outerShdw sx="100000" sy="100000" kx="0" ky="0" algn="bl" rotWithShape="0" blurRad="101600" dist="25400" dir="2700000">
              <a:srgbClr val="000000">
                <a:alpha val="12000"/>
              </a:srgbClr>
            </a:outerShdw>
          </a:effectLst>
        </p:spPr>
      </p:sp>
      <p:sp>
        <p:nvSpPr>
          <p:cNvPr id="5" name="Shape 3"/>
          <p:cNvSpPr/>
          <p:nvPr/>
        </p:nvSpPr>
        <p:spPr>
          <a:xfrm>
            <a:off x="402336" y="1069848"/>
            <a:ext cx="2532888" cy="228600"/>
          </a:xfrm>
          <a:prstGeom prst="roundRect">
            <a:avLst>
              <a:gd name="adj" fmla="val 16000"/>
            </a:avLst>
          </a:prstGeom>
          <a:solidFill>
            <a:srgbClr val="028090">
              <a:alpha val="18000"/>
            </a:srgbClr>
          </a:solidFill>
          <a:ln w="12700">
            <a:solidFill>
              <a:srgbClr val="028090">
                <a:alpha val="40000"/>
              </a:srgbClr>
            </a:solidFill>
            <a:prstDash val="solid"/>
          </a:ln>
        </p:spPr>
      </p:sp>
      <p:sp>
        <p:nvSpPr>
          <p:cNvPr id="6" name="Text 4"/>
          <p:cNvSpPr/>
          <p:nvPr/>
        </p:nvSpPr>
        <p:spPr>
          <a:xfrm>
            <a:off x="402336" y="1069848"/>
            <a:ext cx="2532888" cy="228600"/>
          </a:xfrm>
          <a:prstGeom prst="rect">
            <a:avLst/>
          </a:prstGeom>
          <a:noFill/>
          <a:ln/>
        </p:spPr>
        <p:txBody>
          <a:bodyPr wrap="square" lIns="0" tIns="0" rIns="0" bIns="0" rtlCol="0" anchor="ctr"/>
          <a:lstStyle/>
          <a:p>
            <a:pPr algn="ctr" indent="0" marL="0">
              <a:buNone/>
            </a:pPr>
            <a:r>
              <a:rPr lang="en-US" sz="800" b="1" dirty="0">
                <a:solidFill>
                  <a:srgbClr val="028090"/>
                </a:solidFill>
              </a:rPr>
              <a:t>CORE MARKET</a:t>
            </a:r>
            <a:endParaRPr lang="en-US" sz="800" dirty="0"/>
          </a:p>
        </p:txBody>
      </p:sp>
      <p:sp>
        <p:nvSpPr>
          <p:cNvPr id="7" name="Text 5"/>
          <p:cNvSpPr/>
          <p:nvPr/>
        </p:nvSpPr>
        <p:spPr>
          <a:xfrm>
            <a:off x="402336" y="1344168"/>
            <a:ext cx="2532888" cy="310896"/>
          </a:xfrm>
          <a:prstGeom prst="rect">
            <a:avLst/>
          </a:prstGeom>
          <a:noFill/>
          <a:ln/>
        </p:spPr>
        <p:txBody>
          <a:bodyPr wrap="square" lIns="0" tIns="0" rIns="0" bIns="0" rtlCol="0" anchor="ctr"/>
          <a:lstStyle/>
          <a:p>
            <a:pPr indent="0" marL="0">
              <a:buNone/>
            </a:pPr>
            <a:r>
              <a:rPr lang="en-US" sz="1200" b="1" dirty="0">
                <a:solidFill>
                  <a:srgbClr val="0D1B3E"/>
                </a:solidFill>
              </a:rPr>
              <a:t>Indian Higher Education</a:t>
            </a:r>
            <a:endParaRPr lang="en-US" sz="1200" dirty="0"/>
          </a:p>
        </p:txBody>
      </p:sp>
      <p:sp>
        <p:nvSpPr>
          <p:cNvPr id="8" name="Text 6"/>
          <p:cNvSpPr/>
          <p:nvPr/>
        </p:nvSpPr>
        <p:spPr>
          <a:xfrm>
            <a:off x="402336" y="1673352"/>
            <a:ext cx="2532888" cy="658368"/>
          </a:xfrm>
          <a:prstGeom prst="rect">
            <a:avLst/>
          </a:prstGeom>
          <a:noFill/>
          <a:ln/>
        </p:spPr>
        <p:txBody>
          <a:bodyPr wrap="square" lIns="0" tIns="0" rIns="0" bIns="0" rtlCol="0" anchor="ctr"/>
          <a:lstStyle/>
          <a:p>
            <a:pPr indent="0" marL="0">
              <a:buNone/>
            </a:pPr>
            <a:r>
              <a:rPr lang="en-US" sz="1000" dirty="0">
                <a:solidFill>
                  <a:srgbClr val="64748B"/>
                </a:solidFill>
              </a:rPr>
              <a:t>42,000+ engineering, arts, science &amp; autonomous colleges. NAAC compliance is a built-in moat.</a:t>
            </a:r>
            <a:endParaRPr lang="en-US" sz="1000" dirty="0"/>
          </a:p>
        </p:txBody>
      </p:sp>
      <p:sp>
        <p:nvSpPr>
          <p:cNvPr id="9" name="Text 7"/>
          <p:cNvSpPr/>
          <p:nvPr/>
        </p:nvSpPr>
        <p:spPr>
          <a:xfrm>
            <a:off x="402336" y="2441448"/>
            <a:ext cx="2532888" cy="182880"/>
          </a:xfrm>
          <a:prstGeom prst="rect">
            <a:avLst/>
          </a:prstGeom>
          <a:noFill/>
          <a:ln/>
        </p:spPr>
        <p:txBody>
          <a:bodyPr wrap="square" lIns="0" tIns="0" rIns="0" bIns="0" rtlCol="0" anchor="ctr"/>
          <a:lstStyle/>
          <a:p>
            <a:pPr indent="0" marL="0">
              <a:buNone/>
            </a:pPr>
            <a:r>
              <a:rPr lang="en-US" sz="900" b="1" dirty="0">
                <a:solidFill>
                  <a:srgbClr val="028090"/>
                </a:solidFill>
              </a:rPr>
              <a:t>→ Ship now</a:t>
            </a:r>
            <a:endParaRPr lang="en-US" sz="900" dirty="0"/>
          </a:p>
        </p:txBody>
      </p:sp>
      <p:sp>
        <p:nvSpPr>
          <p:cNvPr id="10" name="Shape 8"/>
          <p:cNvSpPr/>
          <p:nvPr/>
        </p:nvSpPr>
        <p:spPr>
          <a:xfrm>
            <a:off x="3227832" y="960120"/>
            <a:ext cx="2788920" cy="1737360"/>
          </a:xfrm>
          <a:prstGeom prst="roundRect">
            <a:avLst>
              <a:gd name="adj" fmla="val 5263"/>
            </a:avLst>
          </a:prstGeom>
          <a:solidFill>
            <a:srgbClr val="FFFFFF"/>
          </a:solidFill>
          <a:ln w="12700">
            <a:solidFill>
              <a:srgbClr val="CBD5E1"/>
            </a:solidFill>
            <a:prstDash val="solid"/>
          </a:ln>
          <a:effectLst>
            <a:outerShdw sx="100000" sy="100000" kx="0" ky="0" algn="bl" rotWithShape="0" blurRad="101600" dist="25400" dir="2700000">
              <a:srgbClr val="000000">
                <a:alpha val="12000"/>
              </a:srgbClr>
            </a:outerShdw>
          </a:effectLst>
        </p:spPr>
      </p:sp>
      <p:sp>
        <p:nvSpPr>
          <p:cNvPr id="11" name="Shape 9"/>
          <p:cNvSpPr/>
          <p:nvPr/>
        </p:nvSpPr>
        <p:spPr>
          <a:xfrm>
            <a:off x="3355848" y="1069848"/>
            <a:ext cx="2532888" cy="228600"/>
          </a:xfrm>
          <a:prstGeom prst="roundRect">
            <a:avLst>
              <a:gd name="adj" fmla="val 16000"/>
            </a:avLst>
          </a:prstGeom>
          <a:solidFill>
            <a:srgbClr val="1D9E75">
              <a:alpha val="18000"/>
            </a:srgbClr>
          </a:solidFill>
          <a:ln w="12700">
            <a:solidFill>
              <a:srgbClr val="1D9E75">
                <a:alpha val="40000"/>
              </a:srgbClr>
            </a:solidFill>
            <a:prstDash val="solid"/>
          </a:ln>
        </p:spPr>
      </p:sp>
      <p:sp>
        <p:nvSpPr>
          <p:cNvPr id="12" name="Text 10"/>
          <p:cNvSpPr/>
          <p:nvPr/>
        </p:nvSpPr>
        <p:spPr>
          <a:xfrm>
            <a:off x="3355848" y="1069848"/>
            <a:ext cx="2532888" cy="228600"/>
          </a:xfrm>
          <a:prstGeom prst="rect">
            <a:avLst/>
          </a:prstGeom>
          <a:noFill/>
          <a:ln/>
        </p:spPr>
        <p:txBody>
          <a:bodyPr wrap="square" lIns="0" tIns="0" rIns="0" bIns="0" rtlCol="0" anchor="ctr"/>
          <a:lstStyle/>
          <a:p>
            <a:pPr algn="ctr" indent="0" marL="0">
              <a:buNone/>
            </a:pPr>
            <a:r>
              <a:rPr lang="en-US" sz="800" b="1" dirty="0">
                <a:solidFill>
                  <a:srgbClr val="1D9E75"/>
                </a:solidFill>
              </a:rPr>
              <a:t>EASY EXPANSION</a:t>
            </a:r>
            <a:endParaRPr lang="en-US" sz="800" dirty="0"/>
          </a:p>
        </p:txBody>
      </p:sp>
      <p:sp>
        <p:nvSpPr>
          <p:cNvPr id="13" name="Text 11"/>
          <p:cNvSpPr/>
          <p:nvPr/>
        </p:nvSpPr>
        <p:spPr>
          <a:xfrm>
            <a:off x="3355848" y="1344168"/>
            <a:ext cx="2532888" cy="310896"/>
          </a:xfrm>
          <a:prstGeom prst="rect">
            <a:avLst/>
          </a:prstGeom>
          <a:noFill/>
          <a:ln/>
        </p:spPr>
        <p:txBody>
          <a:bodyPr wrap="square" lIns="0" tIns="0" rIns="0" bIns="0" rtlCol="0" anchor="ctr"/>
          <a:lstStyle/>
          <a:p>
            <a:pPr indent="0" marL="0">
              <a:buNone/>
            </a:pPr>
            <a:r>
              <a:rPr lang="en-US" sz="1200" b="1" dirty="0">
                <a:solidFill>
                  <a:srgbClr val="0D1B3E"/>
                </a:solidFill>
              </a:rPr>
              <a:t>Indian K-12 School Chains</a:t>
            </a:r>
            <a:endParaRPr lang="en-US" sz="1200" dirty="0"/>
          </a:p>
        </p:txBody>
      </p:sp>
      <p:sp>
        <p:nvSpPr>
          <p:cNvPr id="14" name="Text 12"/>
          <p:cNvSpPr/>
          <p:nvPr/>
        </p:nvSpPr>
        <p:spPr>
          <a:xfrm>
            <a:off x="3355848" y="1673352"/>
            <a:ext cx="2532888" cy="658368"/>
          </a:xfrm>
          <a:prstGeom prst="rect">
            <a:avLst/>
          </a:prstGeom>
          <a:noFill/>
          <a:ln/>
        </p:spPr>
        <p:txBody>
          <a:bodyPr wrap="square" lIns="0" tIns="0" rIns="0" bIns="0" rtlCol="0" anchor="ctr"/>
          <a:lstStyle/>
          <a:p>
            <a:pPr indent="0" marL="0">
              <a:buNone/>
            </a:pPr>
            <a:r>
              <a:rPr lang="en-US" sz="1000" dirty="0">
                <a:solidFill>
                  <a:srgbClr val="64748B"/>
                </a:solidFill>
              </a:rPr>
              <a:t>CBSE/ICSE multi-campus chains. Fee management, attendance, parent portal already built.</a:t>
            </a:r>
            <a:endParaRPr lang="en-US" sz="1000" dirty="0"/>
          </a:p>
        </p:txBody>
      </p:sp>
      <p:sp>
        <p:nvSpPr>
          <p:cNvPr id="15" name="Text 13"/>
          <p:cNvSpPr/>
          <p:nvPr/>
        </p:nvSpPr>
        <p:spPr>
          <a:xfrm>
            <a:off x="3355848" y="2441448"/>
            <a:ext cx="2532888" cy="182880"/>
          </a:xfrm>
          <a:prstGeom prst="rect">
            <a:avLst/>
          </a:prstGeom>
          <a:noFill/>
          <a:ln/>
        </p:spPr>
        <p:txBody>
          <a:bodyPr wrap="square" lIns="0" tIns="0" rIns="0" bIns="0" rtlCol="0" anchor="ctr"/>
          <a:lstStyle/>
          <a:p>
            <a:pPr indent="0" marL="0">
              <a:buNone/>
            </a:pPr>
            <a:r>
              <a:rPr lang="en-US" sz="900" b="1" dirty="0">
                <a:solidFill>
                  <a:srgbClr val="1D9E75"/>
                </a:solidFill>
              </a:rPr>
              <a:t>→ Minor adaptation</a:t>
            </a:r>
            <a:endParaRPr lang="en-US" sz="900" dirty="0"/>
          </a:p>
        </p:txBody>
      </p:sp>
      <p:sp>
        <p:nvSpPr>
          <p:cNvPr id="16" name="Shape 14"/>
          <p:cNvSpPr/>
          <p:nvPr/>
        </p:nvSpPr>
        <p:spPr>
          <a:xfrm>
            <a:off x="6181344" y="960120"/>
            <a:ext cx="2788920" cy="1737360"/>
          </a:xfrm>
          <a:prstGeom prst="roundRect">
            <a:avLst>
              <a:gd name="adj" fmla="val 5263"/>
            </a:avLst>
          </a:prstGeom>
          <a:solidFill>
            <a:srgbClr val="FFFFFF"/>
          </a:solidFill>
          <a:ln w="12700">
            <a:solidFill>
              <a:srgbClr val="CBD5E1"/>
            </a:solidFill>
            <a:prstDash val="solid"/>
          </a:ln>
          <a:effectLst>
            <a:outerShdw sx="100000" sy="100000" kx="0" ky="0" algn="bl" rotWithShape="0" blurRad="101600" dist="25400" dir="2700000">
              <a:srgbClr val="000000">
                <a:alpha val="12000"/>
              </a:srgbClr>
            </a:outerShdw>
          </a:effectLst>
        </p:spPr>
      </p:sp>
      <p:sp>
        <p:nvSpPr>
          <p:cNvPr id="17" name="Shape 15"/>
          <p:cNvSpPr/>
          <p:nvPr/>
        </p:nvSpPr>
        <p:spPr>
          <a:xfrm>
            <a:off x="6309360" y="1069848"/>
            <a:ext cx="2532888" cy="228600"/>
          </a:xfrm>
          <a:prstGeom prst="roundRect">
            <a:avLst>
              <a:gd name="adj" fmla="val 16000"/>
            </a:avLst>
          </a:prstGeom>
          <a:solidFill>
            <a:srgbClr val="1D9E75">
              <a:alpha val="18000"/>
            </a:srgbClr>
          </a:solidFill>
          <a:ln w="12700">
            <a:solidFill>
              <a:srgbClr val="1D9E75">
                <a:alpha val="40000"/>
              </a:srgbClr>
            </a:solidFill>
            <a:prstDash val="solid"/>
          </a:ln>
        </p:spPr>
      </p:sp>
      <p:sp>
        <p:nvSpPr>
          <p:cNvPr id="18" name="Text 16"/>
          <p:cNvSpPr/>
          <p:nvPr/>
        </p:nvSpPr>
        <p:spPr>
          <a:xfrm>
            <a:off x="6309360" y="1069848"/>
            <a:ext cx="2532888" cy="228600"/>
          </a:xfrm>
          <a:prstGeom prst="rect">
            <a:avLst/>
          </a:prstGeom>
          <a:noFill/>
          <a:ln/>
        </p:spPr>
        <p:txBody>
          <a:bodyPr wrap="square" lIns="0" tIns="0" rIns="0" bIns="0" rtlCol="0" anchor="ctr"/>
          <a:lstStyle/>
          <a:p>
            <a:pPr algn="ctr" indent="0" marL="0">
              <a:buNone/>
            </a:pPr>
            <a:r>
              <a:rPr lang="en-US" sz="800" b="1" dirty="0">
                <a:solidFill>
                  <a:srgbClr val="1D9E75"/>
                </a:solidFill>
              </a:rPr>
              <a:t>HIGH GROWTH</a:t>
            </a:r>
            <a:endParaRPr lang="en-US" sz="800" dirty="0"/>
          </a:p>
        </p:txBody>
      </p:sp>
      <p:sp>
        <p:nvSpPr>
          <p:cNvPr id="19" name="Text 17"/>
          <p:cNvSpPr/>
          <p:nvPr/>
        </p:nvSpPr>
        <p:spPr>
          <a:xfrm>
            <a:off x="6309360" y="1344168"/>
            <a:ext cx="2532888" cy="310896"/>
          </a:xfrm>
          <a:prstGeom prst="rect">
            <a:avLst/>
          </a:prstGeom>
          <a:noFill/>
          <a:ln/>
        </p:spPr>
        <p:txBody>
          <a:bodyPr wrap="square" lIns="0" tIns="0" rIns="0" bIns="0" rtlCol="0" anchor="ctr"/>
          <a:lstStyle/>
          <a:p>
            <a:pPr indent="0" marL="0">
              <a:buNone/>
            </a:pPr>
            <a:r>
              <a:rPr lang="en-US" sz="1200" b="1" dirty="0">
                <a:solidFill>
                  <a:srgbClr val="0D1B3E"/>
                </a:solidFill>
              </a:rPr>
              <a:t>South &amp; SE Asia</a:t>
            </a:r>
            <a:endParaRPr lang="en-US" sz="1200" dirty="0"/>
          </a:p>
        </p:txBody>
      </p:sp>
      <p:sp>
        <p:nvSpPr>
          <p:cNvPr id="20" name="Text 18"/>
          <p:cNvSpPr/>
          <p:nvPr/>
        </p:nvSpPr>
        <p:spPr>
          <a:xfrm>
            <a:off x="6309360" y="1673352"/>
            <a:ext cx="2532888" cy="658368"/>
          </a:xfrm>
          <a:prstGeom prst="rect">
            <a:avLst/>
          </a:prstGeom>
          <a:noFill/>
          <a:ln/>
        </p:spPr>
        <p:txBody>
          <a:bodyPr wrap="square" lIns="0" tIns="0" rIns="0" bIns="0" rtlCol="0" anchor="ctr"/>
          <a:lstStyle/>
          <a:p>
            <a:pPr indent="0" marL="0">
              <a:buNone/>
            </a:pPr>
            <a:r>
              <a:rPr lang="en-US" sz="1000" dirty="0">
                <a:solidFill>
                  <a:srgbClr val="64748B"/>
                </a:solidFill>
              </a:rPr>
              <a:t>Sri Lanka, Bangladesh, Philippines, Malaysia. Similar academic structures. Just add multi-currency.</a:t>
            </a:r>
            <a:endParaRPr lang="en-US" sz="1000" dirty="0"/>
          </a:p>
        </p:txBody>
      </p:sp>
      <p:sp>
        <p:nvSpPr>
          <p:cNvPr id="21" name="Text 19"/>
          <p:cNvSpPr/>
          <p:nvPr/>
        </p:nvSpPr>
        <p:spPr>
          <a:xfrm>
            <a:off x="6309360" y="2441448"/>
            <a:ext cx="2532888" cy="182880"/>
          </a:xfrm>
          <a:prstGeom prst="rect">
            <a:avLst/>
          </a:prstGeom>
          <a:noFill/>
          <a:ln/>
        </p:spPr>
        <p:txBody>
          <a:bodyPr wrap="square" lIns="0" tIns="0" rIns="0" bIns="0" rtlCol="0" anchor="ctr"/>
          <a:lstStyle/>
          <a:p>
            <a:pPr indent="0" marL="0">
              <a:buNone/>
            </a:pPr>
            <a:r>
              <a:rPr lang="en-US" sz="900" b="1" dirty="0">
                <a:solidFill>
                  <a:srgbClr val="1D9E75"/>
                </a:solidFill>
              </a:rPr>
              <a:t>→ Arch A6 unlocks this</a:t>
            </a:r>
            <a:endParaRPr lang="en-US" sz="900" dirty="0"/>
          </a:p>
        </p:txBody>
      </p:sp>
      <p:sp>
        <p:nvSpPr>
          <p:cNvPr id="22" name="Shape 20"/>
          <p:cNvSpPr/>
          <p:nvPr/>
        </p:nvSpPr>
        <p:spPr>
          <a:xfrm>
            <a:off x="274320" y="2880360"/>
            <a:ext cx="2788920" cy="1737360"/>
          </a:xfrm>
          <a:prstGeom prst="roundRect">
            <a:avLst>
              <a:gd name="adj" fmla="val 5263"/>
            </a:avLst>
          </a:prstGeom>
          <a:solidFill>
            <a:srgbClr val="FFFFFF"/>
          </a:solidFill>
          <a:ln w="12700">
            <a:solidFill>
              <a:srgbClr val="CBD5E1"/>
            </a:solidFill>
            <a:prstDash val="solid"/>
          </a:ln>
          <a:effectLst>
            <a:outerShdw sx="100000" sy="100000" kx="0" ky="0" algn="bl" rotWithShape="0" blurRad="101600" dist="25400" dir="2700000">
              <a:srgbClr val="000000">
                <a:alpha val="12000"/>
              </a:srgbClr>
            </a:outerShdw>
          </a:effectLst>
        </p:spPr>
      </p:sp>
      <p:sp>
        <p:nvSpPr>
          <p:cNvPr id="23" name="Shape 21"/>
          <p:cNvSpPr/>
          <p:nvPr/>
        </p:nvSpPr>
        <p:spPr>
          <a:xfrm>
            <a:off x="402336" y="2990088"/>
            <a:ext cx="2532888" cy="228600"/>
          </a:xfrm>
          <a:prstGeom prst="roundRect">
            <a:avLst>
              <a:gd name="adj" fmla="val 16000"/>
            </a:avLst>
          </a:prstGeom>
          <a:solidFill>
            <a:srgbClr val="F9A825">
              <a:alpha val="18000"/>
            </a:srgbClr>
          </a:solidFill>
          <a:ln w="12700">
            <a:solidFill>
              <a:srgbClr val="F9A825">
                <a:alpha val="40000"/>
              </a:srgbClr>
            </a:solidFill>
            <a:prstDash val="solid"/>
          </a:ln>
        </p:spPr>
      </p:sp>
      <p:sp>
        <p:nvSpPr>
          <p:cNvPr id="24" name="Text 22"/>
          <p:cNvSpPr/>
          <p:nvPr/>
        </p:nvSpPr>
        <p:spPr>
          <a:xfrm>
            <a:off x="402336" y="2990088"/>
            <a:ext cx="2532888" cy="228600"/>
          </a:xfrm>
          <a:prstGeom prst="rect">
            <a:avLst/>
          </a:prstGeom>
          <a:noFill/>
          <a:ln/>
        </p:spPr>
        <p:txBody>
          <a:bodyPr wrap="square" lIns="0" tIns="0" rIns="0" bIns="0" rtlCol="0" anchor="ctr"/>
          <a:lstStyle/>
          <a:p>
            <a:pPr algn="ctr" indent="0" marL="0">
              <a:buNone/>
            </a:pPr>
            <a:r>
              <a:rPr lang="en-US" sz="800" b="1" dirty="0">
                <a:solidFill>
                  <a:srgbClr val="F9A825"/>
                </a:solidFill>
              </a:rPr>
              <a:t>STRONG POTENTIAL</a:t>
            </a:r>
            <a:endParaRPr lang="en-US" sz="800" dirty="0"/>
          </a:p>
        </p:txBody>
      </p:sp>
      <p:sp>
        <p:nvSpPr>
          <p:cNvPr id="25" name="Text 23"/>
          <p:cNvSpPr/>
          <p:nvPr/>
        </p:nvSpPr>
        <p:spPr>
          <a:xfrm>
            <a:off x="402336" y="3264408"/>
            <a:ext cx="2532888" cy="310896"/>
          </a:xfrm>
          <a:prstGeom prst="rect">
            <a:avLst/>
          </a:prstGeom>
          <a:noFill/>
          <a:ln/>
        </p:spPr>
        <p:txBody>
          <a:bodyPr wrap="square" lIns="0" tIns="0" rIns="0" bIns="0" rtlCol="0" anchor="ctr"/>
          <a:lstStyle/>
          <a:p>
            <a:pPr indent="0" marL="0">
              <a:buNone/>
            </a:pPr>
            <a:r>
              <a:rPr lang="en-US" sz="1200" b="1" dirty="0">
                <a:solidFill>
                  <a:srgbClr val="0D1B3E"/>
                </a:solidFill>
              </a:rPr>
              <a:t>Middle East &amp; Africa</a:t>
            </a:r>
            <a:endParaRPr lang="en-US" sz="1200" dirty="0"/>
          </a:p>
        </p:txBody>
      </p:sp>
      <p:sp>
        <p:nvSpPr>
          <p:cNvPr id="26" name="Text 24"/>
          <p:cNvSpPr/>
          <p:nvPr/>
        </p:nvSpPr>
        <p:spPr>
          <a:xfrm>
            <a:off x="402336" y="3593592"/>
            <a:ext cx="2532888" cy="658368"/>
          </a:xfrm>
          <a:prstGeom prst="rect">
            <a:avLst/>
          </a:prstGeom>
          <a:noFill/>
          <a:ln/>
        </p:spPr>
        <p:txBody>
          <a:bodyPr wrap="square" lIns="0" tIns="0" rIns="0" bIns="0" rtlCol="0" anchor="ctr"/>
          <a:lstStyle/>
          <a:p>
            <a:pPr indent="0" marL="0">
              <a:buNone/>
            </a:pPr>
            <a:r>
              <a:rPr lang="en-US" sz="1000" dirty="0">
                <a:solidFill>
                  <a:srgbClr val="64748B"/>
                </a:solidFill>
              </a:rPr>
              <a:t>UAE/Gulf institutions — many managed by Indian academics. Africa's HE market growing 5× global avg.</a:t>
            </a:r>
            <a:endParaRPr lang="en-US" sz="1000" dirty="0"/>
          </a:p>
        </p:txBody>
      </p:sp>
      <p:sp>
        <p:nvSpPr>
          <p:cNvPr id="27" name="Text 25"/>
          <p:cNvSpPr/>
          <p:nvPr/>
        </p:nvSpPr>
        <p:spPr>
          <a:xfrm>
            <a:off x="402336" y="4361688"/>
            <a:ext cx="2532888" cy="182880"/>
          </a:xfrm>
          <a:prstGeom prst="rect">
            <a:avLst/>
          </a:prstGeom>
          <a:noFill/>
          <a:ln/>
        </p:spPr>
        <p:txBody>
          <a:bodyPr wrap="square" lIns="0" tIns="0" rIns="0" bIns="0" rtlCol="0" anchor="ctr"/>
          <a:lstStyle/>
          <a:p>
            <a:pPr indent="0" marL="0">
              <a:buNone/>
            </a:pPr>
            <a:r>
              <a:rPr lang="en-US" sz="900" b="1" dirty="0">
                <a:solidFill>
                  <a:srgbClr val="F9A825"/>
                </a:solidFill>
              </a:rPr>
              <a:t>→ Localization needed</a:t>
            </a:r>
            <a:endParaRPr lang="en-US" sz="900" dirty="0"/>
          </a:p>
        </p:txBody>
      </p:sp>
      <p:sp>
        <p:nvSpPr>
          <p:cNvPr id="28" name="Shape 26"/>
          <p:cNvSpPr/>
          <p:nvPr/>
        </p:nvSpPr>
        <p:spPr>
          <a:xfrm>
            <a:off x="3227832" y="2880360"/>
            <a:ext cx="2788920" cy="1737360"/>
          </a:xfrm>
          <a:prstGeom prst="roundRect">
            <a:avLst>
              <a:gd name="adj" fmla="val 5263"/>
            </a:avLst>
          </a:prstGeom>
          <a:solidFill>
            <a:srgbClr val="FFFFFF"/>
          </a:solidFill>
          <a:ln w="12700">
            <a:solidFill>
              <a:srgbClr val="CBD5E1"/>
            </a:solidFill>
            <a:prstDash val="solid"/>
          </a:ln>
          <a:effectLst>
            <a:outerShdw sx="100000" sy="100000" kx="0" ky="0" algn="bl" rotWithShape="0" blurRad="101600" dist="25400" dir="2700000">
              <a:srgbClr val="000000">
                <a:alpha val="12000"/>
              </a:srgbClr>
            </a:outerShdw>
          </a:effectLst>
        </p:spPr>
      </p:sp>
      <p:sp>
        <p:nvSpPr>
          <p:cNvPr id="29" name="Shape 27"/>
          <p:cNvSpPr/>
          <p:nvPr/>
        </p:nvSpPr>
        <p:spPr>
          <a:xfrm>
            <a:off x="3355848" y="2990088"/>
            <a:ext cx="2532888" cy="228600"/>
          </a:xfrm>
          <a:prstGeom prst="roundRect">
            <a:avLst>
              <a:gd name="adj" fmla="val 16000"/>
            </a:avLst>
          </a:prstGeom>
          <a:solidFill>
            <a:srgbClr val="02C39A">
              <a:alpha val="18000"/>
            </a:srgbClr>
          </a:solidFill>
          <a:ln w="12700">
            <a:solidFill>
              <a:srgbClr val="02C39A">
                <a:alpha val="40000"/>
              </a:srgbClr>
            </a:solidFill>
            <a:prstDash val="solid"/>
          </a:ln>
        </p:spPr>
      </p:sp>
      <p:sp>
        <p:nvSpPr>
          <p:cNvPr id="30" name="Text 28"/>
          <p:cNvSpPr/>
          <p:nvPr/>
        </p:nvSpPr>
        <p:spPr>
          <a:xfrm>
            <a:off x="3355848" y="2990088"/>
            <a:ext cx="2532888" cy="228600"/>
          </a:xfrm>
          <a:prstGeom prst="rect">
            <a:avLst/>
          </a:prstGeom>
          <a:noFill/>
          <a:ln/>
        </p:spPr>
        <p:txBody>
          <a:bodyPr wrap="square" lIns="0" tIns="0" rIns="0" bIns="0" rtlCol="0" anchor="ctr"/>
          <a:lstStyle/>
          <a:p>
            <a:pPr algn="ctr" indent="0" marL="0">
              <a:buNone/>
            </a:pPr>
            <a:r>
              <a:rPr lang="en-US" sz="800" b="1" dirty="0">
                <a:solidFill>
                  <a:srgbClr val="02C39A"/>
                </a:solidFill>
              </a:rPr>
              <a:t>QUICK WINS</a:t>
            </a:r>
            <a:endParaRPr lang="en-US" sz="800" dirty="0"/>
          </a:p>
        </p:txBody>
      </p:sp>
      <p:sp>
        <p:nvSpPr>
          <p:cNvPr id="31" name="Text 29"/>
          <p:cNvSpPr/>
          <p:nvPr/>
        </p:nvSpPr>
        <p:spPr>
          <a:xfrm>
            <a:off x="3355848" y="3264408"/>
            <a:ext cx="2532888" cy="310896"/>
          </a:xfrm>
          <a:prstGeom prst="rect">
            <a:avLst/>
          </a:prstGeom>
          <a:noFill/>
          <a:ln/>
        </p:spPr>
        <p:txBody>
          <a:bodyPr wrap="square" lIns="0" tIns="0" rIns="0" bIns="0" rtlCol="0" anchor="ctr"/>
          <a:lstStyle/>
          <a:p>
            <a:pPr indent="0" marL="0">
              <a:buNone/>
            </a:pPr>
            <a:r>
              <a:rPr lang="en-US" sz="1200" b="1" dirty="0">
                <a:solidFill>
                  <a:srgbClr val="0D1B3E"/>
                </a:solidFill>
              </a:rPr>
              <a:t>Training &amp; Vocational</a:t>
            </a:r>
            <a:endParaRPr lang="en-US" sz="1200" dirty="0"/>
          </a:p>
        </p:txBody>
      </p:sp>
      <p:sp>
        <p:nvSpPr>
          <p:cNvPr id="32" name="Text 30"/>
          <p:cNvSpPr/>
          <p:nvPr/>
        </p:nvSpPr>
        <p:spPr>
          <a:xfrm>
            <a:off x="3355848" y="3593592"/>
            <a:ext cx="2532888" cy="658368"/>
          </a:xfrm>
          <a:prstGeom prst="rect">
            <a:avLst/>
          </a:prstGeom>
          <a:noFill/>
          <a:ln/>
        </p:spPr>
        <p:txBody>
          <a:bodyPr wrap="square" lIns="0" tIns="0" rIns="0" bIns="0" rtlCol="0" anchor="ctr"/>
          <a:lstStyle/>
          <a:p>
            <a:pPr indent="0" marL="0">
              <a:buNone/>
            </a:pPr>
            <a:r>
              <a:rPr lang="en-US" sz="1000" dirty="0">
                <a:solidFill>
                  <a:srgbClr val="64748B"/>
                </a:solidFill>
              </a:rPr>
              <a:t>JEE/NEET coaching chains, ITIs, polytechnics, NSDC partners. High volume, fast sales cycle.</a:t>
            </a:r>
            <a:endParaRPr lang="en-US" sz="1000" dirty="0"/>
          </a:p>
        </p:txBody>
      </p:sp>
      <p:sp>
        <p:nvSpPr>
          <p:cNvPr id="33" name="Text 31"/>
          <p:cNvSpPr/>
          <p:nvPr/>
        </p:nvSpPr>
        <p:spPr>
          <a:xfrm>
            <a:off x="3355848" y="4361688"/>
            <a:ext cx="2532888" cy="182880"/>
          </a:xfrm>
          <a:prstGeom prst="rect">
            <a:avLst/>
          </a:prstGeom>
          <a:noFill/>
          <a:ln/>
        </p:spPr>
        <p:txBody>
          <a:bodyPr wrap="square" lIns="0" tIns="0" rIns="0" bIns="0" rtlCol="0" anchor="ctr"/>
          <a:lstStyle/>
          <a:p>
            <a:pPr indent="0" marL="0">
              <a:buNone/>
            </a:pPr>
            <a:r>
              <a:rPr lang="en-US" sz="900" b="1" dirty="0">
                <a:solidFill>
                  <a:srgbClr val="02C39A"/>
                </a:solidFill>
              </a:rPr>
              <a:t>→ Batch mode tweak</a:t>
            </a:r>
            <a:endParaRPr lang="en-US" sz="900" dirty="0"/>
          </a:p>
        </p:txBody>
      </p:sp>
      <p:sp>
        <p:nvSpPr>
          <p:cNvPr id="34" name="Shape 32"/>
          <p:cNvSpPr/>
          <p:nvPr/>
        </p:nvSpPr>
        <p:spPr>
          <a:xfrm>
            <a:off x="6181344" y="2880360"/>
            <a:ext cx="2788920" cy="1737360"/>
          </a:xfrm>
          <a:prstGeom prst="roundRect">
            <a:avLst>
              <a:gd name="adj" fmla="val 5263"/>
            </a:avLst>
          </a:prstGeom>
          <a:solidFill>
            <a:srgbClr val="FFFFFF"/>
          </a:solidFill>
          <a:ln w="12700">
            <a:solidFill>
              <a:srgbClr val="CBD5E1"/>
            </a:solidFill>
            <a:prstDash val="solid"/>
          </a:ln>
          <a:effectLst>
            <a:outerShdw sx="100000" sy="100000" kx="0" ky="0" algn="bl" rotWithShape="0" blurRad="101600" dist="25400" dir="2700000">
              <a:srgbClr val="000000">
                <a:alpha val="12000"/>
              </a:srgbClr>
            </a:outerShdw>
          </a:effectLst>
        </p:spPr>
      </p:sp>
      <p:sp>
        <p:nvSpPr>
          <p:cNvPr id="35" name="Shape 33"/>
          <p:cNvSpPr/>
          <p:nvPr/>
        </p:nvSpPr>
        <p:spPr>
          <a:xfrm>
            <a:off x="6309360" y="2990088"/>
            <a:ext cx="2532888" cy="228600"/>
          </a:xfrm>
          <a:prstGeom prst="roundRect">
            <a:avLst>
              <a:gd name="adj" fmla="val 16000"/>
            </a:avLst>
          </a:prstGeom>
          <a:solidFill>
            <a:srgbClr val="64748B">
              <a:alpha val="18000"/>
            </a:srgbClr>
          </a:solidFill>
          <a:ln w="12700">
            <a:solidFill>
              <a:srgbClr val="64748B">
                <a:alpha val="40000"/>
              </a:srgbClr>
            </a:solidFill>
            <a:prstDash val="solid"/>
          </a:ln>
        </p:spPr>
      </p:sp>
      <p:sp>
        <p:nvSpPr>
          <p:cNvPr id="36" name="Text 34"/>
          <p:cNvSpPr/>
          <p:nvPr/>
        </p:nvSpPr>
        <p:spPr>
          <a:xfrm>
            <a:off x="6309360" y="2990088"/>
            <a:ext cx="2532888" cy="228600"/>
          </a:xfrm>
          <a:prstGeom prst="rect">
            <a:avLst/>
          </a:prstGeom>
          <a:noFill/>
          <a:ln/>
        </p:spPr>
        <p:txBody>
          <a:bodyPr wrap="square" lIns="0" tIns="0" rIns="0" bIns="0" rtlCol="0" anchor="ctr"/>
          <a:lstStyle/>
          <a:p>
            <a:pPr algn="ctr" indent="0" marL="0">
              <a:buNone/>
            </a:pPr>
            <a:r>
              <a:rPr lang="en-US" sz="800" b="1" dirty="0">
                <a:solidFill>
                  <a:srgbClr val="64748B"/>
                </a:solidFill>
              </a:rPr>
              <a:t>FUTURE MARKET</a:t>
            </a:r>
            <a:endParaRPr lang="en-US" sz="800" dirty="0"/>
          </a:p>
        </p:txBody>
      </p:sp>
      <p:sp>
        <p:nvSpPr>
          <p:cNvPr id="37" name="Text 35"/>
          <p:cNvSpPr/>
          <p:nvPr/>
        </p:nvSpPr>
        <p:spPr>
          <a:xfrm>
            <a:off x="6309360" y="3264408"/>
            <a:ext cx="2532888" cy="310896"/>
          </a:xfrm>
          <a:prstGeom prst="rect">
            <a:avLst/>
          </a:prstGeom>
          <a:noFill/>
          <a:ln/>
        </p:spPr>
        <p:txBody>
          <a:bodyPr wrap="square" lIns="0" tIns="0" rIns="0" bIns="0" rtlCol="0" anchor="ctr"/>
          <a:lstStyle/>
          <a:p>
            <a:pPr indent="0" marL="0">
              <a:buNone/>
            </a:pPr>
            <a:r>
              <a:rPr lang="en-US" sz="1200" b="1" dirty="0">
                <a:solidFill>
                  <a:srgbClr val="0D1B3E"/>
                </a:solidFill>
              </a:rPr>
              <a:t>International Universities</a:t>
            </a:r>
            <a:endParaRPr lang="en-US" sz="1200" dirty="0"/>
          </a:p>
        </p:txBody>
      </p:sp>
      <p:sp>
        <p:nvSpPr>
          <p:cNvPr id="38" name="Text 36"/>
          <p:cNvSpPr/>
          <p:nvPr/>
        </p:nvSpPr>
        <p:spPr>
          <a:xfrm>
            <a:off x="6309360" y="3593592"/>
            <a:ext cx="2532888" cy="658368"/>
          </a:xfrm>
          <a:prstGeom prst="rect">
            <a:avLst/>
          </a:prstGeom>
          <a:noFill/>
          <a:ln/>
        </p:spPr>
        <p:txBody>
          <a:bodyPr wrap="square" lIns="0" tIns="0" rIns="0" bIns="0" rtlCol="0" anchor="ctr"/>
          <a:lstStyle/>
          <a:p>
            <a:pPr indent="0" marL="0">
              <a:buNone/>
            </a:pPr>
            <a:r>
              <a:rPr lang="en-US" sz="1000" dirty="0">
                <a:solidFill>
                  <a:srgbClr val="64748B"/>
                </a:solidFill>
              </a:rPr>
              <a:t>UK post-92, Australian TAFEs, Canadian/US community colleges. Premium pricing, but compliance-heavy.</a:t>
            </a:r>
            <a:endParaRPr lang="en-US" sz="1000" dirty="0"/>
          </a:p>
        </p:txBody>
      </p:sp>
      <p:sp>
        <p:nvSpPr>
          <p:cNvPr id="39" name="Text 37"/>
          <p:cNvSpPr/>
          <p:nvPr/>
        </p:nvSpPr>
        <p:spPr>
          <a:xfrm>
            <a:off x="6309360" y="4361688"/>
            <a:ext cx="2532888" cy="182880"/>
          </a:xfrm>
          <a:prstGeom prst="rect">
            <a:avLst/>
          </a:prstGeom>
          <a:noFill/>
          <a:ln/>
        </p:spPr>
        <p:txBody>
          <a:bodyPr wrap="square" lIns="0" tIns="0" rIns="0" bIns="0" rtlCol="0" anchor="ctr"/>
          <a:lstStyle/>
          <a:p>
            <a:pPr indent="0" marL="0">
              <a:buNone/>
            </a:pPr>
            <a:r>
              <a:rPr lang="en-US" sz="900" b="1" dirty="0">
                <a:solidFill>
                  <a:srgbClr val="64748B"/>
                </a:solidFill>
              </a:rPr>
              <a:t>→ 18–24 months away</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D1B3E"/>
          </a:solidFill>
          <a:ln w="12700">
            <a:solidFill>
              <a:srgbClr val="0D1B3E"/>
            </a:solidFill>
            <a:prstDash val="solid"/>
          </a:ln>
        </p:spPr>
      </p:sp>
      <p:sp>
        <p:nvSpPr>
          <p:cNvPr id="3" name="Text 1"/>
          <p:cNvSpPr/>
          <p:nvPr/>
        </p:nvSpPr>
        <p:spPr>
          <a:xfrm>
            <a:off x="365760" y="0"/>
            <a:ext cx="8412480" cy="822960"/>
          </a:xfrm>
          <a:prstGeom prst="rect">
            <a:avLst/>
          </a:prstGeom>
          <a:noFill/>
          <a:ln/>
        </p:spPr>
        <p:txBody>
          <a:bodyPr wrap="square" rtlCol="0" anchor="ctr"/>
          <a:lstStyle/>
          <a:p>
            <a:pPr indent="0" marL="0">
              <a:buNone/>
            </a:pPr>
            <a:r>
              <a:rPr lang="en-US" sz="1100" b="1" spc="500" kern="0" dirty="0">
                <a:solidFill>
                  <a:srgbClr val="028090"/>
                </a:solidFill>
              </a:rPr>
              <a:t>GEOGRAPHIC READINESS</a:t>
            </a:r>
            <a:endParaRPr lang="en-US" sz="1100" dirty="0"/>
          </a:p>
        </p:txBody>
      </p:sp>
      <p:sp>
        <p:nvSpPr>
          <p:cNvPr id="4" name="Shape 2"/>
          <p:cNvSpPr/>
          <p:nvPr/>
        </p:nvSpPr>
        <p:spPr>
          <a:xfrm>
            <a:off x="365760" y="914400"/>
            <a:ext cx="164592" cy="164592"/>
          </a:xfrm>
          <a:prstGeom prst="ellipse">
            <a:avLst/>
          </a:prstGeom>
          <a:solidFill>
            <a:srgbClr val="1D9E75"/>
          </a:solidFill>
          <a:ln w="12700">
            <a:solidFill>
              <a:srgbClr val="1D9E75"/>
            </a:solidFill>
            <a:prstDash val="solid"/>
          </a:ln>
        </p:spPr>
      </p:sp>
      <p:sp>
        <p:nvSpPr>
          <p:cNvPr id="5" name="Text 3"/>
          <p:cNvSpPr/>
          <p:nvPr/>
        </p:nvSpPr>
        <p:spPr>
          <a:xfrm>
            <a:off x="594360" y="886968"/>
            <a:ext cx="1371600" cy="219456"/>
          </a:xfrm>
          <a:prstGeom prst="rect">
            <a:avLst/>
          </a:prstGeom>
          <a:noFill/>
          <a:ln/>
        </p:spPr>
        <p:txBody>
          <a:bodyPr wrap="square" lIns="0" tIns="0" rIns="0" bIns="0" rtlCol="0" anchor="ctr"/>
          <a:lstStyle/>
          <a:p>
            <a:pPr indent="0" marL="0">
              <a:buNone/>
            </a:pPr>
            <a:r>
              <a:rPr lang="en-US" sz="1000" dirty="0">
                <a:solidFill>
                  <a:srgbClr val="64748B"/>
                </a:solidFill>
              </a:rPr>
              <a:t>Ship now</a:t>
            </a:r>
            <a:endParaRPr lang="en-US" sz="1000" dirty="0"/>
          </a:p>
        </p:txBody>
      </p:sp>
      <p:sp>
        <p:nvSpPr>
          <p:cNvPr id="6" name="Shape 4"/>
          <p:cNvSpPr/>
          <p:nvPr/>
        </p:nvSpPr>
        <p:spPr>
          <a:xfrm>
            <a:off x="2377440" y="914400"/>
            <a:ext cx="164592" cy="164592"/>
          </a:xfrm>
          <a:prstGeom prst="ellipse">
            <a:avLst/>
          </a:prstGeom>
          <a:solidFill>
            <a:srgbClr val="028090"/>
          </a:solidFill>
          <a:ln w="12700">
            <a:solidFill>
              <a:srgbClr val="028090"/>
            </a:solidFill>
            <a:prstDash val="solid"/>
          </a:ln>
        </p:spPr>
      </p:sp>
      <p:sp>
        <p:nvSpPr>
          <p:cNvPr id="7" name="Text 5"/>
          <p:cNvSpPr/>
          <p:nvPr/>
        </p:nvSpPr>
        <p:spPr>
          <a:xfrm>
            <a:off x="2606040" y="886968"/>
            <a:ext cx="1371600" cy="219456"/>
          </a:xfrm>
          <a:prstGeom prst="rect">
            <a:avLst/>
          </a:prstGeom>
          <a:noFill/>
          <a:ln/>
        </p:spPr>
        <p:txBody>
          <a:bodyPr wrap="square" lIns="0" tIns="0" rIns="0" bIns="0" rtlCol="0" anchor="ctr"/>
          <a:lstStyle/>
          <a:p>
            <a:pPr indent="0" marL="0">
              <a:buNone/>
            </a:pPr>
            <a:r>
              <a:rPr lang="en-US" sz="1000" dirty="0">
                <a:solidFill>
                  <a:srgbClr val="64748B"/>
                </a:solidFill>
              </a:rPr>
              <a:t>Minor work</a:t>
            </a:r>
            <a:endParaRPr lang="en-US" sz="1000" dirty="0"/>
          </a:p>
        </p:txBody>
      </p:sp>
      <p:sp>
        <p:nvSpPr>
          <p:cNvPr id="8" name="Shape 6"/>
          <p:cNvSpPr/>
          <p:nvPr/>
        </p:nvSpPr>
        <p:spPr>
          <a:xfrm>
            <a:off x="4389120" y="914400"/>
            <a:ext cx="164592" cy="164592"/>
          </a:xfrm>
          <a:prstGeom prst="ellipse">
            <a:avLst/>
          </a:prstGeom>
          <a:solidFill>
            <a:srgbClr val="F9A825"/>
          </a:solidFill>
          <a:ln w="12700">
            <a:solidFill>
              <a:srgbClr val="F9A825"/>
            </a:solidFill>
            <a:prstDash val="solid"/>
          </a:ln>
        </p:spPr>
      </p:sp>
      <p:sp>
        <p:nvSpPr>
          <p:cNvPr id="9" name="Text 7"/>
          <p:cNvSpPr/>
          <p:nvPr/>
        </p:nvSpPr>
        <p:spPr>
          <a:xfrm>
            <a:off x="4617720" y="886968"/>
            <a:ext cx="1371600" cy="219456"/>
          </a:xfrm>
          <a:prstGeom prst="rect">
            <a:avLst/>
          </a:prstGeom>
          <a:noFill/>
          <a:ln/>
        </p:spPr>
        <p:txBody>
          <a:bodyPr wrap="square" lIns="0" tIns="0" rIns="0" bIns="0" rtlCol="0" anchor="ctr"/>
          <a:lstStyle/>
          <a:p>
            <a:pPr indent="0" marL="0">
              <a:buNone/>
            </a:pPr>
            <a:r>
              <a:rPr lang="en-US" sz="1000" dirty="0">
                <a:solidFill>
                  <a:srgbClr val="64748B"/>
                </a:solidFill>
              </a:rPr>
              <a:t>Localize</a:t>
            </a:r>
            <a:endParaRPr lang="en-US" sz="1000" dirty="0"/>
          </a:p>
        </p:txBody>
      </p:sp>
      <p:sp>
        <p:nvSpPr>
          <p:cNvPr id="10" name="Shape 8"/>
          <p:cNvSpPr/>
          <p:nvPr/>
        </p:nvSpPr>
        <p:spPr>
          <a:xfrm>
            <a:off x="6400800" y="914400"/>
            <a:ext cx="164592" cy="164592"/>
          </a:xfrm>
          <a:prstGeom prst="ellipse">
            <a:avLst/>
          </a:prstGeom>
          <a:solidFill>
            <a:srgbClr val="64748B"/>
          </a:solidFill>
          <a:ln w="12700">
            <a:solidFill>
              <a:srgbClr val="64748B"/>
            </a:solidFill>
            <a:prstDash val="solid"/>
          </a:ln>
        </p:spPr>
      </p:sp>
      <p:sp>
        <p:nvSpPr>
          <p:cNvPr id="11" name="Text 9"/>
          <p:cNvSpPr/>
          <p:nvPr/>
        </p:nvSpPr>
        <p:spPr>
          <a:xfrm>
            <a:off x="6629400" y="886968"/>
            <a:ext cx="1371600" cy="219456"/>
          </a:xfrm>
          <a:prstGeom prst="rect">
            <a:avLst/>
          </a:prstGeom>
          <a:noFill/>
          <a:ln/>
        </p:spPr>
        <p:txBody>
          <a:bodyPr wrap="square" lIns="0" tIns="0" rIns="0" bIns="0" rtlCol="0" anchor="ctr"/>
          <a:lstStyle/>
          <a:p>
            <a:pPr indent="0" marL="0">
              <a:buNone/>
            </a:pPr>
            <a:r>
              <a:rPr lang="en-US" sz="1000" dirty="0">
                <a:solidFill>
                  <a:srgbClr val="64748B"/>
                </a:solidFill>
              </a:rPr>
              <a:t>Future</a:t>
            </a:r>
            <a:endParaRPr lang="en-US" sz="1000" dirty="0"/>
          </a:p>
        </p:txBody>
      </p:sp>
      <p:sp>
        <p:nvSpPr>
          <p:cNvPr id="12" name="Shape 10"/>
          <p:cNvSpPr/>
          <p:nvPr/>
        </p:nvSpPr>
        <p:spPr>
          <a:xfrm>
            <a:off x="274320" y="1188720"/>
            <a:ext cx="2788920" cy="1097280"/>
          </a:xfrm>
          <a:prstGeom prst="roundRect">
            <a:avLst>
              <a:gd name="adj" fmla="val 6667"/>
            </a:avLst>
          </a:prstGeom>
          <a:solidFill>
            <a:srgbClr val="FFFFFF"/>
          </a:solidFill>
          <a:ln w="12700">
            <a:solidFill>
              <a:srgbClr val="CBD5E1"/>
            </a:solidFill>
            <a:prstDash val="solid"/>
          </a:ln>
          <a:effectLst>
            <a:outerShdw sx="100000" sy="100000" kx="0" ky="0" algn="bl" rotWithShape="0" blurRad="101600" dist="25400" dir="2700000">
              <a:srgbClr val="000000">
                <a:alpha val="12000"/>
              </a:srgbClr>
            </a:outerShdw>
          </a:effectLst>
        </p:spPr>
      </p:sp>
      <p:sp>
        <p:nvSpPr>
          <p:cNvPr id="13" name="Text 11"/>
          <p:cNvSpPr/>
          <p:nvPr/>
        </p:nvSpPr>
        <p:spPr>
          <a:xfrm>
            <a:off x="402336" y="1280160"/>
            <a:ext cx="1554480" cy="274320"/>
          </a:xfrm>
          <a:prstGeom prst="rect">
            <a:avLst/>
          </a:prstGeom>
          <a:noFill/>
          <a:ln/>
        </p:spPr>
        <p:txBody>
          <a:bodyPr wrap="square" lIns="0" tIns="0" rIns="0" bIns="0" rtlCol="0" anchor="ctr"/>
          <a:lstStyle/>
          <a:p>
            <a:pPr indent="0" marL="0">
              <a:buNone/>
            </a:pPr>
            <a:r>
              <a:rPr lang="en-US" sz="1300" b="1" dirty="0">
                <a:solidFill>
                  <a:srgbClr val="0D1B3E"/>
                </a:solidFill>
              </a:rPr>
              <a:t>🇮🇳  India</a:t>
            </a:r>
            <a:endParaRPr lang="en-US" sz="1300" dirty="0"/>
          </a:p>
        </p:txBody>
      </p:sp>
      <p:sp>
        <p:nvSpPr>
          <p:cNvPr id="14" name="Shape 12"/>
          <p:cNvSpPr/>
          <p:nvPr/>
        </p:nvSpPr>
        <p:spPr>
          <a:xfrm>
            <a:off x="1993392" y="1298448"/>
            <a:ext cx="941832" cy="219456"/>
          </a:xfrm>
          <a:prstGeom prst="roundRect">
            <a:avLst>
              <a:gd name="adj" fmla="val 16667"/>
            </a:avLst>
          </a:prstGeom>
          <a:solidFill>
            <a:srgbClr val="1D9E75">
              <a:alpha val="20000"/>
            </a:srgbClr>
          </a:solidFill>
          <a:ln w="12700">
            <a:solidFill>
              <a:srgbClr val="1D9E75">
                <a:alpha val="50000"/>
              </a:srgbClr>
            </a:solidFill>
            <a:prstDash val="solid"/>
          </a:ln>
        </p:spPr>
      </p:sp>
      <p:sp>
        <p:nvSpPr>
          <p:cNvPr id="15" name="Text 13"/>
          <p:cNvSpPr/>
          <p:nvPr/>
        </p:nvSpPr>
        <p:spPr>
          <a:xfrm>
            <a:off x="1993392" y="1298448"/>
            <a:ext cx="941832" cy="219456"/>
          </a:xfrm>
          <a:prstGeom prst="rect">
            <a:avLst/>
          </a:prstGeom>
          <a:noFill/>
          <a:ln/>
        </p:spPr>
        <p:txBody>
          <a:bodyPr wrap="square" lIns="0" tIns="0" rIns="0" bIns="0" rtlCol="0" anchor="ctr"/>
          <a:lstStyle/>
          <a:p>
            <a:pPr algn="ctr" indent="0" marL="0">
              <a:buNone/>
            </a:pPr>
            <a:r>
              <a:rPr lang="en-US" sz="800" b="1" dirty="0">
                <a:solidFill>
                  <a:srgbClr val="1D9E75"/>
                </a:solidFill>
              </a:rPr>
              <a:t>Ship now</a:t>
            </a:r>
            <a:endParaRPr lang="en-US" sz="800" dirty="0"/>
          </a:p>
        </p:txBody>
      </p:sp>
      <p:sp>
        <p:nvSpPr>
          <p:cNvPr id="16" name="Text 14"/>
          <p:cNvSpPr/>
          <p:nvPr/>
        </p:nvSpPr>
        <p:spPr>
          <a:xfrm>
            <a:off x="402336" y="1591056"/>
            <a:ext cx="2532888" cy="219456"/>
          </a:xfrm>
          <a:prstGeom prst="rect">
            <a:avLst/>
          </a:prstGeom>
          <a:noFill/>
          <a:ln/>
        </p:spPr>
        <p:txBody>
          <a:bodyPr wrap="square" lIns="0" tIns="0" rIns="0" bIns="0" rtlCol="0" anchor="ctr"/>
          <a:lstStyle/>
          <a:p>
            <a:pPr indent="0" marL="0">
              <a:buNone/>
            </a:pPr>
            <a:r>
              <a:rPr lang="en-US" sz="1000" dirty="0">
                <a:solidFill>
                  <a:srgbClr val="028090"/>
                </a:solidFill>
              </a:rPr>
              <a:t>42,000+ colleges</a:t>
            </a:r>
            <a:endParaRPr lang="en-US" sz="1000" dirty="0"/>
          </a:p>
        </p:txBody>
      </p:sp>
      <p:sp>
        <p:nvSpPr>
          <p:cNvPr id="17" name="Text 15"/>
          <p:cNvSpPr/>
          <p:nvPr/>
        </p:nvSpPr>
        <p:spPr>
          <a:xfrm>
            <a:off x="402336" y="1828800"/>
            <a:ext cx="2532888" cy="347472"/>
          </a:xfrm>
          <a:prstGeom prst="rect">
            <a:avLst/>
          </a:prstGeom>
          <a:noFill/>
          <a:ln/>
        </p:spPr>
        <p:txBody>
          <a:bodyPr wrap="square" lIns="0" tIns="0" rIns="0" bIns="0" rtlCol="0" anchor="ctr"/>
          <a:lstStyle/>
          <a:p>
            <a:pPr indent="0" marL="0">
              <a:buNone/>
            </a:pPr>
            <a:r>
              <a:rPr lang="en-US" sz="1000" dirty="0">
                <a:solidFill>
                  <a:srgbClr val="64748B"/>
                </a:solidFill>
              </a:rPr>
              <a:t>NAAC/NIRF/AISHE mapped. Razorpay live.</a:t>
            </a:r>
            <a:endParaRPr lang="en-US" sz="1000" dirty="0"/>
          </a:p>
        </p:txBody>
      </p:sp>
      <p:sp>
        <p:nvSpPr>
          <p:cNvPr id="18" name="Shape 16"/>
          <p:cNvSpPr/>
          <p:nvPr/>
        </p:nvSpPr>
        <p:spPr>
          <a:xfrm>
            <a:off x="3227832" y="1188720"/>
            <a:ext cx="2788920" cy="1097280"/>
          </a:xfrm>
          <a:prstGeom prst="roundRect">
            <a:avLst>
              <a:gd name="adj" fmla="val 6667"/>
            </a:avLst>
          </a:prstGeom>
          <a:solidFill>
            <a:srgbClr val="FFFFFF"/>
          </a:solidFill>
          <a:ln w="12700">
            <a:solidFill>
              <a:srgbClr val="CBD5E1"/>
            </a:solidFill>
            <a:prstDash val="solid"/>
          </a:ln>
          <a:effectLst>
            <a:outerShdw sx="100000" sy="100000" kx="0" ky="0" algn="bl" rotWithShape="0" blurRad="101600" dist="25400" dir="2700000">
              <a:srgbClr val="000000">
                <a:alpha val="12000"/>
              </a:srgbClr>
            </a:outerShdw>
          </a:effectLst>
        </p:spPr>
      </p:sp>
      <p:sp>
        <p:nvSpPr>
          <p:cNvPr id="19" name="Text 17"/>
          <p:cNvSpPr/>
          <p:nvPr/>
        </p:nvSpPr>
        <p:spPr>
          <a:xfrm>
            <a:off x="3355848" y="1280160"/>
            <a:ext cx="1554480" cy="274320"/>
          </a:xfrm>
          <a:prstGeom prst="rect">
            <a:avLst/>
          </a:prstGeom>
          <a:noFill/>
          <a:ln/>
        </p:spPr>
        <p:txBody>
          <a:bodyPr wrap="square" lIns="0" tIns="0" rIns="0" bIns="0" rtlCol="0" anchor="ctr"/>
          <a:lstStyle/>
          <a:p>
            <a:pPr indent="0" marL="0">
              <a:buNone/>
            </a:pPr>
            <a:r>
              <a:rPr lang="en-US" sz="1300" b="1" dirty="0">
                <a:solidFill>
                  <a:srgbClr val="0D1B3E"/>
                </a:solidFill>
              </a:rPr>
              <a:t>🇱🇰  Sri Lanka</a:t>
            </a:r>
            <a:endParaRPr lang="en-US" sz="1300" dirty="0"/>
          </a:p>
        </p:txBody>
      </p:sp>
      <p:sp>
        <p:nvSpPr>
          <p:cNvPr id="20" name="Shape 18"/>
          <p:cNvSpPr/>
          <p:nvPr/>
        </p:nvSpPr>
        <p:spPr>
          <a:xfrm>
            <a:off x="4946904" y="1298448"/>
            <a:ext cx="941832" cy="219456"/>
          </a:xfrm>
          <a:prstGeom prst="roundRect">
            <a:avLst>
              <a:gd name="adj" fmla="val 16667"/>
            </a:avLst>
          </a:prstGeom>
          <a:solidFill>
            <a:srgbClr val="1D9E75">
              <a:alpha val="20000"/>
            </a:srgbClr>
          </a:solidFill>
          <a:ln w="12700">
            <a:solidFill>
              <a:srgbClr val="1D9E75">
                <a:alpha val="50000"/>
              </a:srgbClr>
            </a:solidFill>
            <a:prstDash val="solid"/>
          </a:ln>
        </p:spPr>
      </p:sp>
      <p:sp>
        <p:nvSpPr>
          <p:cNvPr id="21" name="Text 19"/>
          <p:cNvSpPr/>
          <p:nvPr/>
        </p:nvSpPr>
        <p:spPr>
          <a:xfrm>
            <a:off x="4946904" y="1298448"/>
            <a:ext cx="941832" cy="219456"/>
          </a:xfrm>
          <a:prstGeom prst="rect">
            <a:avLst/>
          </a:prstGeom>
          <a:noFill/>
          <a:ln/>
        </p:spPr>
        <p:txBody>
          <a:bodyPr wrap="square" lIns="0" tIns="0" rIns="0" bIns="0" rtlCol="0" anchor="ctr"/>
          <a:lstStyle/>
          <a:p>
            <a:pPr algn="ctr" indent="0" marL="0">
              <a:buNone/>
            </a:pPr>
            <a:r>
              <a:rPr lang="en-US" sz="800" b="1" dirty="0">
                <a:solidFill>
                  <a:srgbClr val="1D9E75"/>
                </a:solidFill>
              </a:rPr>
              <a:t>Ship now</a:t>
            </a:r>
            <a:endParaRPr lang="en-US" sz="800" dirty="0"/>
          </a:p>
        </p:txBody>
      </p:sp>
      <p:sp>
        <p:nvSpPr>
          <p:cNvPr id="22" name="Text 20"/>
          <p:cNvSpPr/>
          <p:nvPr/>
        </p:nvSpPr>
        <p:spPr>
          <a:xfrm>
            <a:off x="3355848" y="1591056"/>
            <a:ext cx="2532888" cy="219456"/>
          </a:xfrm>
          <a:prstGeom prst="rect">
            <a:avLst/>
          </a:prstGeom>
          <a:noFill/>
          <a:ln/>
        </p:spPr>
        <p:txBody>
          <a:bodyPr wrap="square" lIns="0" tIns="0" rIns="0" bIns="0" rtlCol="0" anchor="ctr"/>
          <a:lstStyle/>
          <a:p>
            <a:pPr indent="0" marL="0">
              <a:buNone/>
            </a:pPr>
            <a:r>
              <a:rPr lang="en-US" sz="1000" dirty="0">
                <a:solidFill>
                  <a:srgbClr val="028090"/>
                </a:solidFill>
              </a:rPr>
              <a:t>~110 universities</a:t>
            </a:r>
            <a:endParaRPr lang="en-US" sz="1000" dirty="0"/>
          </a:p>
        </p:txBody>
      </p:sp>
      <p:sp>
        <p:nvSpPr>
          <p:cNvPr id="23" name="Text 21"/>
          <p:cNvSpPr/>
          <p:nvPr/>
        </p:nvSpPr>
        <p:spPr>
          <a:xfrm>
            <a:off x="3355848" y="1828800"/>
            <a:ext cx="2532888" cy="347472"/>
          </a:xfrm>
          <a:prstGeom prst="rect">
            <a:avLst/>
          </a:prstGeom>
          <a:noFill/>
          <a:ln/>
        </p:spPr>
        <p:txBody>
          <a:bodyPr wrap="square" lIns="0" tIns="0" rIns="0" bIns="0" rtlCol="0" anchor="ctr"/>
          <a:lstStyle/>
          <a:p>
            <a:pPr indent="0" marL="0">
              <a:buNone/>
            </a:pPr>
            <a:r>
              <a:rPr lang="en-US" sz="1000" dirty="0">
                <a:solidFill>
                  <a:srgbClr val="64748B"/>
                </a:solidFill>
              </a:rPr>
              <a:t>Similar structure. Add LKR currency.</a:t>
            </a:r>
            <a:endParaRPr lang="en-US" sz="1000" dirty="0"/>
          </a:p>
        </p:txBody>
      </p:sp>
      <p:sp>
        <p:nvSpPr>
          <p:cNvPr id="24" name="Shape 22"/>
          <p:cNvSpPr/>
          <p:nvPr/>
        </p:nvSpPr>
        <p:spPr>
          <a:xfrm>
            <a:off x="6181344" y="1188720"/>
            <a:ext cx="2788920" cy="1097280"/>
          </a:xfrm>
          <a:prstGeom prst="roundRect">
            <a:avLst>
              <a:gd name="adj" fmla="val 6667"/>
            </a:avLst>
          </a:prstGeom>
          <a:solidFill>
            <a:srgbClr val="FFFFFF"/>
          </a:solidFill>
          <a:ln w="12700">
            <a:solidFill>
              <a:srgbClr val="CBD5E1"/>
            </a:solidFill>
            <a:prstDash val="solid"/>
          </a:ln>
          <a:effectLst>
            <a:outerShdw sx="100000" sy="100000" kx="0" ky="0" algn="bl" rotWithShape="0" blurRad="101600" dist="25400" dir="2700000">
              <a:srgbClr val="000000">
                <a:alpha val="12000"/>
              </a:srgbClr>
            </a:outerShdw>
          </a:effectLst>
        </p:spPr>
      </p:sp>
      <p:sp>
        <p:nvSpPr>
          <p:cNvPr id="25" name="Text 23"/>
          <p:cNvSpPr/>
          <p:nvPr/>
        </p:nvSpPr>
        <p:spPr>
          <a:xfrm>
            <a:off x="6309360" y="1280160"/>
            <a:ext cx="1554480" cy="274320"/>
          </a:xfrm>
          <a:prstGeom prst="rect">
            <a:avLst/>
          </a:prstGeom>
          <a:noFill/>
          <a:ln/>
        </p:spPr>
        <p:txBody>
          <a:bodyPr wrap="square" lIns="0" tIns="0" rIns="0" bIns="0" rtlCol="0" anchor="ctr"/>
          <a:lstStyle/>
          <a:p>
            <a:pPr indent="0" marL="0">
              <a:buNone/>
            </a:pPr>
            <a:r>
              <a:rPr lang="en-US" sz="1300" b="1" dirty="0">
                <a:solidFill>
                  <a:srgbClr val="0D1B3E"/>
                </a:solidFill>
              </a:rPr>
              <a:t>🇧🇩  Bangladesh</a:t>
            </a:r>
            <a:endParaRPr lang="en-US" sz="1300" dirty="0"/>
          </a:p>
        </p:txBody>
      </p:sp>
      <p:sp>
        <p:nvSpPr>
          <p:cNvPr id="26" name="Shape 24"/>
          <p:cNvSpPr/>
          <p:nvPr/>
        </p:nvSpPr>
        <p:spPr>
          <a:xfrm>
            <a:off x="7900416" y="1298448"/>
            <a:ext cx="941832" cy="219456"/>
          </a:xfrm>
          <a:prstGeom prst="roundRect">
            <a:avLst>
              <a:gd name="adj" fmla="val 16667"/>
            </a:avLst>
          </a:prstGeom>
          <a:solidFill>
            <a:srgbClr val="028090">
              <a:alpha val="20000"/>
            </a:srgbClr>
          </a:solidFill>
          <a:ln w="12700">
            <a:solidFill>
              <a:srgbClr val="028090">
                <a:alpha val="50000"/>
              </a:srgbClr>
            </a:solidFill>
            <a:prstDash val="solid"/>
          </a:ln>
        </p:spPr>
      </p:sp>
      <p:sp>
        <p:nvSpPr>
          <p:cNvPr id="27" name="Text 25"/>
          <p:cNvSpPr/>
          <p:nvPr/>
        </p:nvSpPr>
        <p:spPr>
          <a:xfrm>
            <a:off x="7900416" y="1298448"/>
            <a:ext cx="941832" cy="219456"/>
          </a:xfrm>
          <a:prstGeom prst="rect">
            <a:avLst/>
          </a:prstGeom>
          <a:noFill/>
          <a:ln/>
        </p:spPr>
        <p:txBody>
          <a:bodyPr wrap="square" lIns="0" tIns="0" rIns="0" bIns="0" rtlCol="0" anchor="ctr"/>
          <a:lstStyle/>
          <a:p>
            <a:pPr algn="ctr" indent="0" marL="0">
              <a:buNone/>
            </a:pPr>
            <a:r>
              <a:rPr lang="en-US" sz="800" b="1" dirty="0">
                <a:solidFill>
                  <a:srgbClr val="028090"/>
                </a:solidFill>
              </a:rPr>
              <a:t>Minor work</a:t>
            </a:r>
            <a:endParaRPr lang="en-US" sz="800" dirty="0"/>
          </a:p>
        </p:txBody>
      </p:sp>
      <p:sp>
        <p:nvSpPr>
          <p:cNvPr id="28" name="Text 26"/>
          <p:cNvSpPr/>
          <p:nvPr/>
        </p:nvSpPr>
        <p:spPr>
          <a:xfrm>
            <a:off x="6309360" y="1591056"/>
            <a:ext cx="2532888" cy="219456"/>
          </a:xfrm>
          <a:prstGeom prst="rect">
            <a:avLst/>
          </a:prstGeom>
          <a:noFill/>
          <a:ln/>
        </p:spPr>
        <p:txBody>
          <a:bodyPr wrap="square" lIns="0" tIns="0" rIns="0" bIns="0" rtlCol="0" anchor="ctr"/>
          <a:lstStyle/>
          <a:p>
            <a:pPr indent="0" marL="0">
              <a:buNone/>
            </a:pPr>
            <a:r>
              <a:rPr lang="en-US" sz="1000" dirty="0">
                <a:solidFill>
                  <a:srgbClr val="028090"/>
                </a:solidFill>
              </a:rPr>
              <a:t>900+ privates</a:t>
            </a:r>
            <a:endParaRPr lang="en-US" sz="1000" dirty="0"/>
          </a:p>
        </p:txBody>
      </p:sp>
      <p:sp>
        <p:nvSpPr>
          <p:cNvPr id="29" name="Text 27"/>
          <p:cNvSpPr/>
          <p:nvPr/>
        </p:nvSpPr>
        <p:spPr>
          <a:xfrm>
            <a:off x="6309360" y="1828800"/>
            <a:ext cx="2532888" cy="347472"/>
          </a:xfrm>
          <a:prstGeom prst="rect">
            <a:avLst/>
          </a:prstGeom>
          <a:noFill/>
          <a:ln/>
        </p:spPr>
        <p:txBody>
          <a:bodyPr wrap="square" lIns="0" tIns="0" rIns="0" bIns="0" rtlCol="0" anchor="ctr"/>
          <a:lstStyle/>
          <a:p>
            <a:pPr indent="0" marL="0">
              <a:buNone/>
            </a:pPr>
            <a:r>
              <a:rPr lang="en-US" sz="1000" dirty="0">
                <a:solidFill>
                  <a:srgbClr val="64748B"/>
                </a:solidFill>
              </a:rPr>
              <a:t>BDT currency. UGC BD reporting.</a:t>
            </a:r>
            <a:endParaRPr lang="en-US" sz="1000" dirty="0"/>
          </a:p>
        </p:txBody>
      </p:sp>
      <p:sp>
        <p:nvSpPr>
          <p:cNvPr id="30" name="Shape 28"/>
          <p:cNvSpPr/>
          <p:nvPr/>
        </p:nvSpPr>
        <p:spPr>
          <a:xfrm>
            <a:off x="274320" y="2423160"/>
            <a:ext cx="2788920" cy="1097280"/>
          </a:xfrm>
          <a:prstGeom prst="roundRect">
            <a:avLst>
              <a:gd name="adj" fmla="val 6667"/>
            </a:avLst>
          </a:prstGeom>
          <a:solidFill>
            <a:srgbClr val="FFFFFF"/>
          </a:solidFill>
          <a:ln w="12700">
            <a:solidFill>
              <a:srgbClr val="CBD5E1"/>
            </a:solidFill>
            <a:prstDash val="solid"/>
          </a:ln>
          <a:effectLst>
            <a:outerShdw sx="100000" sy="100000" kx="0" ky="0" algn="bl" rotWithShape="0" blurRad="101600" dist="25400" dir="2700000">
              <a:srgbClr val="000000">
                <a:alpha val="12000"/>
              </a:srgbClr>
            </a:outerShdw>
          </a:effectLst>
        </p:spPr>
      </p:sp>
      <p:sp>
        <p:nvSpPr>
          <p:cNvPr id="31" name="Text 29"/>
          <p:cNvSpPr/>
          <p:nvPr/>
        </p:nvSpPr>
        <p:spPr>
          <a:xfrm>
            <a:off x="402336" y="2514600"/>
            <a:ext cx="1554480" cy="274320"/>
          </a:xfrm>
          <a:prstGeom prst="rect">
            <a:avLst/>
          </a:prstGeom>
          <a:noFill/>
          <a:ln/>
        </p:spPr>
        <p:txBody>
          <a:bodyPr wrap="square" lIns="0" tIns="0" rIns="0" bIns="0" rtlCol="0" anchor="ctr"/>
          <a:lstStyle/>
          <a:p>
            <a:pPr indent="0" marL="0">
              <a:buNone/>
            </a:pPr>
            <a:r>
              <a:rPr lang="en-US" sz="1300" b="1" dirty="0">
                <a:solidFill>
                  <a:srgbClr val="0D1B3E"/>
                </a:solidFill>
              </a:rPr>
              <a:t>🇵🇭  Philippines</a:t>
            </a:r>
            <a:endParaRPr lang="en-US" sz="1300" dirty="0"/>
          </a:p>
        </p:txBody>
      </p:sp>
      <p:sp>
        <p:nvSpPr>
          <p:cNvPr id="32" name="Shape 30"/>
          <p:cNvSpPr/>
          <p:nvPr/>
        </p:nvSpPr>
        <p:spPr>
          <a:xfrm>
            <a:off x="1993392" y="2532888"/>
            <a:ext cx="941832" cy="219456"/>
          </a:xfrm>
          <a:prstGeom prst="roundRect">
            <a:avLst>
              <a:gd name="adj" fmla="val 16667"/>
            </a:avLst>
          </a:prstGeom>
          <a:solidFill>
            <a:srgbClr val="028090">
              <a:alpha val="20000"/>
            </a:srgbClr>
          </a:solidFill>
          <a:ln w="12700">
            <a:solidFill>
              <a:srgbClr val="028090">
                <a:alpha val="50000"/>
              </a:srgbClr>
            </a:solidFill>
            <a:prstDash val="solid"/>
          </a:ln>
        </p:spPr>
      </p:sp>
      <p:sp>
        <p:nvSpPr>
          <p:cNvPr id="33" name="Text 31"/>
          <p:cNvSpPr/>
          <p:nvPr/>
        </p:nvSpPr>
        <p:spPr>
          <a:xfrm>
            <a:off x="1993392" y="2532888"/>
            <a:ext cx="941832" cy="219456"/>
          </a:xfrm>
          <a:prstGeom prst="rect">
            <a:avLst/>
          </a:prstGeom>
          <a:noFill/>
          <a:ln/>
        </p:spPr>
        <p:txBody>
          <a:bodyPr wrap="square" lIns="0" tIns="0" rIns="0" bIns="0" rtlCol="0" anchor="ctr"/>
          <a:lstStyle/>
          <a:p>
            <a:pPr algn="ctr" indent="0" marL="0">
              <a:buNone/>
            </a:pPr>
            <a:r>
              <a:rPr lang="en-US" sz="800" b="1" dirty="0">
                <a:solidFill>
                  <a:srgbClr val="028090"/>
                </a:solidFill>
              </a:rPr>
              <a:t>Minor work</a:t>
            </a:r>
            <a:endParaRPr lang="en-US" sz="800" dirty="0"/>
          </a:p>
        </p:txBody>
      </p:sp>
      <p:sp>
        <p:nvSpPr>
          <p:cNvPr id="34" name="Text 32"/>
          <p:cNvSpPr/>
          <p:nvPr/>
        </p:nvSpPr>
        <p:spPr>
          <a:xfrm>
            <a:off x="402336" y="2825496"/>
            <a:ext cx="2532888" cy="219456"/>
          </a:xfrm>
          <a:prstGeom prst="rect">
            <a:avLst/>
          </a:prstGeom>
          <a:noFill/>
          <a:ln/>
        </p:spPr>
        <p:txBody>
          <a:bodyPr wrap="square" lIns="0" tIns="0" rIns="0" bIns="0" rtlCol="0" anchor="ctr"/>
          <a:lstStyle/>
          <a:p>
            <a:pPr indent="0" marL="0">
              <a:buNone/>
            </a:pPr>
            <a:r>
              <a:rPr lang="en-US" sz="1000" dirty="0">
                <a:solidFill>
                  <a:srgbClr val="028090"/>
                </a:solidFill>
              </a:rPr>
              <a:t>2,000+ HEIs</a:t>
            </a:r>
            <a:endParaRPr lang="en-US" sz="1000" dirty="0"/>
          </a:p>
        </p:txBody>
      </p:sp>
      <p:sp>
        <p:nvSpPr>
          <p:cNvPr id="35" name="Text 33"/>
          <p:cNvSpPr/>
          <p:nvPr/>
        </p:nvSpPr>
        <p:spPr>
          <a:xfrm>
            <a:off x="402336" y="3063240"/>
            <a:ext cx="2532888" cy="347472"/>
          </a:xfrm>
          <a:prstGeom prst="rect">
            <a:avLst/>
          </a:prstGeom>
          <a:noFill/>
          <a:ln/>
        </p:spPr>
        <p:txBody>
          <a:bodyPr wrap="square" lIns="0" tIns="0" rIns="0" bIns="0" rtlCol="0" anchor="ctr"/>
          <a:lstStyle/>
          <a:p>
            <a:pPr indent="0" marL="0">
              <a:buNone/>
            </a:pPr>
            <a:r>
              <a:rPr lang="en-US" sz="1000" dirty="0">
                <a:solidFill>
                  <a:srgbClr val="64748B"/>
                </a:solidFill>
              </a:rPr>
              <a:t>PHP + CHED accreditation mapping.</a:t>
            </a:r>
            <a:endParaRPr lang="en-US" sz="1000" dirty="0"/>
          </a:p>
        </p:txBody>
      </p:sp>
      <p:sp>
        <p:nvSpPr>
          <p:cNvPr id="36" name="Shape 34"/>
          <p:cNvSpPr/>
          <p:nvPr/>
        </p:nvSpPr>
        <p:spPr>
          <a:xfrm>
            <a:off x="3227832" y="2423160"/>
            <a:ext cx="2788920" cy="1097280"/>
          </a:xfrm>
          <a:prstGeom prst="roundRect">
            <a:avLst>
              <a:gd name="adj" fmla="val 6667"/>
            </a:avLst>
          </a:prstGeom>
          <a:solidFill>
            <a:srgbClr val="FFFFFF"/>
          </a:solidFill>
          <a:ln w="12700">
            <a:solidFill>
              <a:srgbClr val="CBD5E1"/>
            </a:solidFill>
            <a:prstDash val="solid"/>
          </a:ln>
          <a:effectLst>
            <a:outerShdw sx="100000" sy="100000" kx="0" ky="0" algn="bl" rotWithShape="0" blurRad="101600" dist="25400" dir="2700000">
              <a:srgbClr val="000000">
                <a:alpha val="12000"/>
              </a:srgbClr>
            </a:outerShdw>
          </a:effectLst>
        </p:spPr>
      </p:sp>
      <p:sp>
        <p:nvSpPr>
          <p:cNvPr id="37" name="Text 35"/>
          <p:cNvSpPr/>
          <p:nvPr/>
        </p:nvSpPr>
        <p:spPr>
          <a:xfrm>
            <a:off x="3355848" y="2514600"/>
            <a:ext cx="1554480" cy="274320"/>
          </a:xfrm>
          <a:prstGeom prst="rect">
            <a:avLst/>
          </a:prstGeom>
          <a:noFill/>
          <a:ln/>
        </p:spPr>
        <p:txBody>
          <a:bodyPr wrap="square" lIns="0" tIns="0" rIns="0" bIns="0" rtlCol="0" anchor="ctr"/>
          <a:lstStyle/>
          <a:p>
            <a:pPr indent="0" marL="0">
              <a:buNone/>
            </a:pPr>
            <a:r>
              <a:rPr lang="en-US" sz="1300" b="1" dirty="0">
                <a:solidFill>
                  <a:srgbClr val="0D1B3E"/>
                </a:solidFill>
              </a:rPr>
              <a:t>🇦🇪  UAE / Gulf</a:t>
            </a:r>
            <a:endParaRPr lang="en-US" sz="1300" dirty="0"/>
          </a:p>
        </p:txBody>
      </p:sp>
      <p:sp>
        <p:nvSpPr>
          <p:cNvPr id="38" name="Shape 36"/>
          <p:cNvSpPr/>
          <p:nvPr/>
        </p:nvSpPr>
        <p:spPr>
          <a:xfrm>
            <a:off x="4946904" y="2532888"/>
            <a:ext cx="941832" cy="219456"/>
          </a:xfrm>
          <a:prstGeom prst="roundRect">
            <a:avLst>
              <a:gd name="adj" fmla="val 16667"/>
            </a:avLst>
          </a:prstGeom>
          <a:solidFill>
            <a:srgbClr val="F9A825">
              <a:alpha val="20000"/>
            </a:srgbClr>
          </a:solidFill>
          <a:ln w="12700">
            <a:solidFill>
              <a:srgbClr val="F9A825">
                <a:alpha val="50000"/>
              </a:srgbClr>
            </a:solidFill>
            <a:prstDash val="solid"/>
          </a:ln>
        </p:spPr>
      </p:sp>
      <p:sp>
        <p:nvSpPr>
          <p:cNvPr id="39" name="Text 37"/>
          <p:cNvSpPr/>
          <p:nvPr/>
        </p:nvSpPr>
        <p:spPr>
          <a:xfrm>
            <a:off x="4946904" y="2532888"/>
            <a:ext cx="941832" cy="219456"/>
          </a:xfrm>
          <a:prstGeom prst="rect">
            <a:avLst/>
          </a:prstGeom>
          <a:noFill/>
          <a:ln/>
        </p:spPr>
        <p:txBody>
          <a:bodyPr wrap="square" lIns="0" tIns="0" rIns="0" bIns="0" rtlCol="0" anchor="ctr"/>
          <a:lstStyle/>
          <a:p>
            <a:pPr algn="ctr" indent="0" marL="0">
              <a:buNone/>
            </a:pPr>
            <a:r>
              <a:rPr lang="en-US" sz="800" b="1" dirty="0">
                <a:solidFill>
                  <a:srgbClr val="F9A825"/>
                </a:solidFill>
              </a:rPr>
              <a:t>Localize</a:t>
            </a:r>
            <a:endParaRPr lang="en-US" sz="800" dirty="0"/>
          </a:p>
        </p:txBody>
      </p:sp>
      <p:sp>
        <p:nvSpPr>
          <p:cNvPr id="40" name="Text 38"/>
          <p:cNvSpPr/>
          <p:nvPr/>
        </p:nvSpPr>
        <p:spPr>
          <a:xfrm>
            <a:off x="3355848" y="2825496"/>
            <a:ext cx="2532888" cy="219456"/>
          </a:xfrm>
          <a:prstGeom prst="rect">
            <a:avLst/>
          </a:prstGeom>
          <a:noFill/>
          <a:ln/>
        </p:spPr>
        <p:txBody>
          <a:bodyPr wrap="square" lIns="0" tIns="0" rIns="0" bIns="0" rtlCol="0" anchor="ctr"/>
          <a:lstStyle/>
          <a:p>
            <a:pPr indent="0" marL="0">
              <a:buNone/>
            </a:pPr>
            <a:r>
              <a:rPr lang="en-US" sz="1000" dirty="0">
                <a:solidFill>
                  <a:srgbClr val="028090"/>
                </a:solidFill>
              </a:rPr>
              <a:t>400+ colleges</a:t>
            </a:r>
            <a:endParaRPr lang="en-US" sz="1000" dirty="0"/>
          </a:p>
        </p:txBody>
      </p:sp>
      <p:sp>
        <p:nvSpPr>
          <p:cNvPr id="41" name="Text 39"/>
          <p:cNvSpPr/>
          <p:nvPr/>
        </p:nvSpPr>
        <p:spPr>
          <a:xfrm>
            <a:off x="3355848" y="3063240"/>
            <a:ext cx="2532888" cy="347472"/>
          </a:xfrm>
          <a:prstGeom prst="rect">
            <a:avLst/>
          </a:prstGeom>
          <a:noFill/>
          <a:ln/>
        </p:spPr>
        <p:txBody>
          <a:bodyPr wrap="square" lIns="0" tIns="0" rIns="0" bIns="0" rtlCol="0" anchor="ctr"/>
          <a:lstStyle/>
          <a:p>
            <a:pPr indent="0" marL="0">
              <a:buNone/>
            </a:pPr>
            <a:r>
              <a:rPr lang="en-US" sz="1000" dirty="0">
                <a:solidFill>
                  <a:srgbClr val="64748B"/>
                </a:solidFill>
              </a:rPr>
              <a:t>AED/SAR. Indian-managed institutions.</a:t>
            </a:r>
            <a:endParaRPr lang="en-US" sz="1000" dirty="0"/>
          </a:p>
        </p:txBody>
      </p:sp>
      <p:sp>
        <p:nvSpPr>
          <p:cNvPr id="42" name="Shape 40"/>
          <p:cNvSpPr/>
          <p:nvPr/>
        </p:nvSpPr>
        <p:spPr>
          <a:xfrm>
            <a:off x="6181344" y="2423160"/>
            <a:ext cx="2788920" cy="1097280"/>
          </a:xfrm>
          <a:prstGeom prst="roundRect">
            <a:avLst>
              <a:gd name="adj" fmla="val 6667"/>
            </a:avLst>
          </a:prstGeom>
          <a:solidFill>
            <a:srgbClr val="FFFFFF"/>
          </a:solidFill>
          <a:ln w="12700">
            <a:solidFill>
              <a:srgbClr val="CBD5E1"/>
            </a:solidFill>
            <a:prstDash val="solid"/>
          </a:ln>
          <a:effectLst>
            <a:outerShdw sx="100000" sy="100000" kx="0" ky="0" algn="bl" rotWithShape="0" blurRad="101600" dist="25400" dir="2700000">
              <a:srgbClr val="000000">
                <a:alpha val="12000"/>
              </a:srgbClr>
            </a:outerShdw>
          </a:effectLst>
        </p:spPr>
      </p:sp>
      <p:sp>
        <p:nvSpPr>
          <p:cNvPr id="43" name="Text 41"/>
          <p:cNvSpPr/>
          <p:nvPr/>
        </p:nvSpPr>
        <p:spPr>
          <a:xfrm>
            <a:off x="6309360" y="2514600"/>
            <a:ext cx="1554480" cy="274320"/>
          </a:xfrm>
          <a:prstGeom prst="rect">
            <a:avLst/>
          </a:prstGeom>
          <a:noFill/>
          <a:ln/>
        </p:spPr>
        <p:txBody>
          <a:bodyPr wrap="square" lIns="0" tIns="0" rIns="0" bIns="0" rtlCol="0" anchor="ctr"/>
          <a:lstStyle/>
          <a:p>
            <a:pPr indent="0" marL="0">
              <a:buNone/>
            </a:pPr>
            <a:r>
              <a:rPr lang="en-US" sz="1300" b="1" dirty="0">
                <a:solidFill>
                  <a:srgbClr val="0D1B3E"/>
                </a:solidFill>
              </a:rPr>
              <a:t>🇳🇬  Africa</a:t>
            </a:r>
            <a:endParaRPr lang="en-US" sz="1300" dirty="0"/>
          </a:p>
        </p:txBody>
      </p:sp>
      <p:sp>
        <p:nvSpPr>
          <p:cNvPr id="44" name="Shape 42"/>
          <p:cNvSpPr/>
          <p:nvPr/>
        </p:nvSpPr>
        <p:spPr>
          <a:xfrm>
            <a:off x="7900416" y="2532888"/>
            <a:ext cx="941832" cy="219456"/>
          </a:xfrm>
          <a:prstGeom prst="roundRect">
            <a:avLst>
              <a:gd name="adj" fmla="val 16667"/>
            </a:avLst>
          </a:prstGeom>
          <a:solidFill>
            <a:srgbClr val="F9A825">
              <a:alpha val="20000"/>
            </a:srgbClr>
          </a:solidFill>
          <a:ln w="12700">
            <a:solidFill>
              <a:srgbClr val="F9A825">
                <a:alpha val="50000"/>
              </a:srgbClr>
            </a:solidFill>
            <a:prstDash val="solid"/>
          </a:ln>
        </p:spPr>
      </p:sp>
      <p:sp>
        <p:nvSpPr>
          <p:cNvPr id="45" name="Text 43"/>
          <p:cNvSpPr/>
          <p:nvPr/>
        </p:nvSpPr>
        <p:spPr>
          <a:xfrm>
            <a:off x="7900416" y="2532888"/>
            <a:ext cx="941832" cy="219456"/>
          </a:xfrm>
          <a:prstGeom prst="rect">
            <a:avLst/>
          </a:prstGeom>
          <a:noFill/>
          <a:ln/>
        </p:spPr>
        <p:txBody>
          <a:bodyPr wrap="square" lIns="0" tIns="0" rIns="0" bIns="0" rtlCol="0" anchor="ctr"/>
          <a:lstStyle/>
          <a:p>
            <a:pPr algn="ctr" indent="0" marL="0">
              <a:buNone/>
            </a:pPr>
            <a:r>
              <a:rPr lang="en-US" sz="800" b="1" dirty="0">
                <a:solidFill>
                  <a:srgbClr val="F9A825"/>
                </a:solidFill>
              </a:rPr>
              <a:t>Localize</a:t>
            </a:r>
            <a:endParaRPr lang="en-US" sz="800" dirty="0"/>
          </a:p>
        </p:txBody>
      </p:sp>
      <p:sp>
        <p:nvSpPr>
          <p:cNvPr id="46" name="Text 44"/>
          <p:cNvSpPr/>
          <p:nvPr/>
        </p:nvSpPr>
        <p:spPr>
          <a:xfrm>
            <a:off x="6309360" y="2825496"/>
            <a:ext cx="2532888" cy="219456"/>
          </a:xfrm>
          <a:prstGeom prst="rect">
            <a:avLst/>
          </a:prstGeom>
          <a:noFill/>
          <a:ln/>
        </p:spPr>
        <p:txBody>
          <a:bodyPr wrap="square" lIns="0" tIns="0" rIns="0" bIns="0" rtlCol="0" anchor="ctr"/>
          <a:lstStyle/>
          <a:p>
            <a:pPr indent="0" marL="0">
              <a:buNone/>
            </a:pPr>
            <a:r>
              <a:rPr lang="en-US" sz="1000" dirty="0">
                <a:solidFill>
                  <a:srgbClr val="028090"/>
                </a:solidFill>
              </a:rPr>
              <a:t>500+ universities</a:t>
            </a:r>
            <a:endParaRPr lang="en-US" sz="1000" dirty="0"/>
          </a:p>
        </p:txBody>
      </p:sp>
      <p:sp>
        <p:nvSpPr>
          <p:cNvPr id="47" name="Text 45"/>
          <p:cNvSpPr/>
          <p:nvPr/>
        </p:nvSpPr>
        <p:spPr>
          <a:xfrm>
            <a:off x="6309360" y="3063240"/>
            <a:ext cx="2532888" cy="347472"/>
          </a:xfrm>
          <a:prstGeom prst="rect">
            <a:avLst/>
          </a:prstGeom>
          <a:noFill/>
          <a:ln/>
        </p:spPr>
        <p:txBody>
          <a:bodyPr wrap="square" lIns="0" tIns="0" rIns="0" bIns="0" rtlCol="0" anchor="ctr"/>
          <a:lstStyle/>
          <a:p>
            <a:pPr indent="0" marL="0">
              <a:buNone/>
            </a:pPr>
            <a:r>
              <a:rPr lang="en-US" sz="1000" dirty="0">
                <a:solidFill>
                  <a:srgbClr val="64748B"/>
                </a:solidFill>
              </a:rPr>
              <a:t>Fastest growing HE. Mobile-first critical.</a:t>
            </a:r>
            <a:endParaRPr lang="en-US" sz="1000" dirty="0"/>
          </a:p>
        </p:txBody>
      </p:sp>
      <p:sp>
        <p:nvSpPr>
          <p:cNvPr id="48" name="Shape 46"/>
          <p:cNvSpPr/>
          <p:nvPr/>
        </p:nvSpPr>
        <p:spPr>
          <a:xfrm>
            <a:off x="274320" y="3657600"/>
            <a:ext cx="2788920" cy="1097280"/>
          </a:xfrm>
          <a:prstGeom prst="roundRect">
            <a:avLst>
              <a:gd name="adj" fmla="val 6667"/>
            </a:avLst>
          </a:prstGeom>
          <a:solidFill>
            <a:srgbClr val="FFFFFF"/>
          </a:solidFill>
          <a:ln w="12700">
            <a:solidFill>
              <a:srgbClr val="CBD5E1"/>
            </a:solidFill>
            <a:prstDash val="solid"/>
          </a:ln>
          <a:effectLst>
            <a:outerShdw sx="100000" sy="100000" kx="0" ky="0" algn="bl" rotWithShape="0" blurRad="101600" dist="25400" dir="2700000">
              <a:srgbClr val="000000">
                <a:alpha val="12000"/>
              </a:srgbClr>
            </a:outerShdw>
          </a:effectLst>
        </p:spPr>
      </p:sp>
      <p:sp>
        <p:nvSpPr>
          <p:cNvPr id="49" name="Text 47"/>
          <p:cNvSpPr/>
          <p:nvPr/>
        </p:nvSpPr>
        <p:spPr>
          <a:xfrm>
            <a:off x="402336" y="3749040"/>
            <a:ext cx="1554480" cy="274320"/>
          </a:xfrm>
          <a:prstGeom prst="rect">
            <a:avLst/>
          </a:prstGeom>
          <a:noFill/>
          <a:ln/>
        </p:spPr>
        <p:txBody>
          <a:bodyPr wrap="square" lIns="0" tIns="0" rIns="0" bIns="0" rtlCol="0" anchor="ctr"/>
          <a:lstStyle/>
          <a:p>
            <a:pPr indent="0" marL="0">
              <a:buNone/>
            </a:pPr>
            <a:r>
              <a:rPr lang="en-US" sz="1300" b="1" dirty="0">
                <a:solidFill>
                  <a:srgbClr val="0D1B3E"/>
                </a:solidFill>
              </a:rPr>
              <a:t>🇬🇧  UK</a:t>
            </a:r>
            <a:endParaRPr lang="en-US" sz="1300" dirty="0"/>
          </a:p>
        </p:txBody>
      </p:sp>
      <p:sp>
        <p:nvSpPr>
          <p:cNvPr id="50" name="Shape 48"/>
          <p:cNvSpPr/>
          <p:nvPr/>
        </p:nvSpPr>
        <p:spPr>
          <a:xfrm>
            <a:off x="1993392" y="3767328"/>
            <a:ext cx="941832" cy="219456"/>
          </a:xfrm>
          <a:prstGeom prst="roundRect">
            <a:avLst>
              <a:gd name="adj" fmla="val 16667"/>
            </a:avLst>
          </a:prstGeom>
          <a:solidFill>
            <a:srgbClr val="64748B">
              <a:alpha val="20000"/>
            </a:srgbClr>
          </a:solidFill>
          <a:ln w="12700">
            <a:solidFill>
              <a:srgbClr val="64748B">
                <a:alpha val="50000"/>
              </a:srgbClr>
            </a:solidFill>
            <a:prstDash val="solid"/>
          </a:ln>
        </p:spPr>
      </p:sp>
      <p:sp>
        <p:nvSpPr>
          <p:cNvPr id="51" name="Text 49"/>
          <p:cNvSpPr/>
          <p:nvPr/>
        </p:nvSpPr>
        <p:spPr>
          <a:xfrm>
            <a:off x="1993392" y="3767328"/>
            <a:ext cx="941832" cy="219456"/>
          </a:xfrm>
          <a:prstGeom prst="rect">
            <a:avLst/>
          </a:prstGeom>
          <a:noFill/>
          <a:ln/>
        </p:spPr>
        <p:txBody>
          <a:bodyPr wrap="square" lIns="0" tIns="0" rIns="0" bIns="0" rtlCol="0" anchor="ctr"/>
          <a:lstStyle/>
          <a:p>
            <a:pPr algn="ctr" indent="0" marL="0">
              <a:buNone/>
            </a:pPr>
            <a:r>
              <a:rPr lang="en-US" sz="800" b="1" dirty="0">
                <a:solidFill>
                  <a:srgbClr val="64748B"/>
                </a:solidFill>
              </a:rPr>
              <a:t>Future</a:t>
            </a:r>
            <a:endParaRPr lang="en-US" sz="800" dirty="0"/>
          </a:p>
        </p:txBody>
      </p:sp>
      <p:sp>
        <p:nvSpPr>
          <p:cNvPr id="52" name="Text 50"/>
          <p:cNvSpPr/>
          <p:nvPr/>
        </p:nvSpPr>
        <p:spPr>
          <a:xfrm>
            <a:off x="402336" y="4059936"/>
            <a:ext cx="2532888" cy="219456"/>
          </a:xfrm>
          <a:prstGeom prst="rect">
            <a:avLst/>
          </a:prstGeom>
          <a:noFill/>
          <a:ln/>
        </p:spPr>
        <p:txBody>
          <a:bodyPr wrap="square" lIns="0" tIns="0" rIns="0" bIns="0" rtlCol="0" anchor="ctr"/>
          <a:lstStyle/>
          <a:p>
            <a:pPr indent="0" marL="0">
              <a:buNone/>
            </a:pPr>
            <a:r>
              <a:rPr lang="en-US" sz="1000" dirty="0">
                <a:solidFill>
                  <a:srgbClr val="028090"/>
                </a:solidFill>
              </a:rPr>
              <a:t>130+ post-92 unis</a:t>
            </a:r>
            <a:endParaRPr lang="en-US" sz="1000" dirty="0"/>
          </a:p>
        </p:txBody>
      </p:sp>
      <p:sp>
        <p:nvSpPr>
          <p:cNvPr id="53" name="Text 51"/>
          <p:cNvSpPr/>
          <p:nvPr/>
        </p:nvSpPr>
        <p:spPr>
          <a:xfrm>
            <a:off x="402336" y="4297680"/>
            <a:ext cx="2532888" cy="347472"/>
          </a:xfrm>
          <a:prstGeom prst="rect">
            <a:avLst/>
          </a:prstGeom>
          <a:noFill/>
          <a:ln/>
        </p:spPr>
        <p:txBody>
          <a:bodyPr wrap="square" lIns="0" tIns="0" rIns="0" bIns="0" rtlCol="0" anchor="ctr"/>
          <a:lstStyle/>
          <a:p>
            <a:pPr indent="0" marL="0">
              <a:buNone/>
            </a:pPr>
            <a:r>
              <a:rPr lang="en-US" sz="1000" dirty="0">
                <a:solidFill>
                  <a:srgbClr val="64748B"/>
                </a:solidFill>
              </a:rPr>
              <a:t>GDPR depth. UCAS. PAYE payroll.</a:t>
            </a:r>
            <a:endParaRPr lang="en-US" sz="1000" dirty="0"/>
          </a:p>
        </p:txBody>
      </p:sp>
      <p:sp>
        <p:nvSpPr>
          <p:cNvPr id="54" name="Shape 52"/>
          <p:cNvSpPr/>
          <p:nvPr/>
        </p:nvSpPr>
        <p:spPr>
          <a:xfrm>
            <a:off x="3227832" y="3657600"/>
            <a:ext cx="2788920" cy="1097280"/>
          </a:xfrm>
          <a:prstGeom prst="roundRect">
            <a:avLst>
              <a:gd name="adj" fmla="val 6667"/>
            </a:avLst>
          </a:prstGeom>
          <a:solidFill>
            <a:srgbClr val="FFFFFF"/>
          </a:solidFill>
          <a:ln w="12700">
            <a:solidFill>
              <a:srgbClr val="CBD5E1"/>
            </a:solidFill>
            <a:prstDash val="solid"/>
          </a:ln>
          <a:effectLst>
            <a:outerShdw sx="100000" sy="100000" kx="0" ky="0" algn="bl" rotWithShape="0" blurRad="101600" dist="25400" dir="2700000">
              <a:srgbClr val="000000">
                <a:alpha val="12000"/>
              </a:srgbClr>
            </a:outerShdw>
          </a:effectLst>
        </p:spPr>
      </p:sp>
      <p:sp>
        <p:nvSpPr>
          <p:cNvPr id="55" name="Text 53"/>
          <p:cNvSpPr/>
          <p:nvPr/>
        </p:nvSpPr>
        <p:spPr>
          <a:xfrm>
            <a:off x="3355848" y="3749040"/>
            <a:ext cx="1554480" cy="274320"/>
          </a:xfrm>
          <a:prstGeom prst="rect">
            <a:avLst/>
          </a:prstGeom>
          <a:noFill/>
          <a:ln/>
        </p:spPr>
        <p:txBody>
          <a:bodyPr wrap="square" lIns="0" tIns="0" rIns="0" bIns="0" rtlCol="0" anchor="ctr"/>
          <a:lstStyle/>
          <a:p>
            <a:pPr indent="0" marL="0">
              <a:buNone/>
            </a:pPr>
            <a:r>
              <a:rPr lang="en-US" sz="1300" b="1" dirty="0">
                <a:solidFill>
                  <a:srgbClr val="0D1B3E"/>
                </a:solidFill>
              </a:rPr>
              <a:t>🇦🇺  Australia</a:t>
            </a:r>
            <a:endParaRPr lang="en-US" sz="1300" dirty="0"/>
          </a:p>
        </p:txBody>
      </p:sp>
      <p:sp>
        <p:nvSpPr>
          <p:cNvPr id="56" name="Shape 54"/>
          <p:cNvSpPr/>
          <p:nvPr/>
        </p:nvSpPr>
        <p:spPr>
          <a:xfrm>
            <a:off x="4946904" y="3767328"/>
            <a:ext cx="941832" cy="219456"/>
          </a:xfrm>
          <a:prstGeom prst="roundRect">
            <a:avLst>
              <a:gd name="adj" fmla="val 16667"/>
            </a:avLst>
          </a:prstGeom>
          <a:solidFill>
            <a:srgbClr val="64748B">
              <a:alpha val="20000"/>
            </a:srgbClr>
          </a:solidFill>
          <a:ln w="12700">
            <a:solidFill>
              <a:srgbClr val="64748B">
                <a:alpha val="50000"/>
              </a:srgbClr>
            </a:solidFill>
            <a:prstDash val="solid"/>
          </a:ln>
        </p:spPr>
      </p:sp>
      <p:sp>
        <p:nvSpPr>
          <p:cNvPr id="57" name="Text 55"/>
          <p:cNvSpPr/>
          <p:nvPr/>
        </p:nvSpPr>
        <p:spPr>
          <a:xfrm>
            <a:off x="4946904" y="3767328"/>
            <a:ext cx="941832" cy="219456"/>
          </a:xfrm>
          <a:prstGeom prst="rect">
            <a:avLst/>
          </a:prstGeom>
          <a:noFill/>
          <a:ln/>
        </p:spPr>
        <p:txBody>
          <a:bodyPr wrap="square" lIns="0" tIns="0" rIns="0" bIns="0" rtlCol="0" anchor="ctr"/>
          <a:lstStyle/>
          <a:p>
            <a:pPr algn="ctr" indent="0" marL="0">
              <a:buNone/>
            </a:pPr>
            <a:r>
              <a:rPr lang="en-US" sz="800" b="1" dirty="0">
                <a:solidFill>
                  <a:srgbClr val="64748B"/>
                </a:solidFill>
              </a:rPr>
              <a:t>Future</a:t>
            </a:r>
            <a:endParaRPr lang="en-US" sz="800" dirty="0"/>
          </a:p>
        </p:txBody>
      </p:sp>
      <p:sp>
        <p:nvSpPr>
          <p:cNvPr id="58" name="Text 56"/>
          <p:cNvSpPr/>
          <p:nvPr/>
        </p:nvSpPr>
        <p:spPr>
          <a:xfrm>
            <a:off x="3355848" y="4059936"/>
            <a:ext cx="2532888" cy="219456"/>
          </a:xfrm>
          <a:prstGeom prst="rect">
            <a:avLst/>
          </a:prstGeom>
          <a:noFill/>
          <a:ln/>
        </p:spPr>
        <p:txBody>
          <a:bodyPr wrap="square" lIns="0" tIns="0" rIns="0" bIns="0" rtlCol="0" anchor="ctr"/>
          <a:lstStyle/>
          <a:p>
            <a:pPr indent="0" marL="0">
              <a:buNone/>
            </a:pPr>
            <a:r>
              <a:rPr lang="en-US" sz="1000" dirty="0">
                <a:solidFill>
                  <a:srgbClr val="028090"/>
                </a:solidFill>
              </a:rPr>
              <a:t>TAFEs &amp; privates</a:t>
            </a:r>
            <a:endParaRPr lang="en-US" sz="1000" dirty="0"/>
          </a:p>
        </p:txBody>
      </p:sp>
      <p:sp>
        <p:nvSpPr>
          <p:cNvPr id="59" name="Text 57"/>
          <p:cNvSpPr/>
          <p:nvPr/>
        </p:nvSpPr>
        <p:spPr>
          <a:xfrm>
            <a:off x="3355848" y="4297680"/>
            <a:ext cx="2532888" cy="347472"/>
          </a:xfrm>
          <a:prstGeom prst="rect">
            <a:avLst/>
          </a:prstGeom>
          <a:noFill/>
          <a:ln/>
        </p:spPr>
        <p:txBody>
          <a:bodyPr wrap="square" lIns="0" tIns="0" rIns="0" bIns="0" rtlCol="0" anchor="ctr"/>
          <a:lstStyle/>
          <a:p>
            <a:pPr indent="0" marL="0">
              <a:buNone/>
            </a:pPr>
            <a:r>
              <a:rPr lang="en-US" sz="1000" dirty="0">
                <a:solidFill>
                  <a:srgbClr val="64748B"/>
                </a:solidFill>
              </a:rPr>
              <a:t>TEQSA. HECS-HELP. AUD + AEST.</a:t>
            </a:r>
            <a:endParaRPr lang="en-US" sz="1000" dirty="0"/>
          </a:p>
        </p:txBody>
      </p:sp>
      <p:sp>
        <p:nvSpPr>
          <p:cNvPr id="60" name="Shape 58"/>
          <p:cNvSpPr/>
          <p:nvPr/>
        </p:nvSpPr>
        <p:spPr>
          <a:xfrm>
            <a:off x="6181344" y="3657600"/>
            <a:ext cx="2788920" cy="1097280"/>
          </a:xfrm>
          <a:prstGeom prst="roundRect">
            <a:avLst>
              <a:gd name="adj" fmla="val 6667"/>
            </a:avLst>
          </a:prstGeom>
          <a:solidFill>
            <a:srgbClr val="FFFFFF"/>
          </a:solidFill>
          <a:ln w="12700">
            <a:solidFill>
              <a:srgbClr val="CBD5E1"/>
            </a:solidFill>
            <a:prstDash val="solid"/>
          </a:ln>
          <a:effectLst>
            <a:outerShdw sx="100000" sy="100000" kx="0" ky="0" algn="bl" rotWithShape="0" blurRad="101600" dist="25400" dir="2700000">
              <a:srgbClr val="000000">
                <a:alpha val="12000"/>
              </a:srgbClr>
            </a:outerShdw>
          </a:effectLst>
        </p:spPr>
      </p:sp>
      <p:sp>
        <p:nvSpPr>
          <p:cNvPr id="61" name="Text 59"/>
          <p:cNvSpPr/>
          <p:nvPr/>
        </p:nvSpPr>
        <p:spPr>
          <a:xfrm>
            <a:off x="6309360" y="3749040"/>
            <a:ext cx="1554480" cy="274320"/>
          </a:xfrm>
          <a:prstGeom prst="rect">
            <a:avLst/>
          </a:prstGeom>
          <a:noFill/>
          <a:ln/>
        </p:spPr>
        <p:txBody>
          <a:bodyPr wrap="square" lIns="0" tIns="0" rIns="0" bIns="0" rtlCol="0" anchor="ctr"/>
          <a:lstStyle/>
          <a:p>
            <a:pPr indent="0" marL="0">
              <a:buNone/>
            </a:pPr>
            <a:r>
              <a:rPr lang="en-US" sz="1300" b="1" dirty="0">
                <a:solidFill>
                  <a:srgbClr val="0D1B3E"/>
                </a:solidFill>
              </a:rPr>
              <a:t>🇺🇸  USA</a:t>
            </a:r>
            <a:endParaRPr lang="en-US" sz="1300" dirty="0"/>
          </a:p>
        </p:txBody>
      </p:sp>
      <p:sp>
        <p:nvSpPr>
          <p:cNvPr id="62" name="Shape 60"/>
          <p:cNvSpPr/>
          <p:nvPr/>
        </p:nvSpPr>
        <p:spPr>
          <a:xfrm>
            <a:off x="7900416" y="3767328"/>
            <a:ext cx="941832" cy="219456"/>
          </a:xfrm>
          <a:prstGeom prst="roundRect">
            <a:avLst>
              <a:gd name="adj" fmla="val 16667"/>
            </a:avLst>
          </a:prstGeom>
          <a:solidFill>
            <a:srgbClr val="64748B">
              <a:alpha val="20000"/>
            </a:srgbClr>
          </a:solidFill>
          <a:ln w="12700">
            <a:solidFill>
              <a:srgbClr val="64748B">
                <a:alpha val="50000"/>
              </a:srgbClr>
            </a:solidFill>
            <a:prstDash val="solid"/>
          </a:ln>
        </p:spPr>
      </p:sp>
      <p:sp>
        <p:nvSpPr>
          <p:cNvPr id="63" name="Text 61"/>
          <p:cNvSpPr/>
          <p:nvPr/>
        </p:nvSpPr>
        <p:spPr>
          <a:xfrm>
            <a:off x="7900416" y="3767328"/>
            <a:ext cx="941832" cy="219456"/>
          </a:xfrm>
          <a:prstGeom prst="rect">
            <a:avLst/>
          </a:prstGeom>
          <a:noFill/>
          <a:ln/>
        </p:spPr>
        <p:txBody>
          <a:bodyPr wrap="square" lIns="0" tIns="0" rIns="0" bIns="0" rtlCol="0" anchor="ctr"/>
          <a:lstStyle/>
          <a:p>
            <a:pPr algn="ctr" indent="0" marL="0">
              <a:buNone/>
            </a:pPr>
            <a:r>
              <a:rPr lang="en-US" sz="800" b="1" dirty="0">
                <a:solidFill>
                  <a:srgbClr val="64748B"/>
                </a:solidFill>
              </a:rPr>
              <a:t>Future</a:t>
            </a:r>
            <a:endParaRPr lang="en-US" sz="800" dirty="0"/>
          </a:p>
        </p:txBody>
      </p:sp>
      <p:sp>
        <p:nvSpPr>
          <p:cNvPr id="64" name="Text 62"/>
          <p:cNvSpPr/>
          <p:nvPr/>
        </p:nvSpPr>
        <p:spPr>
          <a:xfrm>
            <a:off x="6309360" y="4059936"/>
            <a:ext cx="2532888" cy="219456"/>
          </a:xfrm>
          <a:prstGeom prst="rect">
            <a:avLst/>
          </a:prstGeom>
          <a:noFill/>
          <a:ln/>
        </p:spPr>
        <p:txBody>
          <a:bodyPr wrap="square" lIns="0" tIns="0" rIns="0" bIns="0" rtlCol="0" anchor="ctr"/>
          <a:lstStyle/>
          <a:p>
            <a:pPr indent="0" marL="0">
              <a:buNone/>
            </a:pPr>
            <a:r>
              <a:rPr lang="en-US" sz="1000" dirty="0">
                <a:solidFill>
                  <a:srgbClr val="028090"/>
                </a:solidFill>
              </a:rPr>
              <a:t>1,000+ comm. colleges</a:t>
            </a:r>
            <a:endParaRPr lang="en-US" sz="1000" dirty="0"/>
          </a:p>
        </p:txBody>
      </p:sp>
      <p:sp>
        <p:nvSpPr>
          <p:cNvPr id="65" name="Text 63"/>
          <p:cNvSpPr/>
          <p:nvPr/>
        </p:nvSpPr>
        <p:spPr>
          <a:xfrm>
            <a:off x="6309360" y="4297680"/>
            <a:ext cx="2532888" cy="347472"/>
          </a:xfrm>
          <a:prstGeom prst="rect">
            <a:avLst/>
          </a:prstGeom>
          <a:noFill/>
          <a:ln/>
        </p:spPr>
        <p:txBody>
          <a:bodyPr wrap="square" lIns="0" tIns="0" rIns="0" bIns="0" rtlCol="0" anchor="ctr"/>
          <a:lstStyle/>
          <a:p>
            <a:pPr indent="0" marL="0">
              <a:buNone/>
            </a:pPr>
            <a:r>
              <a:rPr lang="en-US" sz="1000" dirty="0">
                <a:solidFill>
                  <a:srgbClr val="64748B"/>
                </a:solidFill>
              </a:rPr>
              <a:t>FERPA. FAFSA. Major competition.</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D1B3E"/>
          </a:solidFill>
          <a:ln w="12700">
            <a:solidFill>
              <a:srgbClr val="0D1B3E"/>
            </a:solidFill>
            <a:prstDash val="solid"/>
          </a:ln>
        </p:spPr>
      </p:sp>
      <p:sp>
        <p:nvSpPr>
          <p:cNvPr id="3" name="Text 1"/>
          <p:cNvSpPr/>
          <p:nvPr/>
        </p:nvSpPr>
        <p:spPr>
          <a:xfrm>
            <a:off x="365760" y="0"/>
            <a:ext cx="8412480" cy="822960"/>
          </a:xfrm>
          <a:prstGeom prst="rect">
            <a:avLst/>
          </a:prstGeom>
          <a:noFill/>
          <a:ln/>
        </p:spPr>
        <p:txBody>
          <a:bodyPr wrap="square" rtlCol="0" anchor="ctr"/>
          <a:lstStyle/>
          <a:p>
            <a:pPr indent="0" marL="0">
              <a:buNone/>
            </a:pPr>
            <a:r>
              <a:rPr lang="en-US" sz="1100" b="1" spc="500" kern="0" dirty="0">
                <a:solidFill>
                  <a:srgbClr val="028090"/>
                </a:solidFill>
              </a:rPr>
              <a:t>COMPETITIVE LANDSCAPE — WHERE AURA WINS</a:t>
            </a:r>
            <a:endParaRPr lang="en-US" sz="1100" dirty="0"/>
          </a:p>
        </p:txBody>
      </p:sp>
      <p:sp>
        <p:nvSpPr>
          <p:cNvPr id="4" name="Shape 2"/>
          <p:cNvSpPr/>
          <p:nvPr/>
        </p:nvSpPr>
        <p:spPr>
          <a:xfrm>
            <a:off x="274320" y="914400"/>
            <a:ext cx="8595360" cy="347472"/>
          </a:xfrm>
          <a:prstGeom prst="rect">
            <a:avLst/>
          </a:prstGeom>
          <a:solidFill>
            <a:srgbClr val="0D1B3E"/>
          </a:solidFill>
          <a:ln w="12700">
            <a:solidFill>
              <a:srgbClr val="0D1B3E"/>
            </a:solidFill>
            <a:prstDash val="solid"/>
          </a:ln>
        </p:spPr>
      </p:sp>
      <p:sp>
        <p:nvSpPr>
          <p:cNvPr id="5" name="Text 3"/>
          <p:cNvSpPr/>
          <p:nvPr/>
        </p:nvSpPr>
        <p:spPr>
          <a:xfrm>
            <a:off x="274320" y="914400"/>
            <a:ext cx="2194560" cy="347472"/>
          </a:xfrm>
          <a:prstGeom prst="rect">
            <a:avLst/>
          </a:prstGeom>
          <a:noFill/>
          <a:ln/>
        </p:spPr>
        <p:txBody>
          <a:bodyPr wrap="square" lIns="0" tIns="101600" rIns="0" bIns="0" rtlCol="0" anchor="ctr"/>
          <a:lstStyle/>
          <a:p>
            <a:pPr indent="0" marL="0">
              <a:buNone/>
            </a:pPr>
            <a:r>
              <a:rPr lang="en-US" sz="1000" b="1" dirty="0">
                <a:solidFill>
                  <a:srgbClr val="028090"/>
                </a:solidFill>
              </a:rPr>
              <a:t>Competitor</a:t>
            </a:r>
            <a:endParaRPr lang="en-US" sz="1000" dirty="0"/>
          </a:p>
        </p:txBody>
      </p:sp>
      <p:sp>
        <p:nvSpPr>
          <p:cNvPr id="6" name="Text 4"/>
          <p:cNvSpPr/>
          <p:nvPr/>
        </p:nvSpPr>
        <p:spPr>
          <a:xfrm>
            <a:off x="2468880" y="914400"/>
            <a:ext cx="3200400" cy="347472"/>
          </a:xfrm>
          <a:prstGeom prst="rect">
            <a:avLst/>
          </a:prstGeom>
          <a:noFill/>
          <a:ln/>
        </p:spPr>
        <p:txBody>
          <a:bodyPr wrap="square" lIns="0" tIns="101600" rIns="0" bIns="0" rtlCol="0" anchor="ctr"/>
          <a:lstStyle/>
          <a:p>
            <a:pPr indent="0" marL="0">
              <a:buNone/>
            </a:pPr>
            <a:r>
              <a:rPr lang="en-US" sz="1000" b="1" dirty="0">
                <a:solidFill>
                  <a:srgbClr val="94A3B8"/>
                </a:solidFill>
              </a:rPr>
              <a:t>Their weakness</a:t>
            </a:r>
            <a:endParaRPr lang="en-US" sz="1000" dirty="0"/>
          </a:p>
        </p:txBody>
      </p:sp>
      <p:sp>
        <p:nvSpPr>
          <p:cNvPr id="7" name="Text 5"/>
          <p:cNvSpPr/>
          <p:nvPr/>
        </p:nvSpPr>
        <p:spPr>
          <a:xfrm>
            <a:off x="5669280" y="914400"/>
            <a:ext cx="3200400" cy="347472"/>
          </a:xfrm>
          <a:prstGeom prst="rect">
            <a:avLst/>
          </a:prstGeom>
          <a:noFill/>
          <a:ln/>
        </p:spPr>
        <p:txBody>
          <a:bodyPr wrap="square" lIns="0" tIns="101600" rIns="0" bIns="0" rtlCol="0" anchor="ctr"/>
          <a:lstStyle/>
          <a:p>
            <a:pPr indent="0" marL="0">
              <a:buNone/>
            </a:pPr>
            <a:r>
              <a:rPr lang="en-US" sz="1000" b="1" dirty="0">
                <a:solidFill>
                  <a:srgbClr val="028090"/>
                </a:solidFill>
              </a:rPr>
              <a:t>Aura's advantage</a:t>
            </a:r>
            <a:endParaRPr lang="en-US" sz="1000" dirty="0"/>
          </a:p>
        </p:txBody>
      </p:sp>
      <p:sp>
        <p:nvSpPr>
          <p:cNvPr id="8" name="Shape 6"/>
          <p:cNvSpPr/>
          <p:nvPr/>
        </p:nvSpPr>
        <p:spPr>
          <a:xfrm>
            <a:off x="274320" y="1298448"/>
            <a:ext cx="8595360" cy="658368"/>
          </a:xfrm>
          <a:prstGeom prst="rect">
            <a:avLst/>
          </a:prstGeom>
          <a:solidFill>
            <a:srgbClr val="FFFFFF"/>
          </a:solidFill>
          <a:ln w="12700">
            <a:solidFill>
              <a:srgbClr val="CBD5E1"/>
            </a:solidFill>
            <a:prstDash val="solid"/>
          </a:ln>
        </p:spPr>
      </p:sp>
      <p:sp>
        <p:nvSpPr>
          <p:cNvPr id="9" name="Text 7"/>
          <p:cNvSpPr/>
          <p:nvPr/>
        </p:nvSpPr>
        <p:spPr>
          <a:xfrm>
            <a:off x="347472" y="1344168"/>
            <a:ext cx="2029968" cy="566928"/>
          </a:xfrm>
          <a:prstGeom prst="rect">
            <a:avLst/>
          </a:prstGeom>
          <a:noFill/>
          <a:ln/>
        </p:spPr>
        <p:txBody>
          <a:bodyPr wrap="square" lIns="0" tIns="0" rIns="0" bIns="0" rtlCol="0" anchor="ctr"/>
          <a:lstStyle/>
          <a:p>
            <a:pPr indent="0" marL="0">
              <a:buNone/>
            </a:pPr>
            <a:r>
              <a:rPr lang="en-US" sz="1000" b="1" dirty="0">
                <a:solidFill>
                  <a:srgbClr val="0D1B3E"/>
                </a:solidFill>
              </a:rPr>
              <a:t>SAP / Oracle ERP</a:t>
            </a:r>
            <a:endParaRPr lang="en-US" sz="1000" dirty="0"/>
          </a:p>
        </p:txBody>
      </p:sp>
      <p:sp>
        <p:nvSpPr>
          <p:cNvPr id="10" name="Text 8"/>
          <p:cNvSpPr/>
          <p:nvPr/>
        </p:nvSpPr>
        <p:spPr>
          <a:xfrm>
            <a:off x="2395728" y="1344168"/>
            <a:ext cx="3163824" cy="566928"/>
          </a:xfrm>
          <a:prstGeom prst="rect">
            <a:avLst/>
          </a:prstGeom>
          <a:noFill/>
          <a:ln/>
        </p:spPr>
        <p:txBody>
          <a:bodyPr wrap="square" lIns="0" tIns="101600" rIns="0" bIns="0" rtlCol="0" anchor="ctr"/>
          <a:lstStyle/>
          <a:p>
            <a:pPr indent="0" marL="0">
              <a:buNone/>
            </a:pPr>
            <a:r>
              <a:rPr lang="en-US" sz="1000" dirty="0">
                <a:solidFill>
                  <a:srgbClr val="64748B"/>
                </a:solidFill>
              </a:rPr>
              <a:t>₹50L–₹5Cr cost. Needs dedicated IT. Not built for Indian academics.</a:t>
            </a:r>
            <a:endParaRPr lang="en-US" sz="1000" dirty="0"/>
          </a:p>
        </p:txBody>
      </p:sp>
      <p:sp>
        <p:nvSpPr>
          <p:cNvPr id="11" name="Text 9"/>
          <p:cNvSpPr/>
          <p:nvPr/>
        </p:nvSpPr>
        <p:spPr>
          <a:xfrm>
            <a:off x="5596128" y="1344168"/>
            <a:ext cx="3163824" cy="566928"/>
          </a:xfrm>
          <a:prstGeom prst="rect">
            <a:avLst/>
          </a:prstGeom>
          <a:noFill/>
          <a:ln/>
        </p:spPr>
        <p:txBody>
          <a:bodyPr wrap="square" lIns="0" tIns="101600" rIns="0" bIns="0" rtlCol="0" anchor="ctr"/>
          <a:lstStyle/>
          <a:p>
            <a:pPr indent="0" marL="0">
              <a:buNone/>
            </a:pPr>
            <a:r>
              <a:rPr lang="en-US" sz="1000" b="1" dirty="0">
                <a:solidFill>
                  <a:srgbClr val="1D9E75"/>
                </a:solidFill>
              </a:rPr>
              <a:t>10–50× cheaper. NAAC-native. Zero IT team needed.</a:t>
            </a:r>
            <a:endParaRPr lang="en-US" sz="1000" dirty="0"/>
          </a:p>
        </p:txBody>
      </p:sp>
      <p:sp>
        <p:nvSpPr>
          <p:cNvPr id="12" name="Shape 10"/>
          <p:cNvSpPr/>
          <p:nvPr/>
        </p:nvSpPr>
        <p:spPr>
          <a:xfrm>
            <a:off x="274320" y="2011680"/>
            <a:ext cx="8595360" cy="658368"/>
          </a:xfrm>
          <a:prstGeom prst="rect">
            <a:avLst/>
          </a:prstGeom>
          <a:solidFill>
            <a:srgbClr val="F4F7FA"/>
          </a:solidFill>
          <a:ln w="12700">
            <a:solidFill>
              <a:srgbClr val="CBD5E1"/>
            </a:solidFill>
            <a:prstDash val="solid"/>
          </a:ln>
        </p:spPr>
      </p:sp>
      <p:sp>
        <p:nvSpPr>
          <p:cNvPr id="13" name="Text 11"/>
          <p:cNvSpPr/>
          <p:nvPr/>
        </p:nvSpPr>
        <p:spPr>
          <a:xfrm>
            <a:off x="347472" y="2057400"/>
            <a:ext cx="2029968" cy="566928"/>
          </a:xfrm>
          <a:prstGeom prst="rect">
            <a:avLst/>
          </a:prstGeom>
          <a:noFill/>
          <a:ln/>
        </p:spPr>
        <p:txBody>
          <a:bodyPr wrap="square" lIns="0" tIns="0" rIns="0" bIns="0" rtlCol="0" anchor="ctr"/>
          <a:lstStyle/>
          <a:p>
            <a:pPr indent="0" marL="0">
              <a:buNone/>
            </a:pPr>
            <a:r>
              <a:rPr lang="en-US" sz="1000" b="1" dirty="0">
                <a:solidFill>
                  <a:srgbClr val="0D1B3E"/>
                </a:solidFill>
              </a:rPr>
              <a:t>Fedena / Classter</a:t>
            </a:r>
            <a:endParaRPr lang="en-US" sz="1000" dirty="0"/>
          </a:p>
        </p:txBody>
      </p:sp>
      <p:sp>
        <p:nvSpPr>
          <p:cNvPr id="14" name="Text 12"/>
          <p:cNvSpPr/>
          <p:nvPr/>
        </p:nvSpPr>
        <p:spPr>
          <a:xfrm>
            <a:off x="2395728" y="2057400"/>
            <a:ext cx="3163824" cy="566928"/>
          </a:xfrm>
          <a:prstGeom prst="rect">
            <a:avLst/>
          </a:prstGeom>
          <a:noFill/>
          <a:ln/>
        </p:spPr>
        <p:txBody>
          <a:bodyPr wrap="square" lIns="0" tIns="101600" rIns="0" bIns="0" rtlCol="0" anchor="ctr"/>
          <a:lstStyle/>
          <a:p>
            <a:pPr indent="0" marL="0">
              <a:buNone/>
            </a:pPr>
            <a:r>
              <a:rPr lang="en-US" sz="1000" dirty="0">
                <a:solidFill>
                  <a:srgbClr val="64748B"/>
                </a:solidFill>
              </a:rPr>
              <a:t>Generic school SIS. No NAAC. No Indian payroll. No AI scheduler.</a:t>
            </a:r>
            <a:endParaRPr lang="en-US" sz="1000" dirty="0"/>
          </a:p>
        </p:txBody>
      </p:sp>
      <p:sp>
        <p:nvSpPr>
          <p:cNvPr id="15" name="Text 13"/>
          <p:cNvSpPr/>
          <p:nvPr/>
        </p:nvSpPr>
        <p:spPr>
          <a:xfrm>
            <a:off x="5596128" y="2057400"/>
            <a:ext cx="3163824" cy="566928"/>
          </a:xfrm>
          <a:prstGeom prst="rect">
            <a:avLst/>
          </a:prstGeom>
          <a:noFill/>
          <a:ln/>
        </p:spPr>
        <p:txBody>
          <a:bodyPr wrap="square" lIns="0" tIns="101600" rIns="0" bIns="0" rtlCol="0" anchor="ctr"/>
          <a:lstStyle/>
          <a:p>
            <a:pPr indent="0" marL="0">
              <a:buNone/>
            </a:pPr>
            <a:r>
              <a:rPr lang="en-US" sz="1000" b="1" dirty="0">
                <a:solidFill>
                  <a:srgbClr val="1D9E75"/>
                </a:solidFill>
              </a:rPr>
              <a:t>NAAC/NIRF mapped. CIA, hall tickets, AI timetable, statutory payroll.</a:t>
            </a:r>
            <a:endParaRPr lang="en-US" sz="1000" dirty="0"/>
          </a:p>
        </p:txBody>
      </p:sp>
      <p:sp>
        <p:nvSpPr>
          <p:cNvPr id="16" name="Shape 14"/>
          <p:cNvSpPr/>
          <p:nvPr/>
        </p:nvSpPr>
        <p:spPr>
          <a:xfrm>
            <a:off x="274320" y="2724912"/>
            <a:ext cx="8595360" cy="658368"/>
          </a:xfrm>
          <a:prstGeom prst="rect">
            <a:avLst/>
          </a:prstGeom>
          <a:solidFill>
            <a:srgbClr val="FFFFFF"/>
          </a:solidFill>
          <a:ln w="12700">
            <a:solidFill>
              <a:srgbClr val="CBD5E1"/>
            </a:solidFill>
            <a:prstDash val="solid"/>
          </a:ln>
        </p:spPr>
      </p:sp>
      <p:sp>
        <p:nvSpPr>
          <p:cNvPr id="17" name="Text 15"/>
          <p:cNvSpPr/>
          <p:nvPr/>
        </p:nvSpPr>
        <p:spPr>
          <a:xfrm>
            <a:off x="347472" y="2770632"/>
            <a:ext cx="2029968" cy="566928"/>
          </a:xfrm>
          <a:prstGeom prst="rect">
            <a:avLst/>
          </a:prstGeom>
          <a:noFill/>
          <a:ln/>
        </p:spPr>
        <p:txBody>
          <a:bodyPr wrap="square" lIns="0" tIns="0" rIns="0" bIns="0" rtlCol="0" anchor="ctr"/>
          <a:lstStyle/>
          <a:p>
            <a:pPr indent="0" marL="0">
              <a:buNone/>
            </a:pPr>
            <a:r>
              <a:rPr lang="en-US" sz="1000" b="1" dirty="0">
                <a:solidFill>
                  <a:srgbClr val="0D1B3E"/>
                </a:solidFill>
              </a:rPr>
              <a:t>Ellucian Banner</a:t>
            </a:r>
            <a:endParaRPr lang="en-US" sz="1000" dirty="0"/>
          </a:p>
        </p:txBody>
      </p:sp>
      <p:sp>
        <p:nvSpPr>
          <p:cNvPr id="18" name="Text 16"/>
          <p:cNvSpPr/>
          <p:nvPr/>
        </p:nvSpPr>
        <p:spPr>
          <a:xfrm>
            <a:off x="2395728" y="2770632"/>
            <a:ext cx="3163824" cy="566928"/>
          </a:xfrm>
          <a:prstGeom prst="rect">
            <a:avLst/>
          </a:prstGeom>
          <a:noFill/>
          <a:ln/>
        </p:spPr>
        <p:txBody>
          <a:bodyPr wrap="square" lIns="0" tIns="101600" rIns="0" bIns="0" rtlCol="0" anchor="ctr"/>
          <a:lstStyle/>
          <a:p>
            <a:pPr indent="0" marL="0">
              <a:buNone/>
            </a:pPr>
            <a:r>
              <a:rPr lang="en-US" sz="1000" dirty="0">
                <a:solidFill>
                  <a:srgbClr val="64748B"/>
                </a:solidFill>
              </a:rPr>
              <a:t>US-centric. $500K+ licensing. Rigid. Cloud migration painful.</a:t>
            </a:r>
            <a:endParaRPr lang="en-US" sz="1000" dirty="0"/>
          </a:p>
        </p:txBody>
      </p:sp>
      <p:sp>
        <p:nvSpPr>
          <p:cNvPr id="19" name="Text 17"/>
          <p:cNvSpPr/>
          <p:nvPr/>
        </p:nvSpPr>
        <p:spPr>
          <a:xfrm>
            <a:off x="5596128" y="2770632"/>
            <a:ext cx="3163824" cy="566928"/>
          </a:xfrm>
          <a:prstGeom prst="rect">
            <a:avLst/>
          </a:prstGeom>
          <a:noFill/>
          <a:ln/>
        </p:spPr>
        <p:txBody>
          <a:bodyPr wrap="square" lIns="0" tIns="101600" rIns="0" bIns="0" rtlCol="0" anchor="ctr"/>
          <a:lstStyle/>
          <a:p>
            <a:pPr indent="0" marL="0">
              <a:buNone/>
            </a:pPr>
            <a:r>
              <a:rPr lang="en-US" sz="1000" b="1" dirty="0">
                <a:solidFill>
                  <a:srgbClr val="1D9E75"/>
                </a:solidFill>
              </a:rPr>
              <a:t>SaaS day-one. Indian compliance built-in. Razorpay payments native.</a:t>
            </a:r>
            <a:endParaRPr lang="en-US" sz="1000" dirty="0"/>
          </a:p>
        </p:txBody>
      </p:sp>
      <p:sp>
        <p:nvSpPr>
          <p:cNvPr id="20" name="Shape 18"/>
          <p:cNvSpPr/>
          <p:nvPr/>
        </p:nvSpPr>
        <p:spPr>
          <a:xfrm>
            <a:off x="274320" y="3438144"/>
            <a:ext cx="8595360" cy="658368"/>
          </a:xfrm>
          <a:prstGeom prst="rect">
            <a:avLst/>
          </a:prstGeom>
          <a:solidFill>
            <a:srgbClr val="F4F7FA"/>
          </a:solidFill>
          <a:ln w="12700">
            <a:solidFill>
              <a:srgbClr val="CBD5E1"/>
            </a:solidFill>
            <a:prstDash val="solid"/>
          </a:ln>
        </p:spPr>
      </p:sp>
      <p:sp>
        <p:nvSpPr>
          <p:cNvPr id="21" name="Text 19"/>
          <p:cNvSpPr/>
          <p:nvPr/>
        </p:nvSpPr>
        <p:spPr>
          <a:xfrm>
            <a:off x="347472" y="3483864"/>
            <a:ext cx="2029968" cy="566928"/>
          </a:xfrm>
          <a:prstGeom prst="rect">
            <a:avLst/>
          </a:prstGeom>
          <a:noFill/>
          <a:ln/>
        </p:spPr>
        <p:txBody>
          <a:bodyPr wrap="square" lIns="0" tIns="0" rIns="0" bIns="0" rtlCol="0" anchor="ctr"/>
          <a:lstStyle/>
          <a:p>
            <a:pPr indent="0" marL="0">
              <a:buNone/>
            </a:pPr>
            <a:r>
              <a:rPr lang="en-US" sz="1000" b="1" dirty="0">
                <a:solidFill>
                  <a:srgbClr val="0D1B3E"/>
                </a:solidFill>
              </a:rPr>
              <a:t>Blackboard / Canvas</a:t>
            </a:r>
            <a:endParaRPr lang="en-US" sz="1000" dirty="0"/>
          </a:p>
        </p:txBody>
      </p:sp>
      <p:sp>
        <p:nvSpPr>
          <p:cNvPr id="22" name="Text 20"/>
          <p:cNvSpPr/>
          <p:nvPr/>
        </p:nvSpPr>
        <p:spPr>
          <a:xfrm>
            <a:off x="2395728" y="3483864"/>
            <a:ext cx="3163824" cy="566928"/>
          </a:xfrm>
          <a:prstGeom prst="rect">
            <a:avLst/>
          </a:prstGeom>
          <a:noFill/>
          <a:ln/>
        </p:spPr>
        <p:txBody>
          <a:bodyPr wrap="square" lIns="0" tIns="101600" rIns="0" bIns="0" rtlCol="0" anchor="ctr"/>
          <a:lstStyle/>
          <a:p>
            <a:pPr indent="0" marL="0">
              <a:buNone/>
            </a:pPr>
            <a:r>
              <a:rPr lang="en-US" sz="1000" dirty="0">
                <a:solidFill>
                  <a:srgbClr val="64748B"/>
                </a:solidFill>
              </a:rPr>
              <a:t>LMS only. No SIS, finance, HR, or timetabling. Expensive per-seat.</a:t>
            </a:r>
            <a:endParaRPr lang="en-US" sz="1000" dirty="0"/>
          </a:p>
        </p:txBody>
      </p:sp>
      <p:sp>
        <p:nvSpPr>
          <p:cNvPr id="23" name="Text 21"/>
          <p:cNvSpPr/>
          <p:nvPr/>
        </p:nvSpPr>
        <p:spPr>
          <a:xfrm>
            <a:off x="5596128" y="3483864"/>
            <a:ext cx="3163824" cy="566928"/>
          </a:xfrm>
          <a:prstGeom prst="rect">
            <a:avLst/>
          </a:prstGeom>
          <a:noFill/>
          <a:ln/>
        </p:spPr>
        <p:txBody>
          <a:bodyPr wrap="square" lIns="0" tIns="101600" rIns="0" bIns="0" rtlCol="0" anchor="ctr"/>
          <a:lstStyle/>
          <a:p>
            <a:pPr indent="0" marL="0">
              <a:buNone/>
            </a:pPr>
            <a:r>
              <a:rPr lang="en-US" sz="1000" b="1" dirty="0">
                <a:solidFill>
                  <a:srgbClr val="1D9E75"/>
                </a:solidFill>
              </a:rPr>
              <a:t>Full ERP: SIS + finance + HR + LMS in one platform. Single data model.</a:t>
            </a:r>
            <a:endParaRPr lang="en-US" sz="1000" dirty="0"/>
          </a:p>
        </p:txBody>
      </p:sp>
      <p:sp>
        <p:nvSpPr>
          <p:cNvPr id="24" name="Shape 22"/>
          <p:cNvSpPr/>
          <p:nvPr/>
        </p:nvSpPr>
        <p:spPr>
          <a:xfrm>
            <a:off x="274320" y="4151376"/>
            <a:ext cx="8595360" cy="658368"/>
          </a:xfrm>
          <a:prstGeom prst="rect">
            <a:avLst/>
          </a:prstGeom>
          <a:solidFill>
            <a:srgbClr val="FFFFFF"/>
          </a:solidFill>
          <a:ln w="12700">
            <a:solidFill>
              <a:srgbClr val="CBD5E1"/>
            </a:solidFill>
            <a:prstDash val="solid"/>
          </a:ln>
        </p:spPr>
      </p:sp>
      <p:sp>
        <p:nvSpPr>
          <p:cNvPr id="25" name="Text 23"/>
          <p:cNvSpPr/>
          <p:nvPr/>
        </p:nvSpPr>
        <p:spPr>
          <a:xfrm>
            <a:off x="347472" y="4197096"/>
            <a:ext cx="2029968" cy="566928"/>
          </a:xfrm>
          <a:prstGeom prst="rect">
            <a:avLst/>
          </a:prstGeom>
          <a:noFill/>
          <a:ln/>
        </p:spPr>
        <p:txBody>
          <a:bodyPr wrap="square" lIns="0" tIns="0" rIns="0" bIns="0" rtlCol="0" anchor="ctr"/>
          <a:lstStyle/>
          <a:p>
            <a:pPr indent="0" marL="0">
              <a:buNone/>
            </a:pPr>
            <a:r>
              <a:rPr lang="en-US" sz="1000" b="1" dirty="0">
                <a:solidFill>
                  <a:srgbClr val="0D1B3E"/>
                </a:solidFill>
              </a:rPr>
              <a:t>Local Indian ERPs</a:t>
            </a:r>
            <a:endParaRPr lang="en-US" sz="1000" dirty="0"/>
          </a:p>
        </p:txBody>
      </p:sp>
      <p:sp>
        <p:nvSpPr>
          <p:cNvPr id="26" name="Text 24"/>
          <p:cNvSpPr/>
          <p:nvPr/>
        </p:nvSpPr>
        <p:spPr>
          <a:xfrm>
            <a:off x="2395728" y="4197096"/>
            <a:ext cx="3163824" cy="566928"/>
          </a:xfrm>
          <a:prstGeom prst="rect">
            <a:avLst/>
          </a:prstGeom>
          <a:noFill/>
          <a:ln/>
        </p:spPr>
        <p:txBody>
          <a:bodyPr wrap="square" lIns="0" tIns="101600" rIns="0" bIns="0" rtlCol="0" anchor="ctr"/>
          <a:lstStyle/>
          <a:p>
            <a:pPr indent="0" marL="0">
              <a:buNone/>
            </a:pPr>
            <a:r>
              <a:rPr lang="en-US" sz="1000" dirty="0">
                <a:solidFill>
                  <a:srgbClr val="64748B"/>
                </a:solidFill>
              </a:rPr>
              <a:t>On-premise / old stack. Poor UX. No mobile. No AI. No modern API.</a:t>
            </a:r>
            <a:endParaRPr lang="en-US" sz="1000" dirty="0"/>
          </a:p>
        </p:txBody>
      </p:sp>
      <p:sp>
        <p:nvSpPr>
          <p:cNvPr id="27" name="Text 25"/>
          <p:cNvSpPr/>
          <p:nvPr/>
        </p:nvSpPr>
        <p:spPr>
          <a:xfrm>
            <a:off x="5596128" y="4197096"/>
            <a:ext cx="3163824" cy="566928"/>
          </a:xfrm>
          <a:prstGeom prst="rect">
            <a:avLst/>
          </a:prstGeom>
          <a:noFill/>
          <a:ln/>
        </p:spPr>
        <p:txBody>
          <a:bodyPr wrap="square" lIns="0" tIns="101600" rIns="0" bIns="0" rtlCol="0" anchor="ctr"/>
          <a:lstStyle/>
          <a:p>
            <a:pPr indent="0" marL="0">
              <a:buNone/>
            </a:pPr>
            <a:r>
              <a:rPr lang="en-US" sz="1000" b="1" dirty="0">
                <a:solidFill>
                  <a:srgbClr val="1D9E75"/>
                </a:solidFill>
              </a:rPr>
              <a:t>Modern Next.js stack. Glassmorphism UI. Mobile app (Phase 8). Real-time.</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D1B3E"/>
          </a:solidFill>
          <a:ln w="12700">
            <a:solidFill>
              <a:srgbClr val="0D1B3E"/>
            </a:solidFill>
            <a:prstDash val="solid"/>
          </a:ln>
        </p:spPr>
      </p:sp>
      <p:sp>
        <p:nvSpPr>
          <p:cNvPr id="3" name="Text 1"/>
          <p:cNvSpPr/>
          <p:nvPr/>
        </p:nvSpPr>
        <p:spPr>
          <a:xfrm>
            <a:off x="365760" y="0"/>
            <a:ext cx="8412480" cy="822960"/>
          </a:xfrm>
          <a:prstGeom prst="rect">
            <a:avLst/>
          </a:prstGeom>
          <a:noFill/>
          <a:ln/>
        </p:spPr>
        <p:txBody>
          <a:bodyPr wrap="square" rtlCol="0" anchor="ctr"/>
          <a:lstStyle/>
          <a:p>
            <a:pPr indent="0" marL="0">
              <a:buNone/>
            </a:pPr>
            <a:r>
              <a:rPr lang="en-US" sz="1100" b="1" spc="500" kern="0" dirty="0">
                <a:solidFill>
                  <a:srgbClr val="028090"/>
                </a:solidFill>
              </a:rPr>
              <a:t>PRICING MODEL &amp; REVENUE POTENTIAL</a:t>
            </a:r>
            <a:endParaRPr lang="en-US" sz="1100" dirty="0"/>
          </a:p>
        </p:txBody>
      </p:sp>
      <p:sp>
        <p:nvSpPr>
          <p:cNvPr id="4" name="Shape 2"/>
          <p:cNvSpPr/>
          <p:nvPr/>
        </p:nvSpPr>
        <p:spPr>
          <a:xfrm>
            <a:off x="274320" y="914400"/>
            <a:ext cx="2788920" cy="3200400"/>
          </a:xfrm>
          <a:prstGeom prst="roundRect">
            <a:avLst>
              <a:gd name="adj" fmla="val 3934"/>
            </a:avLst>
          </a:prstGeom>
          <a:solidFill>
            <a:srgbClr val="FFFFFF"/>
          </a:solidFill>
          <a:ln w="12700">
            <a:solidFill>
              <a:srgbClr val="CBD5E1"/>
            </a:solidFill>
            <a:prstDash val="solid"/>
          </a:ln>
          <a:effectLst>
            <a:outerShdw sx="100000" sy="100000" kx="0" ky="0" algn="bl" rotWithShape="0" blurRad="101600" dist="25400" dir="2700000">
              <a:srgbClr val="000000">
                <a:alpha val="12000"/>
              </a:srgbClr>
            </a:outerShdw>
          </a:effectLst>
        </p:spPr>
      </p:sp>
      <p:sp>
        <p:nvSpPr>
          <p:cNvPr id="5" name="Text 3"/>
          <p:cNvSpPr/>
          <p:nvPr/>
        </p:nvSpPr>
        <p:spPr>
          <a:xfrm>
            <a:off x="411480" y="1024128"/>
            <a:ext cx="2514600" cy="329184"/>
          </a:xfrm>
          <a:prstGeom prst="rect">
            <a:avLst/>
          </a:prstGeom>
          <a:noFill/>
          <a:ln/>
        </p:spPr>
        <p:txBody>
          <a:bodyPr wrap="square" lIns="0" tIns="0" rIns="0" bIns="0" rtlCol="0" anchor="ctr"/>
          <a:lstStyle/>
          <a:p>
            <a:pPr algn="ctr" indent="0" marL="0">
              <a:buNone/>
            </a:pPr>
            <a:r>
              <a:rPr lang="en-US" sz="1600" b="1" dirty="0">
                <a:solidFill>
                  <a:srgbClr val="028090"/>
                </a:solidFill>
              </a:rPr>
              <a:t>Starter</a:t>
            </a:r>
            <a:endParaRPr lang="en-US" sz="1600" dirty="0"/>
          </a:p>
        </p:txBody>
      </p:sp>
      <p:sp>
        <p:nvSpPr>
          <p:cNvPr id="6" name="Text 4"/>
          <p:cNvSpPr/>
          <p:nvPr/>
        </p:nvSpPr>
        <p:spPr>
          <a:xfrm>
            <a:off x="411480" y="1389888"/>
            <a:ext cx="2514600" cy="457200"/>
          </a:xfrm>
          <a:prstGeom prst="rect">
            <a:avLst/>
          </a:prstGeom>
          <a:noFill/>
          <a:ln/>
        </p:spPr>
        <p:txBody>
          <a:bodyPr wrap="square" lIns="0" tIns="0" rIns="0" bIns="0" rtlCol="0" anchor="ctr"/>
          <a:lstStyle/>
          <a:p>
            <a:pPr algn="ctr" indent="0" marL="0">
              <a:buNone/>
            </a:pPr>
            <a:r>
              <a:rPr lang="en-US" sz="2200" b="1" dirty="0">
                <a:solidFill>
                  <a:srgbClr val="0D1B3E"/>
                </a:solidFill>
                <a:latin typeface="Cambria" pitchFamily="34" charset="0"/>
                <a:ea typeface="Cambria" pitchFamily="34" charset="-122"/>
                <a:cs typeface="Cambria" pitchFamily="34" charset="-120"/>
              </a:rPr>
              <a:t>₹3,000–8,000</a:t>
            </a:r>
            <a:endParaRPr lang="en-US" sz="2200" dirty="0"/>
          </a:p>
        </p:txBody>
      </p:sp>
      <p:sp>
        <p:nvSpPr>
          <p:cNvPr id="7" name="Text 5"/>
          <p:cNvSpPr/>
          <p:nvPr/>
        </p:nvSpPr>
        <p:spPr>
          <a:xfrm>
            <a:off x="411480" y="1828800"/>
            <a:ext cx="2514600" cy="237744"/>
          </a:xfrm>
          <a:prstGeom prst="rect">
            <a:avLst/>
          </a:prstGeom>
          <a:noFill/>
          <a:ln/>
        </p:spPr>
        <p:txBody>
          <a:bodyPr wrap="square" lIns="0" tIns="0" rIns="0" bIns="0" rtlCol="0" anchor="ctr"/>
          <a:lstStyle/>
          <a:p>
            <a:pPr algn="ctr" indent="0" marL="0">
              <a:buNone/>
            </a:pPr>
            <a:r>
              <a:rPr lang="en-US" sz="1100" dirty="0">
                <a:solidFill>
                  <a:srgbClr val="64748B"/>
                </a:solidFill>
              </a:rPr>
              <a:t>/month</a:t>
            </a:r>
            <a:endParaRPr lang="en-US" sz="1100" dirty="0"/>
          </a:p>
        </p:txBody>
      </p:sp>
      <p:sp>
        <p:nvSpPr>
          <p:cNvPr id="8" name="Shape 6"/>
          <p:cNvSpPr/>
          <p:nvPr/>
        </p:nvSpPr>
        <p:spPr>
          <a:xfrm>
            <a:off x="640080" y="2103120"/>
            <a:ext cx="2057400" cy="0"/>
          </a:xfrm>
          <a:prstGeom prst="line">
            <a:avLst/>
          </a:prstGeom>
          <a:noFill/>
          <a:ln w="6350">
            <a:solidFill>
              <a:srgbClr val="CBD5E1">
                <a:alpha val="40000"/>
              </a:srgbClr>
            </a:solidFill>
            <a:prstDash val="solid"/>
          </a:ln>
        </p:spPr>
      </p:sp>
      <p:sp>
        <p:nvSpPr>
          <p:cNvPr id="9" name="Text 7"/>
          <p:cNvSpPr/>
          <p:nvPr/>
        </p:nvSpPr>
        <p:spPr>
          <a:xfrm>
            <a:off x="438912" y="2176272"/>
            <a:ext cx="2459736" cy="292608"/>
          </a:xfrm>
          <a:prstGeom prst="rect">
            <a:avLst/>
          </a:prstGeom>
          <a:noFill/>
          <a:ln/>
        </p:spPr>
        <p:txBody>
          <a:bodyPr wrap="square" lIns="0" tIns="0" rIns="0" bIns="0" rtlCol="0" anchor="ctr"/>
          <a:lstStyle/>
          <a:p>
            <a:pPr indent="0" marL="0">
              <a:buNone/>
            </a:pPr>
            <a:r>
              <a:rPr lang="en-US" sz="1000" dirty="0">
                <a:solidFill>
                  <a:srgbClr val="64748B"/>
                </a:solidFill>
              </a:rPr>
              <a:t>For: Coaching centres, small institutes</a:t>
            </a:r>
            <a:endParaRPr lang="en-US" sz="1000" dirty="0"/>
          </a:p>
        </p:txBody>
      </p:sp>
      <p:sp>
        <p:nvSpPr>
          <p:cNvPr id="10" name="Text 8"/>
          <p:cNvSpPr/>
          <p:nvPr/>
        </p:nvSpPr>
        <p:spPr>
          <a:xfrm>
            <a:off x="438912" y="2487168"/>
            <a:ext cx="2459736" cy="256032"/>
          </a:xfrm>
          <a:prstGeom prst="rect">
            <a:avLst/>
          </a:prstGeom>
          <a:noFill/>
          <a:ln/>
        </p:spPr>
        <p:txBody>
          <a:bodyPr wrap="square" lIns="0" tIns="0" rIns="0" bIns="0" rtlCol="0" anchor="ctr"/>
          <a:lstStyle/>
          <a:p>
            <a:pPr indent="0" marL="0">
              <a:buNone/>
            </a:pPr>
            <a:r>
              <a:rPr lang="en-US" sz="1000" b="1" dirty="0">
                <a:solidFill>
                  <a:srgbClr val="0D1B3E"/>
                </a:solidFill>
              </a:rPr>
              <a:t>Up to 500 students</a:t>
            </a:r>
            <a:endParaRPr lang="en-US" sz="1000" dirty="0"/>
          </a:p>
        </p:txBody>
      </p:sp>
      <p:sp>
        <p:nvSpPr>
          <p:cNvPr id="11" name="Text 9"/>
          <p:cNvSpPr/>
          <p:nvPr/>
        </p:nvSpPr>
        <p:spPr>
          <a:xfrm>
            <a:off x="438912" y="2761488"/>
            <a:ext cx="2459736" cy="329184"/>
          </a:xfrm>
          <a:prstGeom prst="rect">
            <a:avLst/>
          </a:prstGeom>
          <a:noFill/>
          <a:ln/>
        </p:spPr>
        <p:txBody>
          <a:bodyPr wrap="square" lIns="0" tIns="0" rIns="0" bIns="0" rtlCol="0" anchor="ctr"/>
          <a:lstStyle/>
          <a:p>
            <a:pPr indent="0" marL="0">
              <a:buNone/>
            </a:pPr>
            <a:r>
              <a:rPr lang="en-US" sz="1000" dirty="0">
                <a:solidFill>
                  <a:srgbClr val="64748B"/>
                </a:solidFill>
              </a:rPr>
              <a:t>Attendance, fees, marks, timetable</a:t>
            </a:r>
            <a:endParaRPr lang="en-US" sz="1000" dirty="0"/>
          </a:p>
        </p:txBody>
      </p:sp>
      <p:sp>
        <p:nvSpPr>
          <p:cNvPr id="12" name="Shape 10"/>
          <p:cNvSpPr/>
          <p:nvPr/>
        </p:nvSpPr>
        <p:spPr>
          <a:xfrm>
            <a:off x="3227832" y="914400"/>
            <a:ext cx="2788920" cy="3200400"/>
          </a:xfrm>
          <a:prstGeom prst="roundRect">
            <a:avLst>
              <a:gd name="adj" fmla="val 3934"/>
            </a:avLst>
          </a:prstGeom>
          <a:solidFill>
            <a:srgbClr val="0D1B3E"/>
          </a:solidFill>
          <a:ln w="12700">
            <a:solidFill>
              <a:srgbClr val="028090"/>
            </a:solidFill>
            <a:prstDash val="solid"/>
          </a:ln>
          <a:effectLst>
            <a:outerShdw sx="100000" sy="100000" kx="0" ky="0" algn="bl" rotWithShape="0" blurRad="203200" dist="50800" dir="2700000">
              <a:srgbClr val="000000">
                <a:alpha val="20000"/>
              </a:srgbClr>
            </a:outerShdw>
          </a:effectLst>
        </p:spPr>
      </p:sp>
      <p:sp>
        <p:nvSpPr>
          <p:cNvPr id="13" name="Shape 11"/>
          <p:cNvSpPr/>
          <p:nvPr/>
        </p:nvSpPr>
        <p:spPr>
          <a:xfrm>
            <a:off x="3867912" y="804672"/>
            <a:ext cx="1508760" cy="246888"/>
          </a:xfrm>
          <a:prstGeom prst="roundRect">
            <a:avLst>
              <a:gd name="adj" fmla="val 37037"/>
            </a:avLst>
          </a:prstGeom>
          <a:solidFill>
            <a:srgbClr val="028090"/>
          </a:solidFill>
          <a:ln w="12700">
            <a:solidFill>
              <a:srgbClr val="028090"/>
            </a:solidFill>
            <a:prstDash val="solid"/>
          </a:ln>
        </p:spPr>
      </p:sp>
      <p:sp>
        <p:nvSpPr>
          <p:cNvPr id="14" name="Text 12"/>
          <p:cNvSpPr/>
          <p:nvPr/>
        </p:nvSpPr>
        <p:spPr>
          <a:xfrm>
            <a:off x="3867912" y="804672"/>
            <a:ext cx="1508760" cy="246888"/>
          </a:xfrm>
          <a:prstGeom prst="rect">
            <a:avLst/>
          </a:prstGeom>
          <a:noFill/>
          <a:ln/>
        </p:spPr>
        <p:txBody>
          <a:bodyPr wrap="square" lIns="0" tIns="0" rIns="0" bIns="0" rtlCol="0" anchor="ctr"/>
          <a:lstStyle/>
          <a:p>
            <a:pPr algn="ctr" indent="0" marL="0">
              <a:buNone/>
            </a:pPr>
            <a:r>
              <a:rPr lang="en-US" sz="800" b="1" dirty="0">
                <a:solidFill>
                  <a:srgbClr val="FFFFFF"/>
                </a:solidFill>
              </a:rPr>
              <a:t>MOST POPULAR</a:t>
            </a:r>
            <a:endParaRPr lang="en-US" sz="800" dirty="0"/>
          </a:p>
        </p:txBody>
      </p:sp>
      <p:sp>
        <p:nvSpPr>
          <p:cNvPr id="15" name="Text 13"/>
          <p:cNvSpPr/>
          <p:nvPr/>
        </p:nvSpPr>
        <p:spPr>
          <a:xfrm>
            <a:off x="3364992" y="1024128"/>
            <a:ext cx="2514600" cy="329184"/>
          </a:xfrm>
          <a:prstGeom prst="rect">
            <a:avLst/>
          </a:prstGeom>
          <a:noFill/>
          <a:ln/>
        </p:spPr>
        <p:txBody>
          <a:bodyPr wrap="square" lIns="0" tIns="0" rIns="0" bIns="0" rtlCol="0" anchor="ctr"/>
          <a:lstStyle/>
          <a:p>
            <a:pPr algn="ctr" indent="0" marL="0">
              <a:buNone/>
            </a:pPr>
            <a:r>
              <a:rPr lang="en-US" sz="1600" b="1" dirty="0">
                <a:solidFill>
                  <a:srgbClr val="028090"/>
                </a:solidFill>
              </a:rPr>
              <a:t>Growth</a:t>
            </a:r>
            <a:endParaRPr lang="en-US" sz="1600" dirty="0"/>
          </a:p>
        </p:txBody>
      </p:sp>
      <p:sp>
        <p:nvSpPr>
          <p:cNvPr id="16" name="Text 14"/>
          <p:cNvSpPr/>
          <p:nvPr/>
        </p:nvSpPr>
        <p:spPr>
          <a:xfrm>
            <a:off x="3364992" y="1389888"/>
            <a:ext cx="2514600" cy="45720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₹15,000–40,000</a:t>
            </a:r>
            <a:endParaRPr lang="en-US" sz="2200" dirty="0"/>
          </a:p>
        </p:txBody>
      </p:sp>
      <p:sp>
        <p:nvSpPr>
          <p:cNvPr id="17" name="Text 15"/>
          <p:cNvSpPr/>
          <p:nvPr/>
        </p:nvSpPr>
        <p:spPr>
          <a:xfrm>
            <a:off x="3364992" y="1828800"/>
            <a:ext cx="2514600" cy="237744"/>
          </a:xfrm>
          <a:prstGeom prst="rect">
            <a:avLst/>
          </a:prstGeom>
          <a:noFill/>
          <a:ln/>
        </p:spPr>
        <p:txBody>
          <a:bodyPr wrap="square" lIns="0" tIns="0" rIns="0" bIns="0" rtlCol="0" anchor="ctr"/>
          <a:lstStyle/>
          <a:p>
            <a:pPr algn="ctr" indent="0" marL="0">
              <a:buNone/>
            </a:pPr>
            <a:r>
              <a:rPr lang="en-US" sz="1100" dirty="0">
                <a:solidFill>
                  <a:srgbClr val="94A3B8"/>
                </a:solidFill>
              </a:rPr>
              <a:t>/month</a:t>
            </a:r>
            <a:endParaRPr lang="en-US" sz="1100" dirty="0"/>
          </a:p>
        </p:txBody>
      </p:sp>
      <p:sp>
        <p:nvSpPr>
          <p:cNvPr id="18" name="Shape 16"/>
          <p:cNvSpPr/>
          <p:nvPr/>
        </p:nvSpPr>
        <p:spPr>
          <a:xfrm>
            <a:off x="3593592" y="2103120"/>
            <a:ext cx="2057400" cy="0"/>
          </a:xfrm>
          <a:prstGeom prst="line">
            <a:avLst/>
          </a:prstGeom>
          <a:noFill/>
          <a:ln w="6350">
            <a:solidFill>
              <a:srgbClr val="FFFFFF">
                <a:alpha val="40000"/>
              </a:srgbClr>
            </a:solidFill>
            <a:prstDash val="solid"/>
          </a:ln>
        </p:spPr>
      </p:sp>
      <p:sp>
        <p:nvSpPr>
          <p:cNvPr id="19" name="Text 17"/>
          <p:cNvSpPr/>
          <p:nvPr/>
        </p:nvSpPr>
        <p:spPr>
          <a:xfrm>
            <a:off x="3392424" y="2176272"/>
            <a:ext cx="2459736" cy="292608"/>
          </a:xfrm>
          <a:prstGeom prst="rect">
            <a:avLst/>
          </a:prstGeom>
          <a:noFill/>
          <a:ln/>
        </p:spPr>
        <p:txBody>
          <a:bodyPr wrap="square" lIns="0" tIns="0" rIns="0" bIns="0" rtlCol="0" anchor="ctr"/>
          <a:lstStyle/>
          <a:p>
            <a:pPr indent="0" marL="0">
              <a:buNone/>
            </a:pPr>
            <a:r>
              <a:rPr lang="en-US" sz="1000" dirty="0">
                <a:solidFill>
                  <a:srgbClr val="94A3B8"/>
                </a:solidFill>
              </a:rPr>
              <a:t>For: Colleges, autonomous institutions</a:t>
            </a:r>
            <a:endParaRPr lang="en-US" sz="1000" dirty="0"/>
          </a:p>
        </p:txBody>
      </p:sp>
      <p:sp>
        <p:nvSpPr>
          <p:cNvPr id="20" name="Text 18"/>
          <p:cNvSpPr/>
          <p:nvPr/>
        </p:nvSpPr>
        <p:spPr>
          <a:xfrm>
            <a:off x="3392424" y="2487168"/>
            <a:ext cx="2459736" cy="256032"/>
          </a:xfrm>
          <a:prstGeom prst="rect">
            <a:avLst/>
          </a:prstGeom>
          <a:noFill/>
          <a:ln/>
        </p:spPr>
        <p:txBody>
          <a:bodyPr wrap="square" lIns="0" tIns="0" rIns="0" bIns="0" rtlCol="0" anchor="ctr"/>
          <a:lstStyle/>
          <a:p>
            <a:pPr indent="0" marL="0">
              <a:buNone/>
            </a:pPr>
            <a:r>
              <a:rPr lang="en-US" sz="1000" b="1" dirty="0">
                <a:solidFill>
                  <a:srgbClr val="FFFFFF"/>
                </a:solidFill>
              </a:rPr>
              <a:t>500–3,000 students</a:t>
            </a:r>
            <a:endParaRPr lang="en-US" sz="1000" dirty="0"/>
          </a:p>
        </p:txBody>
      </p:sp>
      <p:sp>
        <p:nvSpPr>
          <p:cNvPr id="21" name="Text 19"/>
          <p:cNvSpPr/>
          <p:nvPr/>
        </p:nvSpPr>
        <p:spPr>
          <a:xfrm>
            <a:off x="3392424" y="2761488"/>
            <a:ext cx="2459736" cy="329184"/>
          </a:xfrm>
          <a:prstGeom prst="rect">
            <a:avLst/>
          </a:prstGeom>
          <a:noFill/>
          <a:ln/>
        </p:spPr>
        <p:txBody>
          <a:bodyPr wrap="square" lIns="0" tIns="0" rIns="0" bIns="0" rtlCol="0" anchor="ctr"/>
          <a:lstStyle/>
          <a:p>
            <a:pPr indent="0" marL="0">
              <a:buNone/>
            </a:pPr>
            <a:r>
              <a:rPr lang="en-US" sz="1000" dirty="0">
                <a:solidFill>
                  <a:srgbClr val="94A3B8"/>
                </a:solidFill>
              </a:rPr>
              <a:t>All modules + NAAC exports + HR</a:t>
            </a:r>
            <a:endParaRPr lang="en-US" sz="1000" dirty="0"/>
          </a:p>
        </p:txBody>
      </p:sp>
      <p:sp>
        <p:nvSpPr>
          <p:cNvPr id="22" name="Shape 20"/>
          <p:cNvSpPr/>
          <p:nvPr/>
        </p:nvSpPr>
        <p:spPr>
          <a:xfrm>
            <a:off x="6181344" y="914400"/>
            <a:ext cx="2788920" cy="3200400"/>
          </a:xfrm>
          <a:prstGeom prst="roundRect">
            <a:avLst>
              <a:gd name="adj" fmla="val 3934"/>
            </a:avLst>
          </a:prstGeom>
          <a:solidFill>
            <a:srgbClr val="FFFFFF"/>
          </a:solidFill>
          <a:ln w="12700">
            <a:solidFill>
              <a:srgbClr val="CBD5E1"/>
            </a:solidFill>
            <a:prstDash val="solid"/>
          </a:ln>
          <a:effectLst>
            <a:outerShdw sx="100000" sy="100000" kx="0" ky="0" algn="bl" rotWithShape="0" blurRad="101600" dist="25400" dir="2700000">
              <a:srgbClr val="000000">
                <a:alpha val="12000"/>
              </a:srgbClr>
            </a:outerShdw>
          </a:effectLst>
        </p:spPr>
      </p:sp>
      <p:sp>
        <p:nvSpPr>
          <p:cNvPr id="23" name="Text 21"/>
          <p:cNvSpPr/>
          <p:nvPr/>
        </p:nvSpPr>
        <p:spPr>
          <a:xfrm>
            <a:off x="6318504" y="1024128"/>
            <a:ext cx="2514600" cy="329184"/>
          </a:xfrm>
          <a:prstGeom prst="rect">
            <a:avLst/>
          </a:prstGeom>
          <a:noFill/>
          <a:ln/>
        </p:spPr>
        <p:txBody>
          <a:bodyPr wrap="square" lIns="0" tIns="0" rIns="0" bIns="0" rtlCol="0" anchor="ctr"/>
          <a:lstStyle/>
          <a:p>
            <a:pPr algn="ctr" indent="0" marL="0">
              <a:buNone/>
            </a:pPr>
            <a:r>
              <a:rPr lang="en-US" sz="1600" b="1" dirty="0">
                <a:solidFill>
                  <a:srgbClr val="028090"/>
                </a:solidFill>
              </a:rPr>
              <a:t>Enterprise</a:t>
            </a:r>
            <a:endParaRPr lang="en-US" sz="1600" dirty="0"/>
          </a:p>
        </p:txBody>
      </p:sp>
      <p:sp>
        <p:nvSpPr>
          <p:cNvPr id="24" name="Text 22"/>
          <p:cNvSpPr/>
          <p:nvPr/>
        </p:nvSpPr>
        <p:spPr>
          <a:xfrm>
            <a:off x="6318504" y="1389888"/>
            <a:ext cx="2514600" cy="457200"/>
          </a:xfrm>
          <a:prstGeom prst="rect">
            <a:avLst/>
          </a:prstGeom>
          <a:noFill/>
          <a:ln/>
        </p:spPr>
        <p:txBody>
          <a:bodyPr wrap="square" lIns="0" tIns="0" rIns="0" bIns="0" rtlCol="0" anchor="ctr"/>
          <a:lstStyle/>
          <a:p>
            <a:pPr algn="ctr" indent="0" marL="0">
              <a:buNone/>
            </a:pPr>
            <a:r>
              <a:rPr lang="en-US" sz="2200" b="1" dirty="0">
                <a:solidFill>
                  <a:srgbClr val="0D1B3E"/>
                </a:solidFill>
                <a:latin typeface="Cambria" pitchFamily="34" charset="0"/>
                <a:ea typeface="Cambria" pitchFamily="34" charset="-122"/>
                <a:cs typeface="Cambria" pitchFamily="34" charset="-120"/>
              </a:rPr>
              <a:t>₹60,000–2,00,000</a:t>
            </a:r>
            <a:endParaRPr lang="en-US" sz="2200" dirty="0"/>
          </a:p>
        </p:txBody>
      </p:sp>
      <p:sp>
        <p:nvSpPr>
          <p:cNvPr id="25" name="Text 23"/>
          <p:cNvSpPr/>
          <p:nvPr/>
        </p:nvSpPr>
        <p:spPr>
          <a:xfrm>
            <a:off x="6318504" y="1828800"/>
            <a:ext cx="2514600" cy="237744"/>
          </a:xfrm>
          <a:prstGeom prst="rect">
            <a:avLst/>
          </a:prstGeom>
          <a:noFill/>
          <a:ln/>
        </p:spPr>
        <p:txBody>
          <a:bodyPr wrap="square" lIns="0" tIns="0" rIns="0" bIns="0" rtlCol="0" anchor="ctr"/>
          <a:lstStyle/>
          <a:p>
            <a:pPr algn="ctr" indent="0" marL="0">
              <a:buNone/>
            </a:pPr>
            <a:r>
              <a:rPr lang="en-US" sz="1100" dirty="0">
                <a:solidFill>
                  <a:srgbClr val="64748B"/>
                </a:solidFill>
              </a:rPr>
              <a:t>/month</a:t>
            </a:r>
            <a:endParaRPr lang="en-US" sz="1100" dirty="0"/>
          </a:p>
        </p:txBody>
      </p:sp>
      <p:sp>
        <p:nvSpPr>
          <p:cNvPr id="26" name="Shape 24"/>
          <p:cNvSpPr/>
          <p:nvPr/>
        </p:nvSpPr>
        <p:spPr>
          <a:xfrm>
            <a:off x="6547104" y="2103120"/>
            <a:ext cx="2057400" cy="0"/>
          </a:xfrm>
          <a:prstGeom prst="line">
            <a:avLst/>
          </a:prstGeom>
          <a:noFill/>
          <a:ln w="6350">
            <a:solidFill>
              <a:srgbClr val="CBD5E1">
                <a:alpha val="40000"/>
              </a:srgbClr>
            </a:solidFill>
            <a:prstDash val="solid"/>
          </a:ln>
        </p:spPr>
      </p:sp>
      <p:sp>
        <p:nvSpPr>
          <p:cNvPr id="27" name="Text 25"/>
          <p:cNvSpPr/>
          <p:nvPr/>
        </p:nvSpPr>
        <p:spPr>
          <a:xfrm>
            <a:off x="6345936" y="2176272"/>
            <a:ext cx="2459736" cy="292608"/>
          </a:xfrm>
          <a:prstGeom prst="rect">
            <a:avLst/>
          </a:prstGeom>
          <a:noFill/>
          <a:ln/>
        </p:spPr>
        <p:txBody>
          <a:bodyPr wrap="square" lIns="0" tIns="0" rIns="0" bIns="0" rtlCol="0" anchor="ctr"/>
          <a:lstStyle/>
          <a:p>
            <a:pPr indent="0" marL="0">
              <a:buNone/>
            </a:pPr>
            <a:r>
              <a:rPr lang="en-US" sz="1000" dirty="0">
                <a:solidFill>
                  <a:srgbClr val="64748B"/>
                </a:solidFill>
              </a:rPr>
              <a:t>For: Universities, multi-campus chains</a:t>
            </a:r>
            <a:endParaRPr lang="en-US" sz="1000" dirty="0"/>
          </a:p>
        </p:txBody>
      </p:sp>
      <p:sp>
        <p:nvSpPr>
          <p:cNvPr id="28" name="Text 26"/>
          <p:cNvSpPr/>
          <p:nvPr/>
        </p:nvSpPr>
        <p:spPr>
          <a:xfrm>
            <a:off x="6345936" y="2487168"/>
            <a:ext cx="2459736" cy="256032"/>
          </a:xfrm>
          <a:prstGeom prst="rect">
            <a:avLst/>
          </a:prstGeom>
          <a:noFill/>
          <a:ln/>
        </p:spPr>
        <p:txBody>
          <a:bodyPr wrap="square" lIns="0" tIns="0" rIns="0" bIns="0" rtlCol="0" anchor="ctr"/>
          <a:lstStyle/>
          <a:p>
            <a:pPr indent="0" marL="0">
              <a:buNone/>
            </a:pPr>
            <a:r>
              <a:rPr lang="en-US" sz="1000" b="1" dirty="0">
                <a:solidFill>
                  <a:srgbClr val="0D1B3E"/>
                </a:solidFill>
              </a:rPr>
              <a:t>3,000+ students</a:t>
            </a:r>
            <a:endParaRPr lang="en-US" sz="1000" dirty="0"/>
          </a:p>
        </p:txBody>
      </p:sp>
      <p:sp>
        <p:nvSpPr>
          <p:cNvPr id="29" name="Text 27"/>
          <p:cNvSpPr/>
          <p:nvPr/>
        </p:nvSpPr>
        <p:spPr>
          <a:xfrm>
            <a:off x="6345936" y="2761488"/>
            <a:ext cx="2459736" cy="329184"/>
          </a:xfrm>
          <a:prstGeom prst="rect">
            <a:avLst/>
          </a:prstGeom>
          <a:noFill/>
          <a:ln/>
        </p:spPr>
        <p:txBody>
          <a:bodyPr wrap="square" lIns="0" tIns="0" rIns="0" bIns="0" rtlCol="0" anchor="ctr"/>
          <a:lstStyle/>
          <a:p>
            <a:pPr indent="0" marL="0">
              <a:buNone/>
            </a:pPr>
            <a:r>
              <a:rPr lang="en-US" sz="1000" dirty="0">
                <a:solidFill>
                  <a:srgbClr val="64748B"/>
                </a:solidFill>
              </a:rPr>
              <a:t>Multi-campus + SSR builder + SLA</a:t>
            </a:r>
            <a:endParaRPr lang="en-US" sz="1000" dirty="0"/>
          </a:p>
        </p:txBody>
      </p:sp>
      <p:sp>
        <p:nvSpPr>
          <p:cNvPr id="30" name="Shape 28"/>
          <p:cNvSpPr/>
          <p:nvPr/>
        </p:nvSpPr>
        <p:spPr>
          <a:xfrm>
            <a:off x="274320" y="4224528"/>
            <a:ext cx="8595360" cy="658368"/>
          </a:xfrm>
          <a:prstGeom prst="roundRect">
            <a:avLst>
              <a:gd name="adj" fmla="val 11111"/>
            </a:avLst>
          </a:prstGeom>
          <a:solidFill>
            <a:srgbClr val="0D1B3E"/>
          </a:solidFill>
          <a:ln w="12700">
            <a:solidFill>
              <a:srgbClr val="028090">
                <a:alpha val="60000"/>
              </a:srgbClr>
            </a:solidFill>
            <a:prstDash val="solid"/>
          </a:ln>
        </p:spPr>
      </p:sp>
      <p:sp>
        <p:nvSpPr>
          <p:cNvPr id="31" name="Text 29"/>
          <p:cNvSpPr/>
          <p:nvPr/>
        </p:nvSpPr>
        <p:spPr>
          <a:xfrm>
            <a:off x="457200" y="4261104"/>
            <a:ext cx="2926080" cy="256032"/>
          </a:xfrm>
          <a:prstGeom prst="rect">
            <a:avLst/>
          </a:prstGeom>
          <a:noFill/>
          <a:ln/>
        </p:spPr>
        <p:txBody>
          <a:bodyPr wrap="square" lIns="0" tIns="0" rIns="0" bIns="0" rtlCol="0" anchor="ctr"/>
          <a:lstStyle/>
          <a:p>
            <a:pPr indent="0" marL="0">
              <a:buNone/>
            </a:pPr>
            <a:r>
              <a:rPr lang="en-US" sz="1100" dirty="0">
                <a:solidFill>
                  <a:srgbClr val="94A3B8"/>
                </a:solidFill>
              </a:rPr>
              <a:t>TAM at 1% India penetration:</a:t>
            </a:r>
            <a:endParaRPr lang="en-US" sz="1100" dirty="0"/>
          </a:p>
        </p:txBody>
      </p:sp>
      <p:sp>
        <p:nvSpPr>
          <p:cNvPr id="32" name="Text 30"/>
          <p:cNvSpPr/>
          <p:nvPr/>
        </p:nvSpPr>
        <p:spPr>
          <a:xfrm>
            <a:off x="457200" y="4517136"/>
            <a:ext cx="8229600" cy="256032"/>
          </a:xfrm>
          <a:prstGeom prst="rect">
            <a:avLst/>
          </a:prstGeom>
          <a:noFill/>
          <a:ln/>
        </p:spPr>
        <p:txBody>
          <a:bodyPr wrap="square" lIns="0" tIns="0" rIns="0" bIns="0" rtlCol="0" anchor="ctr"/>
          <a:lstStyle/>
          <a:p>
            <a:pPr indent="0" marL="0">
              <a:buNone/>
            </a:pPr>
            <a:r>
              <a:rPr lang="en-US" sz="1200" b="1" dirty="0">
                <a:solidFill>
                  <a:srgbClr val="F9A825"/>
                </a:solidFill>
              </a:rPr>
              <a:t>420 institutions × ₹20,000 avg/mo = ₹8.4 Cr/month  →  ₹100 Cr+ ARR</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D1B3E"/>
          </a:solidFill>
          <a:ln w="12700">
            <a:solidFill>
              <a:srgbClr val="0D1B3E"/>
            </a:solidFill>
            <a:prstDash val="solid"/>
          </a:ln>
        </p:spPr>
      </p:sp>
      <p:sp>
        <p:nvSpPr>
          <p:cNvPr id="3" name="Text 1"/>
          <p:cNvSpPr/>
          <p:nvPr/>
        </p:nvSpPr>
        <p:spPr>
          <a:xfrm>
            <a:off x="365760" y="0"/>
            <a:ext cx="8412480" cy="822960"/>
          </a:xfrm>
          <a:prstGeom prst="rect">
            <a:avLst/>
          </a:prstGeom>
          <a:noFill/>
          <a:ln/>
        </p:spPr>
        <p:txBody>
          <a:bodyPr wrap="square" rtlCol="0" anchor="ctr"/>
          <a:lstStyle/>
          <a:p>
            <a:pPr indent="0" marL="0">
              <a:buNone/>
            </a:pPr>
            <a:r>
              <a:rPr lang="en-US" sz="1100" b="1" spc="500" kern="0" dirty="0">
                <a:solidFill>
                  <a:srgbClr val="028090"/>
                </a:solidFill>
              </a:rPr>
              <a:t>WHAT NEEDS TO BE BUILT BEFORE EXPANDING</a:t>
            </a:r>
            <a:endParaRPr lang="en-US" sz="1100" dirty="0"/>
          </a:p>
        </p:txBody>
      </p:sp>
      <p:sp>
        <p:nvSpPr>
          <p:cNvPr id="4" name="Shape 2"/>
          <p:cNvSpPr/>
          <p:nvPr/>
        </p:nvSpPr>
        <p:spPr>
          <a:xfrm>
            <a:off x="274320" y="914400"/>
            <a:ext cx="4114800" cy="347472"/>
          </a:xfrm>
          <a:prstGeom prst="roundRect">
            <a:avLst>
              <a:gd name="adj" fmla="val 15789"/>
            </a:avLst>
          </a:prstGeom>
          <a:solidFill>
            <a:srgbClr val="FFE4E1"/>
          </a:solidFill>
          <a:ln w="12700">
            <a:solidFill>
              <a:srgbClr val="E53E3E">
                <a:alpha val="60000"/>
              </a:srgbClr>
            </a:solidFill>
            <a:prstDash val="solid"/>
          </a:ln>
        </p:spPr>
      </p:sp>
      <p:sp>
        <p:nvSpPr>
          <p:cNvPr id="5" name="Text 3"/>
          <p:cNvSpPr/>
          <p:nvPr/>
        </p:nvSpPr>
        <p:spPr>
          <a:xfrm>
            <a:off x="274320" y="914400"/>
            <a:ext cx="4114800" cy="347472"/>
          </a:xfrm>
          <a:prstGeom prst="rect">
            <a:avLst/>
          </a:prstGeom>
          <a:noFill/>
          <a:ln/>
        </p:spPr>
        <p:txBody>
          <a:bodyPr wrap="square" lIns="0" tIns="0" rIns="0" bIns="0" rtlCol="0" anchor="ctr"/>
          <a:lstStyle/>
          <a:p>
            <a:pPr algn="ctr" indent="0" marL="0">
              <a:buNone/>
            </a:pPr>
            <a:r>
              <a:rPr lang="en-US" sz="1100" b="1" dirty="0">
                <a:solidFill>
                  <a:srgbClr val="C53030"/>
                </a:solidFill>
              </a:rPr>
              <a:t>🔴  Critical — Do immediately (Phase 2.5)</a:t>
            </a:r>
            <a:endParaRPr lang="en-US" sz="1100" dirty="0"/>
          </a:p>
        </p:txBody>
      </p:sp>
      <p:sp>
        <p:nvSpPr>
          <p:cNvPr id="6" name="Shape 4"/>
          <p:cNvSpPr/>
          <p:nvPr/>
        </p:nvSpPr>
        <p:spPr>
          <a:xfrm>
            <a:off x="274320" y="1353312"/>
            <a:ext cx="4114800" cy="493776"/>
          </a:xfrm>
          <a:prstGeom prst="roundRect">
            <a:avLst>
              <a:gd name="adj" fmla="val 11111"/>
            </a:avLst>
          </a:prstGeom>
          <a:solidFill>
            <a:srgbClr val="FFF5F5"/>
          </a:solidFill>
          <a:ln w="12700">
            <a:solidFill>
              <a:srgbClr val="FCA5A5"/>
            </a:solidFill>
            <a:prstDash val="solid"/>
          </a:ln>
        </p:spPr>
      </p:sp>
      <p:sp>
        <p:nvSpPr>
          <p:cNvPr id="7" name="Text 5"/>
          <p:cNvSpPr/>
          <p:nvPr/>
        </p:nvSpPr>
        <p:spPr>
          <a:xfrm>
            <a:off x="420624" y="1389888"/>
            <a:ext cx="3840480" cy="219456"/>
          </a:xfrm>
          <a:prstGeom prst="rect">
            <a:avLst/>
          </a:prstGeom>
          <a:noFill/>
          <a:ln/>
        </p:spPr>
        <p:txBody>
          <a:bodyPr wrap="square" lIns="0" tIns="0" rIns="0" bIns="0" rtlCol="0" anchor="ctr"/>
          <a:lstStyle/>
          <a:p>
            <a:pPr indent="0" marL="0">
              <a:buNone/>
            </a:pPr>
            <a:r>
              <a:rPr lang="en-US" sz="1000" b="1" dirty="0">
                <a:solidFill>
                  <a:srgbClr val="0D1B3E"/>
                </a:solidFill>
              </a:rPr>
              <a:t>Razorpay webhook signature verification</a:t>
            </a:r>
            <a:endParaRPr lang="en-US" sz="1000" dirty="0"/>
          </a:p>
        </p:txBody>
      </p:sp>
      <p:sp>
        <p:nvSpPr>
          <p:cNvPr id="8" name="Text 6"/>
          <p:cNvSpPr/>
          <p:nvPr/>
        </p:nvSpPr>
        <p:spPr>
          <a:xfrm>
            <a:off x="420624" y="1609344"/>
            <a:ext cx="3840480" cy="182880"/>
          </a:xfrm>
          <a:prstGeom prst="rect">
            <a:avLst/>
          </a:prstGeom>
          <a:noFill/>
          <a:ln/>
        </p:spPr>
        <p:txBody>
          <a:bodyPr wrap="square" lIns="0" tIns="0" rIns="0" bIns="0" rtlCol="0" anchor="ctr"/>
          <a:lstStyle/>
          <a:p>
            <a:pPr indent="0" marL="0">
              <a:buNone/>
            </a:pPr>
            <a:r>
              <a:rPr lang="en-US" sz="950" dirty="0">
                <a:solidFill>
                  <a:srgbClr val="B91C1C"/>
                </a:solidFill>
              </a:rPr>
              <a:t>Security — fake payments possible today</a:t>
            </a:r>
            <a:endParaRPr lang="en-US" sz="950" dirty="0"/>
          </a:p>
        </p:txBody>
      </p:sp>
      <p:sp>
        <p:nvSpPr>
          <p:cNvPr id="9" name="Shape 7"/>
          <p:cNvSpPr/>
          <p:nvPr/>
        </p:nvSpPr>
        <p:spPr>
          <a:xfrm>
            <a:off x="274320" y="1920240"/>
            <a:ext cx="4114800" cy="493776"/>
          </a:xfrm>
          <a:prstGeom prst="roundRect">
            <a:avLst>
              <a:gd name="adj" fmla="val 11111"/>
            </a:avLst>
          </a:prstGeom>
          <a:solidFill>
            <a:srgbClr val="FFF5F5"/>
          </a:solidFill>
          <a:ln w="12700">
            <a:solidFill>
              <a:srgbClr val="FCA5A5"/>
            </a:solidFill>
            <a:prstDash val="solid"/>
          </a:ln>
        </p:spPr>
      </p:sp>
      <p:sp>
        <p:nvSpPr>
          <p:cNvPr id="10" name="Text 8"/>
          <p:cNvSpPr/>
          <p:nvPr/>
        </p:nvSpPr>
        <p:spPr>
          <a:xfrm>
            <a:off x="420624" y="1956816"/>
            <a:ext cx="3840480" cy="219456"/>
          </a:xfrm>
          <a:prstGeom prst="rect">
            <a:avLst/>
          </a:prstGeom>
          <a:noFill/>
          <a:ln/>
        </p:spPr>
        <p:txBody>
          <a:bodyPr wrap="square" lIns="0" tIns="0" rIns="0" bIns="0" rtlCol="0" anchor="ctr"/>
          <a:lstStyle/>
          <a:p>
            <a:pPr indent="0" marL="0">
              <a:buNone/>
            </a:pPr>
            <a:r>
              <a:rPr lang="en-US" sz="1000" b="1" dirty="0">
                <a:solidFill>
                  <a:srgbClr val="0D1B3E"/>
                </a:solidFill>
              </a:rPr>
              <a:t>DPDP Act 2023 compliance (consent + erasure)</a:t>
            </a:r>
            <a:endParaRPr lang="en-US" sz="1000" dirty="0"/>
          </a:p>
        </p:txBody>
      </p:sp>
      <p:sp>
        <p:nvSpPr>
          <p:cNvPr id="11" name="Text 9"/>
          <p:cNvSpPr/>
          <p:nvPr/>
        </p:nvSpPr>
        <p:spPr>
          <a:xfrm>
            <a:off x="420624" y="2176272"/>
            <a:ext cx="3840480" cy="182880"/>
          </a:xfrm>
          <a:prstGeom prst="rect">
            <a:avLst/>
          </a:prstGeom>
          <a:noFill/>
          <a:ln/>
        </p:spPr>
        <p:txBody>
          <a:bodyPr wrap="square" lIns="0" tIns="0" rIns="0" bIns="0" rtlCol="0" anchor="ctr"/>
          <a:lstStyle/>
          <a:p>
            <a:pPr indent="0" marL="0">
              <a:buNone/>
            </a:pPr>
            <a:r>
              <a:rPr lang="en-US" sz="950" dirty="0">
                <a:solidFill>
                  <a:srgbClr val="B91C1C"/>
                </a:solidFill>
              </a:rPr>
              <a:t>Legal — enforceable in India now</a:t>
            </a:r>
            <a:endParaRPr lang="en-US" sz="950" dirty="0"/>
          </a:p>
        </p:txBody>
      </p:sp>
      <p:sp>
        <p:nvSpPr>
          <p:cNvPr id="12" name="Shape 10"/>
          <p:cNvSpPr/>
          <p:nvPr/>
        </p:nvSpPr>
        <p:spPr>
          <a:xfrm>
            <a:off x="274320" y="2487168"/>
            <a:ext cx="4114800" cy="493776"/>
          </a:xfrm>
          <a:prstGeom prst="roundRect">
            <a:avLst>
              <a:gd name="adj" fmla="val 11111"/>
            </a:avLst>
          </a:prstGeom>
          <a:solidFill>
            <a:srgbClr val="FFF5F5"/>
          </a:solidFill>
          <a:ln w="12700">
            <a:solidFill>
              <a:srgbClr val="FCA5A5"/>
            </a:solidFill>
            <a:prstDash val="solid"/>
          </a:ln>
        </p:spPr>
      </p:sp>
      <p:sp>
        <p:nvSpPr>
          <p:cNvPr id="13" name="Text 11"/>
          <p:cNvSpPr/>
          <p:nvPr/>
        </p:nvSpPr>
        <p:spPr>
          <a:xfrm>
            <a:off x="420624" y="2523744"/>
            <a:ext cx="3840480" cy="219456"/>
          </a:xfrm>
          <a:prstGeom prst="rect">
            <a:avLst/>
          </a:prstGeom>
          <a:noFill/>
          <a:ln/>
        </p:spPr>
        <p:txBody>
          <a:bodyPr wrap="square" lIns="0" tIns="0" rIns="0" bIns="0" rtlCol="0" anchor="ctr"/>
          <a:lstStyle/>
          <a:p>
            <a:pPr indent="0" marL="0">
              <a:buNone/>
            </a:pPr>
            <a:r>
              <a:rPr lang="en-US" sz="1000" b="1" dirty="0">
                <a:solidFill>
                  <a:srgbClr val="0D1B3E"/>
                </a:solidFill>
              </a:rPr>
              <a:t>Supabase backup + scheduler resilience</a:t>
            </a:r>
            <a:endParaRPr lang="en-US" sz="1000" dirty="0"/>
          </a:p>
        </p:txBody>
      </p:sp>
      <p:sp>
        <p:nvSpPr>
          <p:cNvPr id="14" name="Text 12"/>
          <p:cNvSpPr/>
          <p:nvPr/>
        </p:nvSpPr>
        <p:spPr>
          <a:xfrm>
            <a:off x="420624" y="2743200"/>
            <a:ext cx="3840480" cy="182880"/>
          </a:xfrm>
          <a:prstGeom prst="rect">
            <a:avLst/>
          </a:prstGeom>
          <a:noFill/>
          <a:ln/>
        </p:spPr>
        <p:txBody>
          <a:bodyPr wrap="square" lIns="0" tIns="0" rIns="0" bIns="0" rtlCol="0" anchor="ctr"/>
          <a:lstStyle/>
          <a:p>
            <a:pPr indent="0" marL="0">
              <a:buNone/>
            </a:pPr>
            <a:r>
              <a:rPr lang="en-US" sz="950" dirty="0">
                <a:solidFill>
                  <a:srgbClr val="B91C1C"/>
                </a:solidFill>
              </a:rPr>
              <a:t>Ops — no disaster recovery plan exists</a:t>
            </a:r>
            <a:endParaRPr lang="en-US" sz="950" dirty="0"/>
          </a:p>
        </p:txBody>
      </p:sp>
      <p:sp>
        <p:nvSpPr>
          <p:cNvPr id="15" name="Shape 13"/>
          <p:cNvSpPr/>
          <p:nvPr/>
        </p:nvSpPr>
        <p:spPr>
          <a:xfrm>
            <a:off x="274320" y="3054096"/>
            <a:ext cx="4114800" cy="493776"/>
          </a:xfrm>
          <a:prstGeom prst="roundRect">
            <a:avLst>
              <a:gd name="adj" fmla="val 11111"/>
            </a:avLst>
          </a:prstGeom>
          <a:solidFill>
            <a:srgbClr val="FFF5F5"/>
          </a:solidFill>
          <a:ln w="12700">
            <a:solidFill>
              <a:srgbClr val="FCA5A5"/>
            </a:solidFill>
            <a:prstDash val="solid"/>
          </a:ln>
        </p:spPr>
      </p:sp>
      <p:sp>
        <p:nvSpPr>
          <p:cNvPr id="16" name="Text 14"/>
          <p:cNvSpPr/>
          <p:nvPr/>
        </p:nvSpPr>
        <p:spPr>
          <a:xfrm>
            <a:off x="420624" y="3090672"/>
            <a:ext cx="3840480" cy="219456"/>
          </a:xfrm>
          <a:prstGeom prst="rect">
            <a:avLst/>
          </a:prstGeom>
          <a:noFill/>
          <a:ln/>
        </p:spPr>
        <p:txBody>
          <a:bodyPr wrap="square" lIns="0" tIns="0" rIns="0" bIns="0" rtlCol="0" anchor="ctr"/>
          <a:lstStyle/>
          <a:p>
            <a:pPr indent="0" marL="0">
              <a:buNone/>
            </a:pPr>
            <a:r>
              <a:rPr lang="en-US" sz="1000" b="1" dirty="0">
                <a:solidFill>
                  <a:srgbClr val="0D1B3E"/>
                </a:solidFill>
              </a:rPr>
              <a:t>Platform-wide audit log</a:t>
            </a:r>
            <a:endParaRPr lang="en-US" sz="1000" dirty="0"/>
          </a:p>
        </p:txBody>
      </p:sp>
      <p:sp>
        <p:nvSpPr>
          <p:cNvPr id="17" name="Text 15"/>
          <p:cNvSpPr/>
          <p:nvPr/>
        </p:nvSpPr>
        <p:spPr>
          <a:xfrm>
            <a:off x="420624" y="3310128"/>
            <a:ext cx="3840480" cy="182880"/>
          </a:xfrm>
          <a:prstGeom prst="rect">
            <a:avLst/>
          </a:prstGeom>
          <a:noFill/>
          <a:ln/>
        </p:spPr>
        <p:txBody>
          <a:bodyPr wrap="square" lIns="0" tIns="0" rIns="0" bIns="0" rtlCol="0" anchor="ctr"/>
          <a:lstStyle/>
          <a:p>
            <a:pPr indent="0" marL="0">
              <a:buNone/>
            </a:pPr>
            <a:r>
              <a:rPr lang="en-US" sz="950" dirty="0">
                <a:solidFill>
                  <a:srgbClr val="B91C1C"/>
                </a:solidFill>
              </a:rPr>
              <a:t>NAAC/ISO 27001 evidence requirement</a:t>
            </a:r>
            <a:endParaRPr lang="en-US" sz="950" dirty="0"/>
          </a:p>
        </p:txBody>
      </p:sp>
      <p:sp>
        <p:nvSpPr>
          <p:cNvPr id="18" name="Shape 16"/>
          <p:cNvSpPr/>
          <p:nvPr/>
        </p:nvSpPr>
        <p:spPr>
          <a:xfrm>
            <a:off x="4754880" y="914400"/>
            <a:ext cx="4114800" cy="347472"/>
          </a:xfrm>
          <a:prstGeom prst="roundRect">
            <a:avLst>
              <a:gd name="adj" fmla="val 15789"/>
            </a:avLst>
          </a:prstGeom>
          <a:solidFill>
            <a:srgbClr val="FEF3C7"/>
          </a:solidFill>
          <a:ln w="12700">
            <a:solidFill>
              <a:srgbClr val="D97706">
                <a:alpha val="60000"/>
              </a:srgbClr>
            </a:solidFill>
            <a:prstDash val="solid"/>
          </a:ln>
        </p:spPr>
      </p:sp>
      <p:sp>
        <p:nvSpPr>
          <p:cNvPr id="19" name="Text 17"/>
          <p:cNvSpPr/>
          <p:nvPr/>
        </p:nvSpPr>
        <p:spPr>
          <a:xfrm>
            <a:off x="4754880" y="914400"/>
            <a:ext cx="4114800" cy="347472"/>
          </a:xfrm>
          <a:prstGeom prst="rect">
            <a:avLst/>
          </a:prstGeom>
          <a:noFill/>
          <a:ln/>
        </p:spPr>
        <p:txBody>
          <a:bodyPr wrap="square" lIns="0" tIns="0" rIns="0" bIns="0" rtlCol="0" anchor="ctr"/>
          <a:lstStyle/>
          <a:p>
            <a:pPr algn="ctr" indent="0" marL="0">
              <a:buNone/>
            </a:pPr>
            <a:r>
              <a:rPr lang="en-US" sz="1100" b="1" dirty="0">
                <a:solidFill>
                  <a:srgbClr val="92400E"/>
                </a:solidFill>
              </a:rPr>
              <a:t>🟡  Before international expansion</a:t>
            </a:r>
            <a:endParaRPr lang="en-US" sz="1100" dirty="0"/>
          </a:p>
        </p:txBody>
      </p:sp>
      <p:sp>
        <p:nvSpPr>
          <p:cNvPr id="20" name="Shape 18"/>
          <p:cNvSpPr/>
          <p:nvPr/>
        </p:nvSpPr>
        <p:spPr>
          <a:xfrm>
            <a:off x="4754880" y="1353312"/>
            <a:ext cx="4114800" cy="493776"/>
          </a:xfrm>
          <a:prstGeom prst="roundRect">
            <a:avLst>
              <a:gd name="adj" fmla="val 11111"/>
            </a:avLst>
          </a:prstGeom>
          <a:solidFill>
            <a:srgbClr val="FFFBEB"/>
          </a:solidFill>
          <a:ln w="12700">
            <a:solidFill>
              <a:srgbClr val="FCD34D"/>
            </a:solidFill>
            <a:prstDash val="solid"/>
          </a:ln>
        </p:spPr>
      </p:sp>
      <p:sp>
        <p:nvSpPr>
          <p:cNvPr id="21" name="Text 19"/>
          <p:cNvSpPr/>
          <p:nvPr/>
        </p:nvSpPr>
        <p:spPr>
          <a:xfrm>
            <a:off x="4901184" y="1389888"/>
            <a:ext cx="3840480" cy="219456"/>
          </a:xfrm>
          <a:prstGeom prst="rect">
            <a:avLst/>
          </a:prstGeom>
          <a:noFill/>
          <a:ln/>
        </p:spPr>
        <p:txBody>
          <a:bodyPr wrap="square" lIns="0" tIns="0" rIns="0" bIns="0" rtlCol="0" anchor="ctr"/>
          <a:lstStyle/>
          <a:p>
            <a:pPr indent="0" marL="0">
              <a:buNone/>
            </a:pPr>
            <a:r>
              <a:rPr lang="en-US" sz="1000" b="1" dirty="0">
                <a:solidFill>
                  <a:srgbClr val="0D1B3E"/>
                </a:solidFill>
              </a:rPr>
              <a:t>Multi-currency + multi-timezone (Arch A6)</a:t>
            </a:r>
            <a:endParaRPr lang="en-US" sz="1000" dirty="0"/>
          </a:p>
        </p:txBody>
      </p:sp>
      <p:sp>
        <p:nvSpPr>
          <p:cNvPr id="22" name="Text 20"/>
          <p:cNvSpPr/>
          <p:nvPr/>
        </p:nvSpPr>
        <p:spPr>
          <a:xfrm>
            <a:off x="4901184" y="1609344"/>
            <a:ext cx="3840480" cy="182880"/>
          </a:xfrm>
          <a:prstGeom prst="rect">
            <a:avLst/>
          </a:prstGeom>
          <a:noFill/>
          <a:ln/>
        </p:spPr>
        <p:txBody>
          <a:bodyPr wrap="square" lIns="0" tIns="0" rIns="0" bIns="0" rtlCol="0" anchor="ctr"/>
          <a:lstStyle/>
          <a:p>
            <a:pPr indent="0" marL="0">
              <a:buNone/>
            </a:pPr>
            <a:r>
              <a:rPr lang="en-US" sz="950" dirty="0">
                <a:solidFill>
                  <a:srgbClr val="92400E"/>
                </a:solidFill>
              </a:rPr>
              <a:t>Required for any non-India institution</a:t>
            </a:r>
            <a:endParaRPr lang="en-US" sz="950" dirty="0"/>
          </a:p>
        </p:txBody>
      </p:sp>
      <p:sp>
        <p:nvSpPr>
          <p:cNvPr id="23" name="Shape 21"/>
          <p:cNvSpPr/>
          <p:nvPr/>
        </p:nvSpPr>
        <p:spPr>
          <a:xfrm>
            <a:off x="4754880" y="1920240"/>
            <a:ext cx="4114800" cy="493776"/>
          </a:xfrm>
          <a:prstGeom prst="roundRect">
            <a:avLst>
              <a:gd name="adj" fmla="val 11111"/>
            </a:avLst>
          </a:prstGeom>
          <a:solidFill>
            <a:srgbClr val="FFFBEB"/>
          </a:solidFill>
          <a:ln w="12700">
            <a:solidFill>
              <a:srgbClr val="FCD34D"/>
            </a:solidFill>
            <a:prstDash val="solid"/>
          </a:ln>
        </p:spPr>
      </p:sp>
      <p:sp>
        <p:nvSpPr>
          <p:cNvPr id="24" name="Text 22"/>
          <p:cNvSpPr/>
          <p:nvPr/>
        </p:nvSpPr>
        <p:spPr>
          <a:xfrm>
            <a:off x="4901184" y="1956816"/>
            <a:ext cx="3840480" cy="219456"/>
          </a:xfrm>
          <a:prstGeom prst="rect">
            <a:avLst/>
          </a:prstGeom>
          <a:noFill/>
          <a:ln/>
        </p:spPr>
        <p:txBody>
          <a:bodyPr wrap="square" lIns="0" tIns="0" rIns="0" bIns="0" rtlCol="0" anchor="ctr"/>
          <a:lstStyle/>
          <a:p>
            <a:pPr indent="0" marL="0">
              <a:buNone/>
            </a:pPr>
            <a:r>
              <a:rPr lang="en-US" sz="1000" b="1" dirty="0">
                <a:solidFill>
                  <a:srgbClr val="0D1B3E"/>
                </a:solidFill>
              </a:rPr>
              <a:t>LMS expansion — SCORM, assignments, gradebook</a:t>
            </a:r>
            <a:endParaRPr lang="en-US" sz="1000" dirty="0"/>
          </a:p>
        </p:txBody>
      </p:sp>
      <p:sp>
        <p:nvSpPr>
          <p:cNvPr id="25" name="Text 23"/>
          <p:cNvSpPr/>
          <p:nvPr/>
        </p:nvSpPr>
        <p:spPr>
          <a:xfrm>
            <a:off x="4901184" y="2176272"/>
            <a:ext cx="3840480" cy="182880"/>
          </a:xfrm>
          <a:prstGeom prst="rect">
            <a:avLst/>
          </a:prstGeom>
          <a:noFill/>
          <a:ln/>
        </p:spPr>
        <p:txBody>
          <a:bodyPr wrap="square" lIns="0" tIns="0" rIns="0" bIns="0" rtlCol="0" anchor="ctr"/>
          <a:lstStyle/>
          <a:p>
            <a:pPr indent="0" marL="0">
              <a:buNone/>
            </a:pPr>
            <a:r>
              <a:rPr lang="en-US" sz="950" dirty="0">
                <a:solidFill>
                  <a:srgbClr val="92400E"/>
                </a:solidFill>
              </a:rPr>
              <a:t>Global ERP standard — currently too thin</a:t>
            </a:r>
            <a:endParaRPr lang="en-US" sz="950" dirty="0"/>
          </a:p>
        </p:txBody>
      </p:sp>
      <p:sp>
        <p:nvSpPr>
          <p:cNvPr id="26" name="Shape 24"/>
          <p:cNvSpPr/>
          <p:nvPr/>
        </p:nvSpPr>
        <p:spPr>
          <a:xfrm>
            <a:off x="4754880" y="2487168"/>
            <a:ext cx="4114800" cy="493776"/>
          </a:xfrm>
          <a:prstGeom prst="roundRect">
            <a:avLst>
              <a:gd name="adj" fmla="val 11111"/>
            </a:avLst>
          </a:prstGeom>
          <a:solidFill>
            <a:srgbClr val="FFFBEB"/>
          </a:solidFill>
          <a:ln w="12700">
            <a:solidFill>
              <a:srgbClr val="FCD34D"/>
            </a:solidFill>
            <a:prstDash val="solid"/>
          </a:ln>
        </p:spPr>
      </p:sp>
      <p:sp>
        <p:nvSpPr>
          <p:cNvPr id="27" name="Text 25"/>
          <p:cNvSpPr/>
          <p:nvPr/>
        </p:nvSpPr>
        <p:spPr>
          <a:xfrm>
            <a:off x="4901184" y="2523744"/>
            <a:ext cx="3840480" cy="219456"/>
          </a:xfrm>
          <a:prstGeom prst="rect">
            <a:avLst/>
          </a:prstGeom>
          <a:noFill/>
          <a:ln/>
        </p:spPr>
        <p:txBody>
          <a:bodyPr wrap="square" lIns="0" tIns="0" rIns="0" bIns="0" rtlCol="0" anchor="ctr"/>
          <a:lstStyle/>
          <a:p>
            <a:pPr indent="0" marL="0">
              <a:buNone/>
            </a:pPr>
            <a:r>
              <a:rPr lang="en-US" sz="1000" b="1" dirty="0">
                <a:solidFill>
                  <a:srgbClr val="0D1B3E"/>
                </a:solidFill>
              </a:rPr>
              <a:t>Admissions CRM + merit list (5A-sub)</a:t>
            </a:r>
            <a:endParaRPr lang="en-US" sz="1000" dirty="0"/>
          </a:p>
        </p:txBody>
      </p:sp>
      <p:sp>
        <p:nvSpPr>
          <p:cNvPr id="28" name="Text 26"/>
          <p:cNvSpPr/>
          <p:nvPr/>
        </p:nvSpPr>
        <p:spPr>
          <a:xfrm>
            <a:off x="4901184" y="2743200"/>
            <a:ext cx="3840480" cy="182880"/>
          </a:xfrm>
          <a:prstGeom prst="rect">
            <a:avLst/>
          </a:prstGeom>
          <a:noFill/>
          <a:ln/>
        </p:spPr>
        <p:txBody>
          <a:bodyPr wrap="square" lIns="0" tIns="0" rIns="0" bIns="0" rtlCol="0" anchor="ctr"/>
          <a:lstStyle/>
          <a:p>
            <a:pPr indent="0" marL="0">
              <a:buNone/>
            </a:pPr>
            <a:r>
              <a:rPr lang="en-US" sz="950" dirty="0">
                <a:solidFill>
                  <a:srgbClr val="92400E"/>
                </a:solidFill>
              </a:rPr>
              <a:t>No enquiry → offer letter pipeline yet</a:t>
            </a:r>
            <a:endParaRPr lang="en-US" sz="950" dirty="0"/>
          </a:p>
        </p:txBody>
      </p:sp>
      <p:sp>
        <p:nvSpPr>
          <p:cNvPr id="29" name="Shape 27"/>
          <p:cNvSpPr/>
          <p:nvPr/>
        </p:nvSpPr>
        <p:spPr>
          <a:xfrm>
            <a:off x="4754880" y="3054096"/>
            <a:ext cx="4114800" cy="493776"/>
          </a:xfrm>
          <a:prstGeom prst="roundRect">
            <a:avLst>
              <a:gd name="adj" fmla="val 11111"/>
            </a:avLst>
          </a:prstGeom>
          <a:solidFill>
            <a:srgbClr val="FFFBEB"/>
          </a:solidFill>
          <a:ln w="12700">
            <a:solidFill>
              <a:srgbClr val="FCD34D"/>
            </a:solidFill>
            <a:prstDash val="solid"/>
          </a:ln>
        </p:spPr>
      </p:sp>
      <p:sp>
        <p:nvSpPr>
          <p:cNvPr id="30" name="Text 28"/>
          <p:cNvSpPr/>
          <p:nvPr/>
        </p:nvSpPr>
        <p:spPr>
          <a:xfrm>
            <a:off x="4901184" y="3090672"/>
            <a:ext cx="3840480" cy="219456"/>
          </a:xfrm>
          <a:prstGeom prst="rect">
            <a:avLst/>
          </a:prstGeom>
          <a:noFill/>
          <a:ln/>
        </p:spPr>
        <p:txBody>
          <a:bodyPr wrap="square" lIns="0" tIns="0" rIns="0" bIns="0" rtlCol="0" anchor="ctr"/>
          <a:lstStyle/>
          <a:p>
            <a:pPr indent="0" marL="0">
              <a:buNone/>
            </a:pPr>
            <a:r>
              <a:rPr lang="en-US" sz="1000" b="1" dirty="0">
                <a:solidFill>
                  <a:srgbClr val="0D1B3E"/>
                </a:solidFill>
              </a:rPr>
              <a:t>NAAC SSR central report builder (7F-sub)</a:t>
            </a:r>
            <a:endParaRPr lang="en-US" sz="1000" dirty="0"/>
          </a:p>
        </p:txBody>
      </p:sp>
      <p:sp>
        <p:nvSpPr>
          <p:cNvPr id="31" name="Text 29"/>
          <p:cNvSpPr/>
          <p:nvPr/>
        </p:nvSpPr>
        <p:spPr>
          <a:xfrm>
            <a:off x="4901184" y="3310128"/>
            <a:ext cx="3840480" cy="182880"/>
          </a:xfrm>
          <a:prstGeom prst="rect">
            <a:avLst/>
          </a:prstGeom>
          <a:noFill/>
          <a:ln/>
        </p:spPr>
        <p:txBody>
          <a:bodyPr wrap="square" lIns="0" tIns="0" rIns="0" bIns="0" rtlCol="0" anchor="ctr"/>
          <a:lstStyle/>
          <a:p>
            <a:pPr indent="0" marL="0">
              <a:buNone/>
            </a:pPr>
            <a:r>
              <a:rPr lang="en-US" sz="950" dirty="0">
                <a:solidFill>
                  <a:srgbClr val="92400E"/>
                </a:solidFill>
              </a:rPr>
              <a:t>Institutions need one-click NAAC submission</a:t>
            </a:r>
            <a:endParaRPr lang="en-US" sz="950" dirty="0"/>
          </a:p>
        </p:txBody>
      </p:sp>
      <p:sp>
        <p:nvSpPr>
          <p:cNvPr id="32" name="Text 30"/>
          <p:cNvSpPr/>
          <p:nvPr/>
        </p:nvSpPr>
        <p:spPr>
          <a:xfrm>
            <a:off x="274320" y="4572000"/>
            <a:ext cx="8595360" cy="320040"/>
          </a:xfrm>
          <a:prstGeom prst="rect">
            <a:avLst/>
          </a:prstGeom>
          <a:noFill/>
          <a:ln/>
        </p:spPr>
        <p:txBody>
          <a:bodyPr wrap="square" rtlCol="0" anchor="ctr"/>
          <a:lstStyle/>
          <a:p>
            <a:pPr algn="ctr" indent="0" marL="0">
              <a:buNone/>
            </a:pPr>
            <a:r>
              <a:rPr lang="en-US" sz="1200" b="1" dirty="0">
                <a:solidFill>
                  <a:srgbClr val="C53030"/>
                </a:solidFill>
              </a:rPr>
              <a:t>Phase 2.5 must be completed before onboarding any paying institution.</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D1B3E"/>
          </a:solidFill>
          <a:ln w="12700">
            <a:solidFill>
              <a:srgbClr val="0D1B3E"/>
            </a:solidFill>
            <a:prstDash val="solid"/>
          </a:ln>
        </p:spPr>
      </p:sp>
      <p:sp>
        <p:nvSpPr>
          <p:cNvPr id="3" name="Text 1"/>
          <p:cNvSpPr/>
          <p:nvPr/>
        </p:nvSpPr>
        <p:spPr>
          <a:xfrm>
            <a:off x="365760" y="0"/>
            <a:ext cx="8412480" cy="822960"/>
          </a:xfrm>
          <a:prstGeom prst="rect">
            <a:avLst/>
          </a:prstGeom>
          <a:noFill/>
          <a:ln/>
        </p:spPr>
        <p:txBody>
          <a:bodyPr wrap="square" rtlCol="0" anchor="ctr"/>
          <a:lstStyle/>
          <a:p>
            <a:pPr indent="0" marL="0">
              <a:buNone/>
            </a:pPr>
            <a:r>
              <a:rPr lang="en-US" sz="1100" b="1" spc="500" kern="0" dirty="0">
                <a:solidFill>
                  <a:srgbClr val="028090"/>
                </a:solidFill>
              </a:rPr>
              <a:t>AURA'S STRATEGIC MOAT</a:t>
            </a:r>
            <a:endParaRPr lang="en-US" sz="1100" dirty="0"/>
          </a:p>
        </p:txBody>
      </p:sp>
      <p:sp>
        <p:nvSpPr>
          <p:cNvPr id="4" name="Shape 2"/>
          <p:cNvSpPr/>
          <p:nvPr/>
        </p:nvSpPr>
        <p:spPr>
          <a:xfrm>
            <a:off x="274320" y="960120"/>
            <a:ext cx="2788920" cy="1737360"/>
          </a:xfrm>
          <a:prstGeom prst="roundRect">
            <a:avLst>
              <a:gd name="adj" fmla="val 5263"/>
            </a:avLst>
          </a:prstGeom>
          <a:solidFill>
            <a:srgbClr val="FFFFFF"/>
          </a:solidFill>
          <a:ln w="12700">
            <a:solidFill>
              <a:srgbClr val="CBD5E1"/>
            </a:solidFill>
            <a:prstDash val="solid"/>
          </a:ln>
          <a:effectLst>
            <a:outerShdw sx="100000" sy="100000" kx="0" ky="0" algn="bl" rotWithShape="0" blurRad="101600" dist="25400" dir="2700000">
              <a:srgbClr val="000000">
                <a:alpha val="12000"/>
              </a:srgbClr>
            </a:outerShdw>
          </a:effectLst>
        </p:spPr>
      </p:sp>
      <p:sp>
        <p:nvSpPr>
          <p:cNvPr id="5" name="Text 3"/>
          <p:cNvSpPr/>
          <p:nvPr/>
        </p:nvSpPr>
        <p:spPr>
          <a:xfrm>
            <a:off x="402336" y="1069848"/>
            <a:ext cx="420624" cy="402336"/>
          </a:xfrm>
          <a:prstGeom prst="rect">
            <a:avLst/>
          </a:prstGeom>
          <a:noFill/>
          <a:ln/>
        </p:spPr>
        <p:txBody>
          <a:bodyPr wrap="square" lIns="0" tIns="0" rIns="0" bIns="0" rtlCol="0" anchor="ctr"/>
          <a:lstStyle/>
          <a:p>
            <a:pPr indent="0" marL="0">
              <a:buNone/>
            </a:pPr>
            <a:r>
              <a:rPr lang="en-US" sz="2200" dirty="0">
                <a:solidFill>
                  <a:srgbClr val="000000"/>
                </a:solidFill>
              </a:rPr>
              <a:t>🎯</a:t>
            </a:r>
            <a:endParaRPr lang="en-US" sz="2200" dirty="0"/>
          </a:p>
        </p:txBody>
      </p:sp>
      <p:sp>
        <p:nvSpPr>
          <p:cNvPr id="6" name="Text 4"/>
          <p:cNvSpPr/>
          <p:nvPr/>
        </p:nvSpPr>
        <p:spPr>
          <a:xfrm>
            <a:off x="822960" y="1088136"/>
            <a:ext cx="2112264" cy="365760"/>
          </a:xfrm>
          <a:prstGeom prst="rect">
            <a:avLst/>
          </a:prstGeom>
          <a:noFill/>
          <a:ln/>
        </p:spPr>
        <p:txBody>
          <a:bodyPr wrap="square" lIns="0" tIns="0" rIns="0" bIns="0" rtlCol="0" anchor="ctr"/>
          <a:lstStyle/>
          <a:p>
            <a:pPr indent="0" marL="0">
              <a:buNone/>
            </a:pPr>
            <a:r>
              <a:rPr lang="en-US" sz="1100" b="1" dirty="0">
                <a:solidFill>
                  <a:srgbClr val="0D1B3E"/>
                </a:solidFill>
              </a:rPr>
              <a:t>NAAC-native architecture</a:t>
            </a:r>
            <a:endParaRPr lang="en-US" sz="1100" dirty="0"/>
          </a:p>
        </p:txBody>
      </p:sp>
      <p:sp>
        <p:nvSpPr>
          <p:cNvPr id="7" name="Text 5"/>
          <p:cNvSpPr/>
          <p:nvPr/>
        </p:nvSpPr>
        <p:spPr>
          <a:xfrm>
            <a:off x="402336" y="1527048"/>
            <a:ext cx="2532888" cy="1051560"/>
          </a:xfrm>
          <a:prstGeom prst="rect">
            <a:avLst/>
          </a:prstGeom>
          <a:noFill/>
          <a:ln/>
        </p:spPr>
        <p:txBody>
          <a:bodyPr wrap="square" lIns="0" tIns="0" rIns="0" bIns="0" rtlCol="0" anchor="ctr"/>
          <a:lstStyle/>
          <a:p>
            <a:pPr indent="0" marL="0">
              <a:buNone/>
            </a:pPr>
            <a:r>
              <a:rPr lang="en-US" sz="1000" dirty="0">
                <a:solidFill>
                  <a:srgbClr val="64748B"/>
                </a:solidFill>
              </a:rPr>
              <a:t>Every module maps to a NAAC criterion. No competitor has done this. Switching cost is enormous once an institution's accreditation data lives in Aura.</a:t>
            </a:r>
            <a:endParaRPr lang="en-US" sz="1000" dirty="0"/>
          </a:p>
        </p:txBody>
      </p:sp>
      <p:sp>
        <p:nvSpPr>
          <p:cNvPr id="8" name="Shape 6"/>
          <p:cNvSpPr/>
          <p:nvPr/>
        </p:nvSpPr>
        <p:spPr>
          <a:xfrm>
            <a:off x="3227832" y="960120"/>
            <a:ext cx="2788920" cy="1737360"/>
          </a:xfrm>
          <a:prstGeom prst="roundRect">
            <a:avLst>
              <a:gd name="adj" fmla="val 5263"/>
            </a:avLst>
          </a:prstGeom>
          <a:solidFill>
            <a:srgbClr val="FFFFFF"/>
          </a:solidFill>
          <a:ln w="12700">
            <a:solidFill>
              <a:srgbClr val="CBD5E1"/>
            </a:solidFill>
            <a:prstDash val="solid"/>
          </a:ln>
          <a:effectLst>
            <a:outerShdw sx="100000" sy="100000" kx="0" ky="0" algn="bl" rotWithShape="0" blurRad="101600" dist="25400" dir="2700000">
              <a:srgbClr val="000000">
                <a:alpha val="12000"/>
              </a:srgbClr>
            </a:outerShdw>
          </a:effectLst>
        </p:spPr>
      </p:sp>
      <p:sp>
        <p:nvSpPr>
          <p:cNvPr id="9" name="Text 7"/>
          <p:cNvSpPr/>
          <p:nvPr/>
        </p:nvSpPr>
        <p:spPr>
          <a:xfrm>
            <a:off x="3355848" y="1069848"/>
            <a:ext cx="420624" cy="402336"/>
          </a:xfrm>
          <a:prstGeom prst="rect">
            <a:avLst/>
          </a:prstGeom>
          <a:noFill/>
          <a:ln/>
        </p:spPr>
        <p:txBody>
          <a:bodyPr wrap="square" lIns="0" tIns="0" rIns="0" bIns="0" rtlCol="0" anchor="ctr"/>
          <a:lstStyle/>
          <a:p>
            <a:pPr indent="0" marL="0">
              <a:buNone/>
            </a:pPr>
            <a:r>
              <a:rPr lang="en-US" sz="2200" dirty="0">
                <a:solidFill>
                  <a:srgbClr val="000000"/>
                </a:solidFill>
              </a:rPr>
              <a:t>🤖</a:t>
            </a:r>
            <a:endParaRPr lang="en-US" sz="2200" dirty="0"/>
          </a:p>
        </p:txBody>
      </p:sp>
      <p:sp>
        <p:nvSpPr>
          <p:cNvPr id="10" name="Text 8"/>
          <p:cNvSpPr/>
          <p:nvPr/>
        </p:nvSpPr>
        <p:spPr>
          <a:xfrm>
            <a:off x="3776472" y="1088136"/>
            <a:ext cx="2112264" cy="365760"/>
          </a:xfrm>
          <a:prstGeom prst="rect">
            <a:avLst/>
          </a:prstGeom>
          <a:noFill/>
          <a:ln/>
        </p:spPr>
        <p:txBody>
          <a:bodyPr wrap="square" lIns="0" tIns="0" rIns="0" bIns="0" rtlCol="0" anchor="ctr"/>
          <a:lstStyle/>
          <a:p>
            <a:pPr indent="0" marL="0">
              <a:buNone/>
            </a:pPr>
            <a:r>
              <a:rPr lang="en-US" sz="1100" b="1" dirty="0">
                <a:solidFill>
                  <a:srgbClr val="0D1B3E"/>
                </a:solidFill>
              </a:rPr>
              <a:t>AI timetable scheduler</a:t>
            </a:r>
            <a:endParaRPr lang="en-US" sz="1100" dirty="0"/>
          </a:p>
        </p:txBody>
      </p:sp>
      <p:sp>
        <p:nvSpPr>
          <p:cNvPr id="11" name="Text 9"/>
          <p:cNvSpPr/>
          <p:nvPr/>
        </p:nvSpPr>
        <p:spPr>
          <a:xfrm>
            <a:off x="3355848" y="1527048"/>
            <a:ext cx="2532888" cy="1051560"/>
          </a:xfrm>
          <a:prstGeom prst="rect">
            <a:avLst/>
          </a:prstGeom>
          <a:noFill/>
          <a:ln/>
        </p:spPr>
        <p:txBody>
          <a:bodyPr wrap="square" lIns="0" tIns="0" rIns="0" bIns="0" rtlCol="0" anchor="ctr"/>
          <a:lstStyle/>
          <a:p>
            <a:pPr indent="0" marL="0">
              <a:buNone/>
            </a:pPr>
            <a:r>
              <a:rPr lang="en-US" sz="1000" dirty="0">
                <a:solidFill>
                  <a:srgbClr val="64748B"/>
                </a:solidFill>
              </a:rPr>
              <a:t>Python FastAPI engine optimises constraint-heavy timetables automatically. A manual task that takes weeks now takes minutes. Unique in Indian academic ERP market.</a:t>
            </a:r>
            <a:endParaRPr lang="en-US" sz="1000" dirty="0"/>
          </a:p>
        </p:txBody>
      </p:sp>
      <p:sp>
        <p:nvSpPr>
          <p:cNvPr id="12" name="Shape 10"/>
          <p:cNvSpPr/>
          <p:nvPr/>
        </p:nvSpPr>
        <p:spPr>
          <a:xfrm>
            <a:off x="6181344" y="960120"/>
            <a:ext cx="2788920" cy="1737360"/>
          </a:xfrm>
          <a:prstGeom prst="roundRect">
            <a:avLst>
              <a:gd name="adj" fmla="val 5263"/>
            </a:avLst>
          </a:prstGeom>
          <a:solidFill>
            <a:srgbClr val="FFFFFF"/>
          </a:solidFill>
          <a:ln w="12700">
            <a:solidFill>
              <a:srgbClr val="CBD5E1"/>
            </a:solidFill>
            <a:prstDash val="solid"/>
          </a:ln>
          <a:effectLst>
            <a:outerShdw sx="100000" sy="100000" kx="0" ky="0" algn="bl" rotWithShape="0" blurRad="101600" dist="25400" dir="2700000">
              <a:srgbClr val="000000">
                <a:alpha val="12000"/>
              </a:srgbClr>
            </a:outerShdw>
          </a:effectLst>
        </p:spPr>
      </p:sp>
      <p:sp>
        <p:nvSpPr>
          <p:cNvPr id="13" name="Text 11"/>
          <p:cNvSpPr/>
          <p:nvPr/>
        </p:nvSpPr>
        <p:spPr>
          <a:xfrm>
            <a:off x="6309360" y="1069848"/>
            <a:ext cx="420624" cy="402336"/>
          </a:xfrm>
          <a:prstGeom prst="rect">
            <a:avLst/>
          </a:prstGeom>
          <a:noFill/>
          <a:ln/>
        </p:spPr>
        <p:txBody>
          <a:bodyPr wrap="square" lIns="0" tIns="0" rIns="0" bIns="0" rtlCol="0" anchor="ctr"/>
          <a:lstStyle/>
          <a:p>
            <a:pPr indent="0" marL="0">
              <a:buNone/>
            </a:pPr>
            <a:r>
              <a:rPr lang="en-US" sz="2200" dirty="0">
                <a:solidFill>
                  <a:srgbClr val="000000"/>
                </a:solidFill>
              </a:rPr>
              <a:t>🔄</a:t>
            </a:r>
            <a:endParaRPr lang="en-US" sz="2200" dirty="0"/>
          </a:p>
        </p:txBody>
      </p:sp>
      <p:sp>
        <p:nvSpPr>
          <p:cNvPr id="14" name="Text 12"/>
          <p:cNvSpPr/>
          <p:nvPr/>
        </p:nvSpPr>
        <p:spPr>
          <a:xfrm>
            <a:off x="6729984" y="1088136"/>
            <a:ext cx="2112264" cy="365760"/>
          </a:xfrm>
          <a:prstGeom prst="rect">
            <a:avLst/>
          </a:prstGeom>
          <a:noFill/>
          <a:ln/>
        </p:spPr>
        <p:txBody>
          <a:bodyPr wrap="square" lIns="0" tIns="0" rIns="0" bIns="0" rtlCol="0" anchor="ctr"/>
          <a:lstStyle/>
          <a:p>
            <a:pPr indent="0" marL="0">
              <a:buNone/>
            </a:pPr>
            <a:r>
              <a:rPr lang="en-US" sz="1100" b="1" dirty="0">
                <a:solidFill>
                  <a:srgbClr val="0D1B3E"/>
                </a:solidFill>
              </a:rPr>
              <a:t>End-to-end single data model</a:t>
            </a:r>
            <a:endParaRPr lang="en-US" sz="1100" dirty="0"/>
          </a:p>
        </p:txBody>
      </p:sp>
      <p:sp>
        <p:nvSpPr>
          <p:cNvPr id="15" name="Text 13"/>
          <p:cNvSpPr/>
          <p:nvPr/>
        </p:nvSpPr>
        <p:spPr>
          <a:xfrm>
            <a:off x="6309360" y="1527048"/>
            <a:ext cx="2532888" cy="1051560"/>
          </a:xfrm>
          <a:prstGeom prst="rect">
            <a:avLst/>
          </a:prstGeom>
          <a:noFill/>
          <a:ln/>
        </p:spPr>
        <p:txBody>
          <a:bodyPr wrap="square" lIns="0" tIns="0" rIns="0" bIns="0" rtlCol="0" anchor="ctr"/>
          <a:lstStyle/>
          <a:p>
            <a:pPr indent="0" marL="0">
              <a:buNone/>
            </a:pPr>
            <a:r>
              <a:rPr lang="en-US" sz="1000" dirty="0">
                <a:solidFill>
                  <a:srgbClr val="64748B"/>
                </a:solidFill>
              </a:rPr>
              <a:t>Student enrolled once, data flows through attendance → marks → fees → promotion → alumni without re-entry. Competitors stitch 5 systems together.</a:t>
            </a:r>
            <a:endParaRPr lang="en-US" sz="1000" dirty="0"/>
          </a:p>
        </p:txBody>
      </p:sp>
      <p:sp>
        <p:nvSpPr>
          <p:cNvPr id="16" name="Shape 14"/>
          <p:cNvSpPr/>
          <p:nvPr/>
        </p:nvSpPr>
        <p:spPr>
          <a:xfrm>
            <a:off x="274320" y="2834640"/>
            <a:ext cx="2788920" cy="1737360"/>
          </a:xfrm>
          <a:prstGeom prst="roundRect">
            <a:avLst>
              <a:gd name="adj" fmla="val 5263"/>
            </a:avLst>
          </a:prstGeom>
          <a:solidFill>
            <a:srgbClr val="FFFFFF"/>
          </a:solidFill>
          <a:ln w="12700">
            <a:solidFill>
              <a:srgbClr val="CBD5E1"/>
            </a:solidFill>
            <a:prstDash val="solid"/>
          </a:ln>
          <a:effectLst>
            <a:outerShdw sx="100000" sy="100000" kx="0" ky="0" algn="bl" rotWithShape="0" blurRad="101600" dist="25400" dir="2700000">
              <a:srgbClr val="000000">
                <a:alpha val="12000"/>
              </a:srgbClr>
            </a:outerShdw>
          </a:effectLst>
        </p:spPr>
      </p:sp>
      <p:sp>
        <p:nvSpPr>
          <p:cNvPr id="17" name="Text 15"/>
          <p:cNvSpPr/>
          <p:nvPr/>
        </p:nvSpPr>
        <p:spPr>
          <a:xfrm>
            <a:off x="402336" y="2944368"/>
            <a:ext cx="420624" cy="402336"/>
          </a:xfrm>
          <a:prstGeom prst="rect">
            <a:avLst/>
          </a:prstGeom>
          <a:noFill/>
          <a:ln/>
        </p:spPr>
        <p:txBody>
          <a:bodyPr wrap="square" lIns="0" tIns="0" rIns="0" bIns="0" rtlCol="0" anchor="ctr"/>
          <a:lstStyle/>
          <a:p>
            <a:pPr indent="0" marL="0">
              <a:buNone/>
            </a:pPr>
            <a:r>
              <a:rPr lang="en-US" sz="2200" dirty="0">
                <a:solidFill>
                  <a:srgbClr val="000000"/>
                </a:solidFill>
              </a:rPr>
              <a:t>📱</a:t>
            </a:r>
            <a:endParaRPr lang="en-US" sz="2200" dirty="0"/>
          </a:p>
        </p:txBody>
      </p:sp>
      <p:sp>
        <p:nvSpPr>
          <p:cNvPr id="18" name="Text 16"/>
          <p:cNvSpPr/>
          <p:nvPr/>
        </p:nvSpPr>
        <p:spPr>
          <a:xfrm>
            <a:off x="822960" y="2962656"/>
            <a:ext cx="2112264" cy="365760"/>
          </a:xfrm>
          <a:prstGeom prst="rect">
            <a:avLst/>
          </a:prstGeom>
          <a:noFill/>
          <a:ln/>
        </p:spPr>
        <p:txBody>
          <a:bodyPr wrap="square" lIns="0" tIns="0" rIns="0" bIns="0" rtlCol="0" anchor="ctr"/>
          <a:lstStyle/>
          <a:p>
            <a:pPr indent="0" marL="0">
              <a:buNone/>
            </a:pPr>
            <a:r>
              <a:rPr lang="en-US" sz="1100" b="1" dirty="0">
                <a:solidFill>
                  <a:srgbClr val="0D1B3E"/>
                </a:solidFill>
              </a:rPr>
              <a:t>Modern stack advantage</a:t>
            </a:r>
            <a:endParaRPr lang="en-US" sz="1100" dirty="0"/>
          </a:p>
        </p:txBody>
      </p:sp>
      <p:sp>
        <p:nvSpPr>
          <p:cNvPr id="19" name="Text 17"/>
          <p:cNvSpPr/>
          <p:nvPr/>
        </p:nvSpPr>
        <p:spPr>
          <a:xfrm>
            <a:off x="402336" y="3401568"/>
            <a:ext cx="2532888" cy="1051560"/>
          </a:xfrm>
          <a:prstGeom prst="rect">
            <a:avLst/>
          </a:prstGeom>
          <a:noFill/>
          <a:ln/>
        </p:spPr>
        <p:txBody>
          <a:bodyPr wrap="square" lIns="0" tIns="0" rIns="0" bIns="0" rtlCol="0" anchor="ctr"/>
          <a:lstStyle/>
          <a:p>
            <a:pPr indent="0" marL="0">
              <a:buNone/>
            </a:pPr>
            <a:r>
              <a:rPr lang="en-US" sz="1000" dirty="0">
                <a:solidFill>
                  <a:srgbClr val="64748B"/>
                </a:solidFill>
              </a:rPr>
              <a:t>Next.js App Router + Supabase + real-time. Competitors are 10–15 year old codebases. Aura ships features in days that legacy systems take quarters to plan.</a:t>
            </a:r>
            <a:endParaRPr lang="en-US" sz="1000" dirty="0"/>
          </a:p>
        </p:txBody>
      </p:sp>
      <p:sp>
        <p:nvSpPr>
          <p:cNvPr id="20" name="Shape 18"/>
          <p:cNvSpPr/>
          <p:nvPr/>
        </p:nvSpPr>
        <p:spPr>
          <a:xfrm>
            <a:off x="3227832" y="2834640"/>
            <a:ext cx="2788920" cy="1737360"/>
          </a:xfrm>
          <a:prstGeom prst="roundRect">
            <a:avLst>
              <a:gd name="adj" fmla="val 5263"/>
            </a:avLst>
          </a:prstGeom>
          <a:solidFill>
            <a:srgbClr val="FFFFFF"/>
          </a:solidFill>
          <a:ln w="12700">
            <a:solidFill>
              <a:srgbClr val="CBD5E1"/>
            </a:solidFill>
            <a:prstDash val="solid"/>
          </a:ln>
          <a:effectLst>
            <a:outerShdw sx="100000" sy="100000" kx="0" ky="0" algn="bl" rotWithShape="0" blurRad="101600" dist="25400" dir="2700000">
              <a:srgbClr val="000000">
                <a:alpha val="12000"/>
              </a:srgbClr>
            </a:outerShdw>
          </a:effectLst>
        </p:spPr>
      </p:sp>
      <p:sp>
        <p:nvSpPr>
          <p:cNvPr id="21" name="Text 19"/>
          <p:cNvSpPr/>
          <p:nvPr/>
        </p:nvSpPr>
        <p:spPr>
          <a:xfrm>
            <a:off x="3355848" y="2944368"/>
            <a:ext cx="420624" cy="402336"/>
          </a:xfrm>
          <a:prstGeom prst="rect">
            <a:avLst/>
          </a:prstGeom>
          <a:noFill/>
          <a:ln/>
        </p:spPr>
        <p:txBody>
          <a:bodyPr wrap="square" lIns="0" tIns="0" rIns="0" bIns="0" rtlCol="0" anchor="ctr"/>
          <a:lstStyle/>
          <a:p>
            <a:pPr indent="0" marL="0">
              <a:buNone/>
            </a:pPr>
            <a:r>
              <a:rPr lang="en-US" sz="2200" dirty="0">
                <a:solidFill>
                  <a:srgbClr val="000000"/>
                </a:solidFill>
              </a:rPr>
              <a:t>💰</a:t>
            </a:r>
            <a:endParaRPr lang="en-US" sz="2200" dirty="0"/>
          </a:p>
        </p:txBody>
      </p:sp>
      <p:sp>
        <p:nvSpPr>
          <p:cNvPr id="22" name="Text 20"/>
          <p:cNvSpPr/>
          <p:nvPr/>
        </p:nvSpPr>
        <p:spPr>
          <a:xfrm>
            <a:off x="3776472" y="2962656"/>
            <a:ext cx="2112264" cy="365760"/>
          </a:xfrm>
          <a:prstGeom prst="rect">
            <a:avLst/>
          </a:prstGeom>
          <a:noFill/>
          <a:ln/>
        </p:spPr>
        <p:txBody>
          <a:bodyPr wrap="square" lIns="0" tIns="0" rIns="0" bIns="0" rtlCol="0" anchor="ctr"/>
          <a:lstStyle/>
          <a:p>
            <a:pPr indent="0" marL="0">
              <a:buNone/>
            </a:pPr>
            <a:r>
              <a:rPr lang="en-US" sz="1100" b="1" dirty="0">
                <a:solidFill>
                  <a:srgbClr val="0D1B3E"/>
                </a:solidFill>
              </a:rPr>
              <a:t>Price disruption</a:t>
            </a:r>
            <a:endParaRPr lang="en-US" sz="1100" dirty="0"/>
          </a:p>
        </p:txBody>
      </p:sp>
      <p:sp>
        <p:nvSpPr>
          <p:cNvPr id="23" name="Text 21"/>
          <p:cNvSpPr/>
          <p:nvPr/>
        </p:nvSpPr>
        <p:spPr>
          <a:xfrm>
            <a:off x="3355848" y="3401568"/>
            <a:ext cx="2532888" cy="1051560"/>
          </a:xfrm>
          <a:prstGeom prst="rect">
            <a:avLst/>
          </a:prstGeom>
          <a:noFill/>
          <a:ln/>
        </p:spPr>
        <p:txBody>
          <a:bodyPr wrap="square" lIns="0" tIns="0" rIns="0" bIns="0" rtlCol="0" anchor="ctr"/>
          <a:lstStyle/>
          <a:p>
            <a:pPr indent="0" marL="0">
              <a:buNone/>
            </a:pPr>
            <a:r>
              <a:rPr lang="en-US" sz="1000" dirty="0">
                <a:solidFill>
                  <a:srgbClr val="64748B"/>
                </a:solidFill>
              </a:rPr>
              <a:t>10–50× cheaper than SAP/Oracle. 3× cheaper than Ellucian. SaaS model means no CapEx for institutions — OPEX from the first month.</a:t>
            </a:r>
            <a:endParaRPr lang="en-US" sz="1000" dirty="0"/>
          </a:p>
        </p:txBody>
      </p:sp>
      <p:sp>
        <p:nvSpPr>
          <p:cNvPr id="24" name="Shape 22"/>
          <p:cNvSpPr/>
          <p:nvPr/>
        </p:nvSpPr>
        <p:spPr>
          <a:xfrm>
            <a:off x="6181344" y="2834640"/>
            <a:ext cx="2788920" cy="1737360"/>
          </a:xfrm>
          <a:prstGeom prst="roundRect">
            <a:avLst>
              <a:gd name="adj" fmla="val 5263"/>
            </a:avLst>
          </a:prstGeom>
          <a:solidFill>
            <a:srgbClr val="FFFFFF"/>
          </a:solidFill>
          <a:ln w="12700">
            <a:solidFill>
              <a:srgbClr val="CBD5E1"/>
            </a:solidFill>
            <a:prstDash val="solid"/>
          </a:ln>
          <a:effectLst>
            <a:outerShdw sx="100000" sy="100000" kx="0" ky="0" algn="bl" rotWithShape="0" blurRad="101600" dist="25400" dir="2700000">
              <a:srgbClr val="000000">
                <a:alpha val="12000"/>
              </a:srgbClr>
            </a:outerShdw>
          </a:effectLst>
        </p:spPr>
      </p:sp>
      <p:sp>
        <p:nvSpPr>
          <p:cNvPr id="25" name="Text 23"/>
          <p:cNvSpPr/>
          <p:nvPr/>
        </p:nvSpPr>
        <p:spPr>
          <a:xfrm>
            <a:off x="6309360" y="2944368"/>
            <a:ext cx="420624" cy="402336"/>
          </a:xfrm>
          <a:prstGeom prst="rect">
            <a:avLst/>
          </a:prstGeom>
          <a:noFill/>
          <a:ln/>
        </p:spPr>
        <p:txBody>
          <a:bodyPr wrap="square" lIns="0" tIns="0" rIns="0" bIns="0" rtlCol="0" anchor="ctr"/>
          <a:lstStyle/>
          <a:p>
            <a:pPr indent="0" marL="0">
              <a:buNone/>
            </a:pPr>
            <a:r>
              <a:rPr lang="en-US" sz="2200" dirty="0">
                <a:solidFill>
                  <a:srgbClr val="000000"/>
                </a:solidFill>
              </a:rPr>
              <a:t>🌏</a:t>
            </a:r>
            <a:endParaRPr lang="en-US" sz="2200" dirty="0"/>
          </a:p>
        </p:txBody>
      </p:sp>
      <p:sp>
        <p:nvSpPr>
          <p:cNvPr id="26" name="Text 24"/>
          <p:cNvSpPr/>
          <p:nvPr/>
        </p:nvSpPr>
        <p:spPr>
          <a:xfrm>
            <a:off x="6729984" y="2962656"/>
            <a:ext cx="2112264" cy="365760"/>
          </a:xfrm>
          <a:prstGeom prst="rect">
            <a:avLst/>
          </a:prstGeom>
          <a:noFill/>
          <a:ln/>
        </p:spPr>
        <p:txBody>
          <a:bodyPr wrap="square" lIns="0" tIns="0" rIns="0" bIns="0" rtlCol="0" anchor="ctr"/>
          <a:lstStyle/>
          <a:p>
            <a:pPr indent="0" marL="0">
              <a:buNone/>
            </a:pPr>
            <a:r>
              <a:rPr lang="en-US" sz="1100" b="1" dirty="0">
                <a:solidFill>
                  <a:srgbClr val="0D1B3E"/>
                </a:solidFill>
              </a:rPr>
              <a:t>Indian diaspora network effect</a:t>
            </a:r>
            <a:endParaRPr lang="en-US" sz="1100" dirty="0"/>
          </a:p>
        </p:txBody>
      </p:sp>
      <p:sp>
        <p:nvSpPr>
          <p:cNvPr id="27" name="Text 25"/>
          <p:cNvSpPr/>
          <p:nvPr/>
        </p:nvSpPr>
        <p:spPr>
          <a:xfrm>
            <a:off x="6309360" y="3401568"/>
            <a:ext cx="2532888" cy="1051560"/>
          </a:xfrm>
          <a:prstGeom prst="rect">
            <a:avLst/>
          </a:prstGeom>
          <a:noFill/>
          <a:ln/>
        </p:spPr>
        <p:txBody>
          <a:bodyPr wrap="square" lIns="0" tIns="0" rIns="0" bIns="0" rtlCol="0" anchor="ctr"/>
          <a:lstStyle/>
          <a:p>
            <a:pPr indent="0" marL="0">
              <a:buNone/>
            </a:pPr>
            <a:r>
              <a:rPr lang="en-US" sz="1000" dirty="0">
                <a:solidFill>
                  <a:srgbClr val="64748B"/>
                </a:solidFill>
              </a:rPr>
              <a:t>Indian academic administrators run institutions in UAE, UK, Australia, SE Asia. NAAC familiarity travels with them. Global expansion without global marketing budget.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D1B3E"/>
          </a:solidFill>
          <a:ln w="12700">
            <a:solidFill>
              <a:srgbClr val="0D1B3E"/>
            </a:solidFill>
            <a:prstDash val="solid"/>
          </a:ln>
        </p:spPr>
      </p:sp>
      <p:sp>
        <p:nvSpPr>
          <p:cNvPr id="3" name="Text 1"/>
          <p:cNvSpPr/>
          <p:nvPr/>
        </p:nvSpPr>
        <p:spPr>
          <a:xfrm>
            <a:off x="365760" y="0"/>
            <a:ext cx="8412480" cy="822960"/>
          </a:xfrm>
          <a:prstGeom prst="rect">
            <a:avLst/>
          </a:prstGeom>
          <a:noFill/>
          <a:ln/>
        </p:spPr>
        <p:txBody>
          <a:bodyPr wrap="square" rtlCol="0" anchor="ctr"/>
          <a:lstStyle/>
          <a:p>
            <a:pPr indent="0" marL="0">
              <a:buNone/>
            </a:pPr>
            <a:r>
              <a:rPr lang="en-US" sz="1100" b="1" spc="500" kern="0" dirty="0">
                <a:solidFill>
                  <a:srgbClr val="028090"/>
                </a:solidFill>
              </a:rPr>
              <a:t>EXPANSION ROADMAP — 3 HORIZONS</a:t>
            </a:r>
            <a:endParaRPr lang="en-US" sz="1100" dirty="0"/>
          </a:p>
        </p:txBody>
      </p:sp>
      <p:sp>
        <p:nvSpPr>
          <p:cNvPr id="4" name="Shape 2"/>
          <p:cNvSpPr/>
          <p:nvPr/>
        </p:nvSpPr>
        <p:spPr>
          <a:xfrm>
            <a:off x="274320" y="914400"/>
            <a:ext cx="2788920" cy="3931920"/>
          </a:xfrm>
          <a:prstGeom prst="roundRect">
            <a:avLst>
              <a:gd name="adj" fmla="val 3934"/>
            </a:avLst>
          </a:prstGeom>
          <a:solidFill>
            <a:srgbClr val="FFFFFF"/>
          </a:solidFill>
          <a:ln w="12700">
            <a:solidFill>
              <a:srgbClr val="028090">
                <a:alpha val="70000"/>
              </a:srgbClr>
            </a:solidFill>
            <a:prstDash val="solid"/>
          </a:ln>
          <a:effectLst>
            <a:outerShdw sx="100000" sy="100000" kx="0" ky="0" algn="bl" rotWithShape="0" blurRad="101600" dist="25400" dir="2700000">
              <a:srgbClr val="000000">
                <a:alpha val="12000"/>
              </a:srgbClr>
            </a:outerShdw>
          </a:effectLst>
        </p:spPr>
      </p:sp>
      <p:sp>
        <p:nvSpPr>
          <p:cNvPr id="5" name="Shape 3"/>
          <p:cNvSpPr/>
          <p:nvPr/>
        </p:nvSpPr>
        <p:spPr>
          <a:xfrm>
            <a:off x="402336" y="1005840"/>
            <a:ext cx="2532888" cy="329184"/>
          </a:xfrm>
          <a:prstGeom prst="roundRect">
            <a:avLst>
              <a:gd name="adj" fmla="val 16667"/>
            </a:avLst>
          </a:prstGeom>
          <a:solidFill>
            <a:srgbClr val="028090"/>
          </a:solidFill>
          <a:ln w="12700">
            <a:solidFill>
              <a:srgbClr val="028090"/>
            </a:solidFill>
            <a:prstDash val="solid"/>
          </a:ln>
        </p:spPr>
      </p:sp>
      <p:sp>
        <p:nvSpPr>
          <p:cNvPr id="6" name="Text 4"/>
          <p:cNvSpPr/>
          <p:nvPr/>
        </p:nvSpPr>
        <p:spPr>
          <a:xfrm>
            <a:off x="402336" y="1005840"/>
            <a:ext cx="2532888" cy="329184"/>
          </a:xfrm>
          <a:prstGeom prst="rect">
            <a:avLst/>
          </a:prstGeom>
          <a:noFill/>
          <a:ln/>
        </p:spPr>
        <p:txBody>
          <a:bodyPr wrap="square" lIns="0" tIns="0" rIns="0" bIns="0" rtlCol="0" anchor="ctr"/>
          <a:lstStyle/>
          <a:p>
            <a:pPr algn="ctr" indent="0" marL="0">
              <a:buNone/>
            </a:pPr>
            <a:r>
              <a:rPr lang="en-US" sz="1100" b="1" dirty="0">
                <a:solidFill>
                  <a:srgbClr val="FFFFFF"/>
                </a:solidFill>
              </a:rPr>
              <a:t>H1 — India — Beachhead</a:t>
            </a:r>
            <a:endParaRPr lang="en-US" sz="1100" dirty="0"/>
          </a:p>
        </p:txBody>
      </p:sp>
      <p:sp>
        <p:nvSpPr>
          <p:cNvPr id="7" name="Text 5"/>
          <p:cNvSpPr/>
          <p:nvPr/>
        </p:nvSpPr>
        <p:spPr>
          <a:xfrm>
            <a:off x="402336" y="1389888"/>
            <a:ext cx="2532888" cy="256032"/>
          </a:xfrm>
          <a:prstGeom prst="rect">
            <a:avLst/>
          </a:prstGeom>
          <a:noFill/>
          <a:ln/>
        </p:spPr>
        <p:txBody>
          <a:bodyPr wrap="square" lIns="0" tIns="0" rIns="0" bIns="0" rtlCol="0" anchor="ctr"/>
          <a:lstStyle/>
          <a:p>
            <a:pPr algn="ctr" indent="0" marL="0">
              <a:buNone/>
            </a:pPr>
            <a:r>
              <a:rPr lang="en-US" sz="1000" dirty="0">
                <a:solidFill>
                  <a:srgbClr val="028090"/>
                </a:solidFill>
              </a:rPr>
              <a:t>Now → 12 months</a:t>
            </a:r>
            <a:endParaRPr lang="en-US" sz="1000" dirty="0"/>
          </a:p>
        </p:txBody>
      </p:sp>
      <p:sp>
        <p:nvSpPr>
          <p:cNvPr id="8" name="Shape 6"/>
          <p:cNvSpPr/>
          <p:nvPr/>
        </p:nvSpPr>
        <p:spPr>
          <a:xfrm>
            <a:off x="594360" y="1682496"/>
            <a:ext cx="2148840" cy="0"/>
          </a:xfrm>
          <a:prstGeom prst="line">
            <a:avLst/>
          </a:prstGeom>
          <a:noFill/>
          <a:ln w="6350">
            <a:solidFill>
              <a:srgbClr val="CBD5E1"/>
            </a:solidFill>
            <a:prstDash val="solid"/>
          </a:ln>
        </p:spPr>
      </p:sp>
      <p:sp>
        <p:nvSpPr>
          <p:cNvPr id="9" name="Shape 7"/>
          <p:cNvSpPr/>
          <p:nvPr/>
        </p:nvSpPr>
        <p:spPr>
          <a:xfrm>
            <a:off x="438912" y="1792224"/>
            <a:ext cx="109728" cy="109728"/>
          </a:xfrm>
          <a:prstGeom prst="ellipse">
            <a:avLst/>
          </a:prstGeom>
          <a:solidFill>
            <a:srgbClr val="028090"/>
          </a:solidFill>
          <a:ln w="12700">
            <a:solidFill>
              <a:srgbClr val="028090"/>
            </a:solidFill>
            <a:prstDash val="solid"/>
          </a:ln>
        </p:spPr>
      </p:sp>
      <p:sp>
        <p:nvSpPr>
          <p:cNvPr id="10" name="Text 8"/>
          <p:cNvSpPr/>
          <p:nvPr/>
        </p:nvSpPr>
        <p:spPr>
          <a:xfrm>
            <a:off x="603504" y="1746504"/>
            <a:ext cx="2331720" cy="384048"/>
          </a:xfrm>
          <a:prstGeom prst="rect">
            <a:avLst/>
          </a:prstGeom>
          <a:noFill/>
          <a:ln/>
        </p:spPr>
        <p:txBody>
          <a:bodyPr wrap="square" lIns="0" tIns="0" rIns="0" bIns="0" rtlCol="0" anchor="ctr"/>
          <a:lstStyle/>
          <a:p>
            <a:pPr indent="0" marL="0">
              <a:buNone/>
            </a:pPr>
            <a:r>
              <a:rPr lang="en-US" sz="1000" dirty="0">
                <a:solidFill>
                  <a:srgbClr val="64748B"/>
                </a:solidFill>
              </a:rPr>
              <a:t>Complete Phase 2.5 (security + compliance)</a:t>
            </a:r>
            <a:endParaRPr lang="en-US" sz="1000" dirty="0"/>
          </a:p>
        </p:txBody>
      </p:sp>
      <p:sp>
        <p:nvSpPr>
          <p:cNvPr id="11" name="Shape 9"/>
          <p:cNvSpPr/>
          <p:nvPr/>
        </p:nvSpPr>
        <p:spPr>
          <a:xfrm>
            <a:off x="438912" y="2212848"/>
            <a:ext cx="109728" cy="109728"/>
          </a:xfrm>
          <a:prstGeom prst="ellipse">
            <a:avLst/>
          </a:prstGeom>
          <a:solidFill>
            <a:srgbClr val="028090"/>
          </a:solidFill>
          <a:ln w="12700">
            <a:solidFill>
              <a:srgbClr val="028090"/>
            </a:solidFill>
            <a:prstDash val="solid"/>
          </a:ln>
        </p:spPr>
      </p:sp>
      <p:sp>
        <p:nvSpPr>
          <p:cNvPr id="12" name="Text 10"/>
          <p:cNvSpPr/>
          <p:nvPr/>
        </p:nvSpPr>
        <p:spPr>
          <a:xfrm>
            <a:off x="603504" y="2167128"/>
            <a:ext cx="2331720" cy="384048"/>
          </a:xfrm>
          <a:prstGeom prst="rect">
            <a:avLst/>
          </a:prstGeom>
          <a:noFill/>
          <a:ln/>
        </p:spPr>
        <p:txBody>
          <a:bodyPr wrap="square" lIns="0" tIns="0" rIns="0" bIns="0" rtlCol="0" anchor="ctr"/>
          <a:lstStyle/>
          <a:p>
            <a:pPr indent="0" marL="0">
              <a:buNone/>
            </a:pPr>
            <a:r>
              <a:rPr lang="en-US" sz="1000" dirty="0">
                <a:solidFill>
                  <a:srgbClr val="64748B"/>
                </a:solidFill>
              </a:rPr>
              <a:t>First 10 paying pilot institutions</a:t>
            </a:r>
            <a:endParaRPr lang="en-US" sz="1000" dirty="0"/>
          </a:p>
        </p:txBody>
      </p:sp>
      <p:sp>
        <p:nvSpPr>
          <p:cNvPr id="13" name="Shape 11"/>
          <p:cNvSpPr/>
          <p:nvPr/>
        </p:nvSpPr>
        <p:spPr>
          <a:xfrm>
            <a:off x="438912" y="2633472"/>
            <a:ext cx="109728" cy="109728"/>
          </a:xfrm>
          <a:prstGeom prst="ellipse">
            <a:avLst/>
          </a:prstGeom>
          <a:solidFill>
            <a:srgbClr val="028090"/>
          </a:solidFill>
          <a:ln w="12700">
            <a:solidFill>
              <a:srgbClr val="028090"/>
            </a:solidFill>
            <a:prstDash val="solid"/>
          </a:ln>
        </p:spPr>
      </p:sp>
      <p:sp>
        <p:nvSpPr>
          <p:cNvPr id="14" name="Text 12"/>
          <p:cNvSpPr/>
          <p:nvPr/>
        </p:nvSpPr>
        <p:spPr>
          <a:xfrm>
            <a:off x="603504" y="2587752"/>
            <a:ext cx="2331720" cy="384048"/>
          </a:xfrm>
          <a:prstGeom prst="rect">
            <a:avLst/>
          </a:prstGeom>
          <a:noFill/>
          <a:ln/>
        </p:spPr>
        <p:txBody>
          <a:bodyPr wrap="square" lIns="0" tIns="0" rIns="0" bIns="0" rtlCol="0" anchor="ctr"/>
          <a:lstStyle/>
          <a:p>
            <a:pPr indent="0" marL="0">
              <a:buNone/>
            </a:pPr>
            <a:r>
              <a:rPr lang="en-US" sz="1000" dirty="0">
                <a:solidFill>
                  <a:srgbClr val="64748B"/>
                </a:solidFill>
              </a:rPr>
              <a:t>NAAC SSR builder (Phase 7F-sub)</a:t>
            </a:r>
            <a:endParaRPr lang="en-US" sz="1000" dirty="0"/>
          </a:p>
        </p:txBody>
      </p:sp>
      <p:sp>
        <p:nvSpPr>
          <p:cNvPr id="15" name="Shape 13"/>
          <p:cNvSpPr/>
          <p:nvPr/>
        </p:nvSpPr>
        <p:spPr>
          <a:xfrm>
            <a:off x="438912" y="3054096"/>
            <a:ext cx="109728" cy="109728"/>
          </a:xfrm>
          <a:prstGeom prst="ellipse">
            <a:avLst/>
          </a:prstGeom>
          <a:solidFill>
            <a:srgbClr val="028090"/>
          </a:solidFill>
          <a:ln w="12700">
            <a:solidFill>
              <a:srgbClr val="028090"/>
            </a:solidFill>
            <a:prstDash val="solid"/>
          </a:ln>
        </p:spPr>
      </p:sp>
      <p:sp>
        <p:nvSpPr>
          <p:cNvPr id="16" name="Text 14"/>
          <p:cNvSpPr/>
          <p:nvPr/>
        </p:nvSpPr>
        <p:spPr>
          <a:xfrm>
            <a:off x="603504" y="3008376"/>
            <a:ext cx="2331720" cy="384048"/>
          </a:xfrm>
          <a:prstGeom prst="rect">
            <a:avLst/>
          </a:prstGeom>
          <a:noFill/>
          <a:ln/>
        </p:spPr>
        <p:txBody>
          <a:bodyPr wrap="square" lIns="0" tIns="0" rIns="0" bIns="0" rtlCol="0" anchor="ctr"/>
          <a:lstStyle/>
          <a:p>
            <a:pPr indent="0" marL="0">
              <a:buNone/>
            </a:pPr>
            <a:r>
              <a:rPr lang="en-US" sz="1000" dirty="0">
                <a:solidFill>
                  <a:srgbClr val="64748B"/>
                </a:solidFill>
              </a:rPr>
              <a:t>Mobile app launch (Phase 8)</a:t>
            </a:r>
            <a:endParaRPr lang="en-US" sz="1000" dirty="0"/>
          </a:p>
        </p:txBody>
      </p:sp>
      <p:sp>
        <p:nvSpPr>
          <p:cNvPr id="17" name="Shape 15"/>
          <p:cNvSpPr/>
          <p:nvPr/>
        </p:nvSpPr>
        <p:spPr>
          <a:xfrm>
            <a:off x="438912" y="3474720"/>
            <a:ext cx="109728" cy="109728"/>
          </a:xfrm>
          <a:prstGeom prst="ellipse">
            <a:avLst/>
          </a:prstGeom>
          <a:solidFill>
            <a:srgbClr val="028090"/>
          </a:solidFill>
          <a:ln w="12700">
            <a:solidFill>
              <a:srgbClr val="028090"/>
            </a:solidFill>
            <a:prstDash val="solid"/>
          </a:ln>
        </p:spPr>
      </p:sp>
      <p:sp>
        <p:nvSpPr>
          <p:cNvPr id="18" name="Text 16"/>
          <p:cNvSpPr/>
          <p:nvPr/>
        </p:nvSpPr>
        <p:spPr>
          <a:xfrm>
            <a:off x="603504" y="3429000"/>
            <a:ext cx="2331720" cy="384048"/>
          </a:xfrm>
          <a:prstGeom prst="rect">
            <a:avLst/>
          </a:prstGeom>
          <a:noFill/>
          <a:ln/>
        </p:spPr>
        <p:txBody>
          <a:bodyPr wrap="square" lIns="0" tIns="0" rIns="0" bIns="0" rtlCol="0" anchor="ctr"/>
          <a:lstStyle/>
          <a:p>
            <a:pPr indent="0" marL="0">
              <a:buNone/>
            </a:pPr>
            <a:r>
              <a:rPr lang="en-US" sz="1000" dirty="0">
                <a:solidFill>
                  <a:srgbClr val="64748B"/>
                </a:solidFill>
              </a:rPr>
              <a:t>Target: 100 institutions, ₹20 Cr ARR</a:t>
            </a:r>
            <a:endParaRPr lang="en-US" sz="1000" dirty="0"/>
          </a:p>
        </p:txBody>
      </p:sp>
      <p:sp>
        <p:nvSpPr>
          <p:cNvPr id="19" name="Shape 17"/>
          <p:cNvSpPr/>
          <p:nvPr/>
        </p:nvSpPr>
        <p:spPr>
          <a:xfrm>
            <a:off x="3227832" y="914400"/>
            <a:ext cx="2788920" cy="3931920"/>
          </a:xfrm>
          <a:prstGeom prst="roundRect">
            <a:avLst>
              <a:gd name="adj" fmla="val 3934"/>
            </a:avLst>
          </a:prstGeom>
          <a:solidFill>
            <a:srgbClr val="FFFFFF"/>
          </a:solidFill>
          <a:ln w="12700">
            <a:solidFill>
              <a:srgbClr val="F9A825">
                <a:alpha val="70000"/>
              </a:srgbClr>
            </a:solidFill>
            <a:prstDash val="solid"/>
          </a:ln>
          <a:effectLst>
            <a:outerShdw sx="100000" sy="100000" kx="0" ky="0" algn="bl" rotWithShape="0" blurRad="101600" dist="25400" dir="2700000">
              <a:srgbClr val="000000">
                <a:alpha val="12000"/>
              </a:srgbClr>
            </a:outerShdw>
          </a:effectLst>
        </p:spPr>
      </p:sp>
      <p:sp>
        <p:nvSpPr>
          <p:cNvPr id="20" name="Shape 18"/>
          <p:cNvSpPr/>
          <p:nvPr/>
        </p:nvSpPr>
        <p:spPr>
          <a:xfrm>
            <a:off x="3355848" y="1005840"/>
            <a:ext cx="2532888" cy="329184"/>
          </a:xfrm>
          <a:prstGeom prst="roundRect">
            <a:avLst>
              <a:gd name="adj" fmla="val 16667"/>
            </a:avLst>
          </a:prstGeom>
          <a:solidFill>
            <a:srgbClr val="F9A825"/>
          </a:solidFill>
          <a:ln w="12700">
            <a:solidFill>
              <a:srgbClr val="F9A825"/>
            </a:solidFill>
            <a:prstDash val="solid"/>
          </a:ln>
        </p:spPr>
      </p:sp>
      <p:sp>
        <p:nvSpPr>
          <p:cNvPr id="21" name="Text 19"/>
          <p:cNvSpPr/>
          <p:nvPr/>
        </p:nvSpPr>
        <p:spPr>
          <a:xfrm>
            <a:off x="3355848" y="1005840"/>
            <a:ext cx="2532888" cy="329184"/>
          </a:xfrm>
          <a:prstGeom prst="rect">
            <a:avLst/>
          </a:prstGeom>
          <a:noFill/>
          <a:ln/>
        </p:spPr>
        <p:txBody>
          <a:bodyPr wrap="square" lIns="0" tIns="0" rIns="0" bIns="0" rtlCol="0" anchor="ctr"/>
          <a:lstStyle/>
          <a:p>
            <a:pPr algn="ctr" indent="0" marL="0">
              <a:buNone/>
            </a:pPr>
            <a:r>
              <a:rPr lang="en-US" sz="1100" b="1" dirty="0">
                <a:solidFill>
                  <a:srgbClr val="FFFFFF"/>
                </a:solidFill>
              </a:rPr>
              <a:t>H2 — South Asia + Gulf</a:t>
            </a:r>
            <a:endParaRPr lang="en-US" sz="1100" dirty="0"/>
          </a:p>
        </p:txBody>
      </p:sp>
      <p:sp>
        <p:nvSpPr>
          <p:cNvPr id="22" name="Text 20"/>
          <p:cNvSpPr/>
          <p:nvPr/>
        </p:nvSpPr>
        <p:spPr>
          <a:xfrm>
            <a:off x="3355848" y="1389888"/>
            <a:ext cx="2532888" cy="256032"/>
          </a:xfrm>
          <a:prstGeom prst="rect">
            <a:avLst/>
          </a:prstGeom>
          <a:noFill/>
          <a:ln/>
        </p:spPr>
        <p:txBody>
          <a:bodyPr wrap="square" lIns="0" tIns="0" rIns="0" bIns="0" rtlCol="0" anchor="ctr"/>
          <a:lstStyle/>
          <a:p>
            <a:pPr algn="ctr" indent="0" marL="0">
              <a:buNone/>
            </a:pPr>
            <a:r>
              <a:rPr lang="en-US" sz="1000" dirty="0">
                <a:solidFill>
                  <a:srgbClr val="F9A825"/>
                </a:solidFill>
              </a:rPr>
              <a:t>12 → 24 months</a:t>
            </a:r>
            <a:endParaRPr lang="en-US" sz="1000" dirty="0"/>
          </a:p>
        </p:txBody>
      </p:sp>
      <p:sp>
        <p:nvSpPr>
          <p:cNvPr id="23" name="Shape 21"/>
          <p:cNvSpPr/>
          <p:nvPr/>
        </p:nvSpPr>
        <p:spPr>
          <a:xfrm>
            <a:off x="3547872" y="1682496"/>
            <a:ext cx="2148840" cy="0"/>
          </a:xfrm>
          <a:prstGeom prst="line">
            <a:avLst/>
          </a:prstGeom>
          <a:noFill/>
          <a:ln w="6350">
            <a:solidFill>
              <a:srgbClr val="CBD5E1"/>
            </a:solidFill>
            <a:prstDash val="solid"/>
          </a:ln>
        </p:spPr>
      </p:sp>
      <p:sp>
        <p:nvSpPr>
          <p:cNvPr id="24" name="Shape 22"/>
          <p:cNvSpPr/>
          <p:nvPr/>
        </p:nvSpPr>
        <p:spPr>
          <a:xfrm>
            <a:off x="3392424" y="1792224"/>
            <a:ext cx="109728" cy="109728"/>
          </a:xfrm>
          <a:prstGeom prst="ellipse">
            <a:avLst/>
          </a:prstGeom>
          <a:solidFill>
            <a:srgbClr val="F9A825"/>
          </a:solidFill>
          <a:ln w="12700">
            <a:solidFill>
              <a:srgbClr val="F9A825"/>
            </a:solidFill>
            <a:prstDash val="solid"/>
          </a:ln>
        </p:spPr>
      </p:sp>
      <p:sp>
        <p:nvSpPr>
          <p:cNvPr id="25" name="Text 23"/>
          <p:cNvSpPr/>
          <p:nvPr/>
        </p:nvSpPr>
        <p:spPr>
          <a:xfrm>
            <a:off x="3557016" y="1746504"/>
            <a:ext cx="2331720" cy="384048"/>
          </a:xfrm>
          <a:prstGeom prst="rect">
            <a:avLst/>
          </a:prstGeom>
          <a:noFill/>
          <a:ln/>
        </p:spPr>
        <p:txBody>
          <a:bodyPr wrap="square" lIns="0" tIns="0" rIns="0" bIns="0" rtlCol="0" anchor="ctr"/>
          <a:lstStyle/>
          <a:p>
            <a:pPr indent="0" marL="0">
              <a:buNone/>
            </a:pPr>
            <a:r>
              <a:rPr lang="en-US" sz="1000" dirty="0">
                <a:solidFill>
                  <a:srgbClr val="64748B"/>
                </a:solidFill>
              </a:rPr>
              <a:t>Multi-currency + timezone (Arch A6)</a:t>
            </a:r>
            <a:endParaRPr lang="en-US" sz="1000" dirty="0"/>
          </a:p>
        </p:txBody>
      </p:sp>
      <p:sp>
        <p:nvSpPr>
          <p:cNvPr id="26" name="Shape 24"/>
          <p:cNvSpPr/>
          <p:nvPr/>
        </p:nvSpPr>
        <p:spPr>
          <a:xfrm>
            <a:off x="3392424" y="2212848"/>
            <a:ext cx="109728" cy="109728"/>
          </a:xfrm>
          <a:prstGeom prst="ellipse">
            <a:avLst/>
          </a:prstGeom>
          <a:solidFill>
            <a:srgbClr val="F9A825"/>
          </a:solidFill>
          <a:ln w="12700">
            <a:solidFill>
              <a:srgbClr val="F9A825"/>
            </a:solidFill>
            <a:prstDash val="solid"/>
          </a:ln>
        </p:spPr>
      </p:sp>
      <p:sp>
        <p:nvSpPr>
          <p:cNvPr id="27" name="Text 25"/>
          <p:cNvSpPr/>
          <p:nvPr/>
        </p:nvSpPr>
        <p:spPr>
          <a:xfrm>
            <a:off x="3557016" y="2167128"/>
            <a:ext cx="2331720" cy="384048"/>
          </a:xfrm>
          <a:prstGeom prst="rect">
            <a:avLst/>
          </a:prstGeom>
          <a:noFill/>
          <a:ln/>
        </p:spPr>
        <p:txBody>
          <a:bodyPr wrap="square" lIns="0" tIns="0" rIns="0" bIns="0" rtlCol="0" anchor="ctr"/>
          <a:lstStyle/>
          <a:p>
            <a:pPr indent="0" marL="0">
              <a:buNone/>
            </a:pPr>
            <a:r>
              <a:rPr lang="en-US" sz="1000" dirty="0">
                <a:solidFill>
                  <a:srgbClr val="64748B"/>
                </a:solidFill>
              </a:rPr>
              <a:t>Sri Lanka, Bangladesh, Philippines launch</a:t>
            </a:r>
            <a:endParaRPr lang="en-US" sz="1000" dirty="0"/>
          </a:p>
        </p:txBody>
      </p:sp>
      <p:sp>
        <p:nvSpPr>
          <p:cNvPr id="28" name="Shape 26"/>
          <p:cNvSpPr/>
          <p:nvPr/>
        </p:nvSpPr>
        <p:spPr>
          <a:xfrm>
            <a:off x="3392424" y="2633472"/>
            <a:ext cx="109728" cy="109728"/>
          </a:xfrm>
          <a:prstGeom prst="ellipse">
            <a:avLst/>
          </a:prstGeom>
          <a:solidFill>
            <a:srgbClr val="F9A825"/>
          </a:solidFill>
          <a:ln w="12700">
            <a:solidFill>
              <a:srgbClr val="F9A825"/>
            </a:solidFill>
            <a:prstDash val="solid"/>
          </a:ln>
        </p:spPr>
      </p:sp>
      <p:sp>
        <p:nvSpPr>
          <p:cNvPr id="29" name="Text 27"/>
          <p:cNvSpPr/>
          <p:nvPr/>
        </p:nvSpPr>
        <p:spPr>
          <a:xfrm>
            <a:off x="3557016" y="2587752"/>
            <a:ext cx="2331720" cy="384048"/>
          </a:xfrm>
          <a:prstGeom prst="rect">
            <a:avLst/>
          </a:prstGeom>
          <a:noFill/>
          <a:ln/>
        </p:spPr>
        <p:txBody>
          <a:bodyPr wrap="square" lIns="0" tIns="0" rIns="0" bIns="0" rtlCol="0" anchor="ctr"/>
          <a:lstStyle/>
          <a:p>
            <a:pPr indent="0" marL="0">
              <a:buNone/>
            </a:pPr>
            <a:r>
              <a:rPr lang="en-US" sz="1000" dirty="0">
                <a:solidFill>
                  <a:srgbClr val="64748B"/>
                </a:solidFill>
              </a:rPr>
              <a:t>UAE pilot — Indian-managed institutions</a:t>
            </a:r>
            <a:endParaRPr lang="en-US" sz="1000" dirty="0"/>
          </a:p>
        </p:txBody>
      </p:sp>
      <p:sp>
        <p:nvSpPr>
          <p:cNvPr id="30" name="Shape 28"/>
          <p:cNvSpPr/>
          <p:nvPr/>
        </p:nvSpPr>
        <p:spPr>
          <a:xfrm>
            <a:off x="3392424" y="3054096"/>
            <a:ext cx="109728" cy="109728"/>
          </a:xfrm>
          <a:prstGeom prst="ellipse">
            <a:avLst/>
          </a:prstGeom>
          <a:solidFill>
            <a:srgbClr val="F9A825"/>
          </a:solidFill>
          <a:ln w="12700">
            <a:solidFill>
              <a:srgbClr val="F9A825"/>
            </a:solidFill>
            <a:prstDash val="solid"/>
          </a:ln>
        </p:spPr>
      </p:sp>
      <p:sp>
        <p:nvSpPr>
          <p:cNvPr id="31" name="Text 29"/>
          <p:cNvSpPr/>
          <p:nvPr/>
        </p:nvSpPr>
        <p:spPr>
          <a:xfrm>
            <a:off x="3557016" y="3008376"/>
            <a:ext cx="2331720" cy="384048"/>
          </a:xfrm>
          <a:prstGeom prst="rect">
            <a:avLst/>
          </a:prstGeom>
          <a:noFill/>
          <a:ln/>
        </p:spPr>
        <p:txBody>
          <a:bodyPr wrap="square" lIns="0" tIns="0" rIns="0" bIns="0" rtlCol="0" anchor="ctr"/>
          <a:lstStyle/>
          <a:p>
            <a:pPr indent="0" marL="0">
              <a:buNone/>
            </a:pPr>
            <a:r>
              <a:rPr lang="en-US" sz="1000" dirty="0">
                <a:solidFill>
                  <a:srgbClr val="64748B"/>
                </a:solidFill>
              </a:rPr>
              <a:t>Local payment gateway per region</a:t>
            </a:r>
            <a:endParaRPr lang="en-US" sz="1000" dirty="0"/>
          </a:p>
        </p:txBody>
      </p:sp>
      <p:sp>
        <p:nvSpPr>
          <p:cNvPr id="32" name="Shape 30"/>
          <p:cNvSpPr/>
          <p:nvPr/>
        </p:nvSpPr>
        <p:spPr>
          <a:xfrm>
            <a:off x="3392424" y="3474720"/>
            <a:ext cx="109728" cy="109728"/>
          </a:xfrm>
          <a:prstGeom prst="ellipse">
            <a:avLst/>
          </a:prstGeom>
          <a:solidFill>
            <a:srgbClr val="F9A825"/>
          </a:solidFill>
          <a:ln w="12700">
            <a:solidFill>
              <a:srgbClr val="F9A825"/>
            </a:solidFill>
            <a:prstDash val="solid"/>
          </a:ln>
        </p:spPr>
      </p:sp>
      <p:sp>
        <p:nvSpPr>
          <p:cNvPr id="33" name="Text 31"/>
          <p:cNvSpPr/>
          <p:nvPr/>
        </p:nvSpPr>
        <p:spPr>
          <a:xfrm>
            <a:off x="3557016" y="3429000"/>
            <a:ext cx="2331720" cy="384048"/>
          </a:xfrm>
          <a:prstGeom prst="rect">
            <a:avLst/>
          </a:prstGeom>
          <a:noFill/>
          <a:ln/>
        </p:spPr>
        <p:txBody>
          <a:bodyPr wrap="square" lIns="0" tIns="0" rIns="0" bIns="0" rtlCol="0" anchor="ctr"/>
          <a:lstStyle/>
          <a:p>
            <a:pPr indent="0" marL="0">
              <a:buNone/>
            </a:pPr>
            <a:r>
              <a:rPr lang="en-US" sz="1000" dirty="0">
                <a:solidFill>
                  <a:srgbClr val="64748B"/>
                </a:solidFill>
              </a:rPr>
              <a:t>Target: 300 institutions, ₹80 Cr ARR</a:t>
            </a:r>
            <a:endParaRPr lang="en-US" sz="1000" dirty="0"/>
          </a:p>
        </p:txBody>
      </p:sp>
      <p:sp>
        <p:nvSpPr>
          <p:cNvPr id="34" name="Shape 32"/>
          <p:cNvSpPr/>
          <p:nvPr/>
        </p:nvSpPr>
        <p:spPr>
          <a:xfrm>
            <a:off x="6181344" y="914400"/>
            <a:ext cx="2788920" cy="3931920"/>
          </a:xfrm>
          <a:prstGeom prst="roundRect">
            <a:avLst>
              <a:gd name="adj" fmla="val 3934"/>
            </a:avLst>
          </a:prstGeom>
          <a:solidFill>
            <a:srgbClr val="FFFFFF"/>
          </a:solidFill>
          <a:ln w="12700">
            <a:solidFill>
              <a:srgbClr val="64748B">
                <a:alpha val="70000"/>
              </a:srgbClr>
            </a:solidFill>
            <a:prstDash val="solid"/>
          </a:ln>
          <a:effectLst>
            <a:outerShdw sx="100000" sy="100000" kx="0" ky="0" algn="bl" rotWithShape="0" blurRad="101600" dist="25400" dir="2700000">
              <a:srgbClr val="000000">
                <a:alpha val="12000"/>
              </a:srgbClr>
            </a:outerShdw>
          </a:effectLst>
        </p:spPr>
      </p:sp>
      <p:sp>
        <p:nvSpPr>
          <p:cNvPr id="35" name="Shape 33"/>
          <p:cNvSpPr/>
          <p:nvPr/>
        </p:nvSpPr>
        <p:spPr>
          <a:xfrm>
            <a:off x="6309360" y="1005840"/>
            <a:ext cx="2532888" cy="329184"/>
          </a:xfrm>
          <a:prstGeom prst="roundRect">
            <a:avLst>
              <a:gd name="adj" fmla="val 16667"/>
            </a:avLst>
          </a:prstGeom>
          <a:solidFill>
            <a:srgbClr val="64748B"/>
          </a:solidFill>
          <a:ln w="12700">
            <a:solidFill>
              <a:srgbClr val="64748B"/>
            </a:solidFill>
            <a:prstDash val="solid"/>
          </a:ln>
        </p:spPr>
      </p:sp>
      <p:sp>
        <p:nvSpPr>
          <p:cNvPr id="36" name="Text 34"/>
          <p:cNvSpPr/>
          <p:nvPr/>
        </p:nvSpPr>
        <p:spPr>
          <a:xfrm>
            <a:off x="6309360" y="1005840"/>
            <a:ext cx="2532888" cy="329184"/>
          </a:xfrm>
          <a:prstGeom prst="rect">
            <a:avLst/>
          </a:prstGeom>
          <a:noFill/>
          <a:ln/>
        </p:spPr>
        <p:txBody>
          <a:bodyPr wrap="square" lIns="0" tIns="0" rIns="0" bIns="0" rtlCol="0" anchor="ctr"/>
          <a:lstStyle/>
          <a:p>
            <a:pPr algn="ctr" indent="0" marL="0">
              <a:buNone/>
            </a:pPr>
            <a:r>
              <a:rPr lang="en-US" sz="1100" b="1" dirty="0">
                <a:solidFill>
                  <a:srgbClr val="FFFFFF"/>
                </a:solidFill>
              </a:rPr>
              <a:t>H3 — International</a:t>
            </a:r>
            <a:endParaRPr lang="en-US" sz="1100" dirty="0"/>
          </a:p>
        </p:txBody>
      </p:sp>
      <p:sp>
        <p:nvSpPr>
          <p:cNvPr id="37" name="Text 35"/>
          <p:cNvSpPr/>
          <p:nvPr/>
        </p:nvSpPr>
        <p:spPr>
          <a:xfrm>
            <a:off x="6309360" y="1389888"/>
            <a:ext cx="2532888" cy="256032"/>
          </a:xfrm>
          <a:prstGeom prst="rect">
            <a:avLst/>
          </a:prstGeom>
          <a:noFill/>
          <a:ln/>
        </p:spPr>
        <p:txBody>
          <a:bodyPr wrap="square" lIns="0" tIns="0" rIns="0" bIns="0" rtlCol="0" anchor="ctr"/>
          <a:lstStyle/>
          <a:p>
            <a:pPr algn="ctr" indent="0" marL="0">
              <a:buNone/>
            </a:pPr>
            <a:r>
              <a:rPr lang="en-US" sz="1000" dirty="0">
                <a:solidFill>
                  <a:srgbClr val="64748B"/>
                </a:solidFill>
              </a:rPr>
              <a:t>24 → 48 months</a:t>
            </a:r>
            <a:endParaRPr lang="en-US" sz="1000" dirty="0"/>
          </a:p>
        </p:txBody>
      </p:sp>
      <p:sp>
        <p:nvSpPr>
          <p:cNvPr id="38" name="Shape 36"/>
          <p:cNvSpPr/>
          <p:nvPr/>
        </p:nvSpPr>
        <p:spPr>
          <a:xfrm>
            <a:off x="6501384" y="1682496"/>
            <a:ext cx="2148840" cy="0"/>
          </a:xfrm>
          <a:prstGeom prst="line">
            <a:avLst/>
          </a:prstGeom>
          <a:noFill/>
          <a:ln w="6350">
            <a:solidFill>
              <a:srgbClr val="CBD5E1"/>
            </a:solidFill>
            <a:prstDash val="solid"/>
          </a:ln>
        </p:spPr>
      </p:sp>
      <p:sp>
        <p:nvSpPr>
          <p:cNvPr id="39" name="Shape 37"/>
          <p:cNvSpPr/>
          <p:nvPr/>
        </p:nvSpPr>
        <p:spPr>
          <a:xfrm>
            <a:off x="6345936" y="1792224"/>
            <a:ext cx="109728" cy="109728"/>
          </a:xfrm>
          <a:prstGeom prst="ellipse">
            <a:avLst/>
          </a:prstGeom>
          <a:solidFill>
            <a:srgbClr val="64748B"/>
          </a:solidFill>
          <a:ln w="12700">
            <a:solidFill>
              <a:srgbClr val="64748B"/>
            </a:solidFill>
            <a:prstDash val="solid"/>
          </a:ln>
        </p:spPr>
      </p:sp>
      <p:sp>
        <p:nvSpPr>
          <p:cNvPr id="40" name="Text 38"/>
          <p:cNvSpPr/>
          <p:nvPr/>
        </p:nvSpPr>
        <p:spPr>
          <a:xfrm>
            <a:off x="6510528" y="1746504"/>
            <a:ext cx="2331720" cy="384048"/>
          </a:xfrm>
          <a:prstGeom prst="rect">
            <a:avLst/>
          </a:prstGeom>
          <a:noFill/>
          <a:ln/>
        </p:spPr>
        <p:txBody>
          <a:bodyPr wrap="square" lIns="0" tIns="0" rIns="0" bIns="0" rtlCol="0" anchor="ctr"/>
          <a:lstStyle/>
          <a:p>
            <a:pPr indent="0" marL="0">
              <a:buNone/>
            </a:pPr>
            <a:r>
              <a:rPr lang="en-US" sz="1000" dirty="0">
                <a:solidFill>
                  <a:srgbClr val="64748B"/>
                </a:solidFill>
              </a:rPr>
              <a:t>GDPR/FERPA full compliance</a:t>
            </a:r>
            <a:endParaRPr lang="en-US" sz="1000" dirty="0"/>
          </a:p>
        </p:txBody>
      </p:sp>
      <p:sp>
        <p:nvSpPr>
          <p:cNvPr id="41" name="Shape 39"/>
          <p:cNvSpPr/>
          <p:nvPr/>
        </p:nvSpPr>
        <p:spPr>
          <a:xfrm>
            <a:off x="6345936" y="2212848"/>
            <a:ext cx="109728" cy="109728"/>
          </a:xfrm>
          <a:prstGeom prst="ellipse">
            <a:avLst/>
          </a:prstGeom>
          <a:solidFill>
            <a:srgbClr val="64748B"/>
          </a:solidFill>
          <a:ln w="12700">
            <a:solidFill>
              <a:srgbClr val="64748B"/>
            </a:solidFill>
            <a:prstDash val="solid"/>
          </a:ln>
        </p:spPr>
      </p:sp>
      <p:sp>
        <p:nvSpPr>
          <p:cNvPr id="42" name="Text 40"/>
          <p:cNvSpPr/>
          <p:nvPr/>
        </p:nvSpPr>
        <p:spPr>
          <a:xfrm>
            <a:off x="6510528" y="2167128"/>
            <a:ext cx="2331720" cy="384048"/>
          </a:xfrm>
          <a:prstGeom prst="rect">
            <a:avLst/>
          </a:prstGeom>
          <a:noFill/>
          <a:ln/>
        </p:spPr>
        <p:txBody>
          <a:bodyPr wrap="square" lIns="0" tIns="0" rIns="0" bIns="0" rtlCol="0" anchor="ctr"/>
          <a:lstStyle/>
          <a:p>
            <a:pPr indent="0" marL="0">
              <a:buNone/>
            </a:pPr>
            <a:r>
              <a:rPr lang="en-US" sz="1000" dirty="0">
                <a:solidFill>
                  <a:srgbClr val="64748B"/>
                </a:solidFill>
              </a:rPr>
              <a:t>UK post-92 &amp; Australian TAFEs</a:t>
            </a:r>
            <a:endParaRPr lang="en-US" sz="1000" dirty="0"/>
          </a:p>
        </p:txBody>
      </p:sp>
      <p:sp>
        <p:nvSpPr>
          <p:cNvPr id="43" name="Shape 41"/>
          <p:cNvSpPr/>
          <p:nvPr/>
        </p:nvSpPr>
        <p:spPr>
          <a:xfrm>
            <a:off x="6345936" y="2633472"/>
            <a:ext cx="109728" cy="109728"/>
          </a:xfrm>
          <a:prstGeom prst="ellipse">
            <a:avLst/>
          </a:prstGeom>
          <a:solidFill>
            <a:srgbClr val="64748B"/>
          </a:solidFill>
          <a:ln w="12700">
            <a:solidFill>
              <a:srgbClr val="64748B"/>
            </a:solidFill>
            <a:prstDash val="solid"/>
          </a:ln>
        </p:spPr>
      </p:sp>
      <p:sp>
        <p:nvSpPr>
          <p:cNvPr id="44" name="Text 42"/>
          <p:cNvSpPr/>
          <p:nvPr/>
        </p:nvSpPr>
        <p:spPr>
          <a:xfrm>
            <a:off x="6510528" y="2587752"/>
            <a:ext cx="2331720" cy="384048"/>
          </a:xfrm>
          <a:prstGeom prst="rect">
            <a:avLst/>
          </a:prstGeom>
          <a:noFill/>
          <a:ln/>
        </p:spPr>
        <p:txBody>
          <a:bodyPr wrap="square" lIns="0" tIns="0" rIns="0" bIns="0" rtlCol="0" anchor="ctr"/>
          <a:lstStyle/>
          <a:p>
            <a:pPr indent="0" marL="0">
              <a:buNone/>
            </a:pPr>
            <a:r>
              <a:rPr lang="en-US" sz="1000" dirty="0">
                <a:solidFill>
                  <a:srgbClr val="64748B"/>
                </a:solidFill>
              </a:rPr>
              <a:t>UCAS / ApplyWeb integration</a:t>
            </a:r>
            <a:endParaRPr lang="en-US" sz="1000" dirty="0"/>
          </a:p>
        </p:txBody>
      </p:sp>
      <p:sp>
        <p:nvSpPr>
          <p:cNvPr id="45" name="Shape 43"/>
          <p:cNvSpPr/>
          <p:nvPr/>
        </p:nvSpPr>
        <p:spPr>
          <a:xfrm>
            <a:off x="6345936" y="3054096"/>
            <a:ext cx="109728" cy="109728"/>
          </a:xfrm>
          <a:prstGeom prst="ellipse">
            <a:avLst/>
          </a:prstGeom>
          <a:solidFill>
            <a:srgbClr val="64748B"/>
          </a:solidFill>
          <a:ln w="12700">
            <a:solidFill>
              <a:srgbClr val="64748B"/>
            </a:solidFill>
            <a:prstDash val="solid"/>
          </a:ln>
        </p:spPr>
      </p:sp>
      <p:sp>
        <p:nvSpPr>
          <p:cNvPr id="46" name="Text 44"/>
          <p:cNvSpPr/>
          <p:nvPr/>
        </p:nvSpPr>
        <p:spPr>
          <a:xfrm>
            <a:off x="6510528" y="3008376"/>
            <a:ext cx="2331720" cy="384048"/>
          </a:xfrm>
          <a:prstGeom prst="rect">
            <a:avLst/>
          </a:prstGeom>
          <a:noFill/>
          <a:ln/>
        </p:spPr>
        <p:txBody>
          <a:bodyPr wrap="square" lIns="0" tIns="0" rIns="0" bIns="0" rtlCol="0" anchor="ctr"/>
          <a:lstStyle/>
          <a:p>
            <a:pPr indent="0" marL="0">
              <a:buNone/>
            </a:pPr>
            <a:r>
              <a:rPr lang="en-US" sz="1000" dirty="0">
                <a:solidFill>
                  <a:srgbClr val="64748B"/>
                </a:solidFill>
              </a:rPr>
              <a:t>PAYE / STP / ADP payroll</a:t>
            </a:r>
            <a:endParaRPr lang="en-US" sz="1000" dirty="0"/>
          </a:p>
        </p:txBody>
      </p:sp>
      <p:sp>
        <p:nvSpPr>
          <p:cNvPr id="47" name="Shape 45"/>
          <p:cNvSpPr/>
          <p:nvPr/>
        </p:nvSpPr>
        <p:spPr>
          <a:xfrm>
            <a:off x="6345936" y="3474720"/>
            <a:ext cx="109728" cy="109728"/>
          </a:xfrm>
          <a:prstGeom prst="ellipse">
            <a:avLst/>
          </a:prstGeom>
          <a:solidFill>
            <a:srgbClr val="64748B"/>
          </a:solidFill>
          <a:ln w="12700">
            <a:solidFill>
              <a:srgbClr val="64748B"/>
            </a:solidFill>
            <a:prstDash val="solid"/>
          </a:ln>
        </p:spPr>
      </p:sp>
      <p:sp>
        <p:nvSpPr>
          <p:cNvPr id="48" name="Text 46"/>
          <p:cNvSpPr/>
          <p:nvPr/>
        </p:nvSpPr>
        <p:spPr>
          <a:xfrm>
            <a:off x="6510528" y="3429000"/>
            <a:ext cx="2331720" cy="384048"/>
          </a:xfrm>
          <a:prstGeom prst="rect">
            <a:avLst/>
          </a:prstGeom>
          <a:noFill/>
          <a:ln/>
        </p:spPr>
        <p:txBody>
          <a:bodyPr wrap="square" lIns="0" tIns="0" rIns="0" bIns="0" rtlCol="0" anchor="ctr"/>
          <a:lstStyle/>
          <a:p>
            <a:pPr indent="0" marL="0">
              <a:buNone/>
            </a:pPr>
            <a:r>
              <a:rPr lang="en-US" sz="1000" dirty="0">
                <a:solidFill>
                  <a:srgbClr val="64748B"/>
                </a:solidFill>
              </a:rPr>
              <a:t>Target: 600+ institutions, ₹300 Cr ARR</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B3E"/>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28090"/>
          </a:solidFill>
          <a:ln w="12700">
            <a:solidFill>
              <a:srgbClr val="028090"/>
            </a:solidFill>
            <a:prstDash val="solid"/>
          </a:ln>
        </p:spPr>
      </p:sp>
      <p:sp>
        <p:nvSpPr>
          <p:cNvPr id="3" name="Shape 1"/>
          <p:cNvSpPr/>
          <p:nvPr/>
        </p:nvSpPr>
        <p:spPr>
          <a:xfrm>
            <a:off x="5303520" y="-731520"/>
            <a:ext cx="5029200" cy="5029200"/>
          </a:xfrm>
          <a:prstGeom prst="ellipse">
            <a:avLst/>
          </a:prstGeom>
          <a:solidFill>
            <a:srgbClr val="028090">
              <a:alpha val="10000"/>
            </a:srgbClr>
          </a:solidFill>
          <a:ln w="12700">
            <a:solidFill>
              <a:srgbClr val="028090">
                <a:alpha val="15000"/>
              </a:srgbClr>
            </a:solidFill>
            <a:prstDash val="solid"/>
          </a:ln>
        </p:spPr>
      </p:sp>
      <p:sp>
        <p:nvSpPr>
          <p:cNvPr id="4" name="Text 2"/>
          <p:cNvSpPr/>
          <p:nvPr/>
        </p:nvSpPr>
        <p:spPr>
          <a:xfrm>
            <a:off x="411480" y="914400"/>
            <a:ext cx="8321040" cy="640080"/>
          </a:xfrm>
          <a:prstGeom prst="rect">
            <a:avLst/>
          </a:prstGeom>
          <a:noFill/>
          <a:ln/>
        </p:spPr>
        <p:txBody>
          <a:bodyPr wrap="square"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THE WINDOW IS NOW.</a:t>
            </a:r>
            <a:endParaRPr lang="en-US" sz="4000" dirty="0"/>
          </a:p>
        </p:txBody>
      </p:sp>
      <p:sp>
        <p:nvSpPr>
          <p:cNvPr id="5" name="Text 3"/>
          <p:cNvSpPr/>
          <p:nvPr/>
        </p:nvSpPr>
        <p:spPr>
          <a:xfrm>
            <a:off x="411480" y="1691640"/>
            <a:ext cx="7315200" cy="914400"/>
          </a:xfrm>
          <a:prstGeom prst="rect">
            <a:avLst/>
          </a:prstGeom>
          <a:noFill/>
          <a:ln/>
        </p:spPr>
        <p:txBody>
          <a:bodyPr wrap="square" rtlCol="0" anchor="ctr"/>
          <a:lstStyle/>
          <a:p>
            <a:pPr indent="0" marL="0">
              <a:buNone/>
            </a:pPr>
            <a:r>
              <a:rPr lang="en-US" sz="1400" i="1" dirty="0">
                <a:solidFill>
                  <a:srgbClr val="94A3B8"/>
                </a:solidFill>
              </a:rPr>
              <a:t>Legacy players are technically stale. Western vendors are priced out. Modern cloud competitors are generic.</a:t>
            </a:r>
            <a:endParaRPr lang="en-US" sz="1400" dirty="0"/>
          </a:p>
          <a:p>
            <a:pPr indent="0" marL="0">
              <a:buNone/>
            </a:pPr>
            <a:r>
              <a:rPr lang="en-US" sz="1400" i="1" dirty="0">
                <a:solidFill>
                  <a:srgbClr val="94A3B8"/>
                </a:solidFill>
              </a:rPr>
              <a:t>Aura is the first NAAC-native, cloud-first, full academic ERP — and the market is waiting.</a:t>
            </a:r>
            <a:endParaRPr lang="en-US" sz="1400" dirty="0"/>
          </a:p>
        </p:txBody>
      </p:sp>
      <p:sp>
        <p:nvSpPr>
          <p:cNvPr id="6" name="Shape 4"/>
          <p:cNvSpPr/>
          <p:nvPr/>
        </p:nvSpPr>
        <p:spPr>
          <a:xfrm>
            <a:off x="411480" y="2834640"/>
            <a:ext cx="2651760" cy="1188720"/>
          </a:xfrm>
          <a:prstGeom prst="roundRect">
            <a:avLst>
              <a:gd name="adj" fmla="val 7692"/>
            </a:avLst>
          </a:prstGeom>
          <a:solidFill>
            <a:srgbClr val="1A2F5C"/>
          </a:solidFill>
          <a:ln w="12700">
            <a:solidFill>
              <a:srgbClr val="028090">
                <a:alpha val="50000"/>
              </a:srgbClr>
            </a:solidFill>
            <a:prstDash val="solid"/>
          </a:ln>
        </p:spPr>
      </p:sp>
      <p:sp>
        <p:nvSpPr>
          <p:cNvPr id="7" name="Text 5"/>
          <p:cNvSpPr/>
          <p:nvPr/>
        </p:nvSpPr>
        <p:spPr>
          <a:xfrm>
            <a:off x="411480" y="2907792"/>
            <a:ext cx="2651760" cy="548640"/>
          </a:xfrm>
          <a:prstGeom prst="rect">
            <a:avLst/>
          </a:prstGeom>
          <a:noFill/>
          <a:ln/>
        </p:spPr>
        <p:txBody>
          <a:bodyPr wrap="square" lIns="0" tIns="0" rIns="0" bIns="0" rtlCol="0" anchor="ctr"/>
          <a:lstStyle/>
          <a:p>
            <a:pPr algn="ctr" indent="0" marL="0">
              <a:buNone/>
            </a:pPr>
            <a:r>
              <a:rPr lang="en-US" sz="2600" b="1" dirty="0">
                <a:solidFill>
                  <a:srgbClr val="028090"/>
                </a:solidFill>
                <a:latin typeface="Cambria" pitchFamily="34" charset="0"/>
                <a:ea typeface="Cambria" pitchFamily="34" charset="-122"/>
                <a:cs typeface="Cambria" pitchFamily="34" charset="-120"/>
              </a:rPr>
              <a:t>87</a:t>
            </a:r>
            <a:endParaRPr lang="en-US" sz="2600" dirty="0"/>
          </a:p>
        </p:txBody>
      </p:sp>
      <p:sp>
        <p:nvSpPr>
          <p:cNvPr id="8" name="Text 6"/>
          <p:cNvSpPr/>
          <p:nvPr/>
        </p:nvSpPr>
        <p:spPr>
          <a:xfrm>
            <a:off x="411480" y="3456432"/>
            <a:ext cx="2651760" cy="457200"/>
          </a:xfrm>
          <a:prstGeom prst="rect">
            <a:avLst/>
          </a:prstGeom>
          <a:noFill/>
          <a:ln/>
        </p:spPr>
        <p:txBody>
          <a:bodyPr wrap="square" lIns="0" tIns="0" rIns="0" bIns="0" rtlCol="0" anchor="ctr"/>
          <a:lstStyle/>
          <a:p>
            <a:pPr algn="ctr" indent="0" marL="0">
              <a:buNone/>
            </a:pPr>
            <a:r>
              <a:rPr lang="en-US" sz="1000" dirty="0">
                <a:solidFill>
                  <a:srgbClr val="94A3B8"/>
                </a:solidFill>
              </a:rPr>
              <a:t>Tracked modules</a:t>
            </a:r>
            <a:endParaRPr lang="en-US" sz="1000" dirty="0"/>
          </a:p>
          <a:p>
            <a:pPr algn="ctr" indent="0" marL="0">
              <a:buNone/>
            </a:pPr>
            <a:r>
              <a:rPr lang="en-US" sz="1000" dirty="0">
                <a:solidFill>
                  <a:srgbClr val="94A3B8"/>
                </a:solidFill>
              </a:rPr>
              <a:t>across 9 phases</a:t>
            </a:r>
            <a:endParaRPr lang="en-US" sz="1000" dirty="0"/>
          </a:p>
        </p:txBody>
      </p:sp>
      <p:sp>
        <p:nvSpPr>
          <p:cNvPr id="9" name="Shape 7"/>
          <p:cNvSpPr/>
          <p:nvPr/>
        </p:nvSpPr>
        <p:spPr>
          <a:xfrm>
            <a:off x="3319272" y="2834640"/>
            <a:ext cx="2651760" cy="1188720"/>
          </a:xfrm>
          <a:prstGeom prst="roundRect">
            <a:avLst>
              <a:gd name="adj" fmla="val 7692"/>
            </a:avLst>
          </a:prstGeom>
          <a:solidFill>
            <a:srgbClr val="1A2F5C"/>
          </a:solidFill>
          <a:ln w="12700">
            <a:solidFill>
              <a:srgbClr val="028090">
                <a:alpha val="50000"/>
              </a:srgbClr>
            </a:solidFill>
            <a:prstDash val="solid"/>
          </a:ln>
        </p:spPr>
      </p:sp>
      <p:sp>
        <p:nvSpPr>
          <p:cNvPr id="10" name="Text 8"/>
          <p:cNvSpPr/>
          <p:nvPr/>
        </p:nvSpPr>
        <p:spPr>
          <a:xfrm>
            <a:off x="3319272" y="2907792"/>
            <a:ext cx="2651760" cy="548640"/>
          </a:xfrm>
          <a:prstGeom prst="rect">
            <a:avLst/>
          </a:prstGeom>
          <a:noFill/>
          <a:ln/>
        </p:spPr>
        <p:txBody>
          <a:bodyPr wrap="square" lIns="0" tIns="0" rIns="0" bIns="0" rtlCol="0" anchor="ctr"/>
          <a:lstStyle/>
          <a:p>
            <a:pPr algn="ctr" indent="0" marL="0">
              <a:buNone/>
            </a:pPr>
            <a:r>
              <a:rPr lang="en-US" sz="2600" b="1" dirty="0">
                <a:solidFill>
                  <a:srgbClr val="028090"/>
                </a:solidFill>
                <a:latin typeface="Cambria" pitchFamily="34" charset="0"/>
                <a:ea typeface="Cambria" pitchFamily="34" charset="-122"/>
                <a:cs typeface="Cambria" pitchFamily="34" charset="-120"/>
              </a:rPr>
              <a:t>₹100 Cr+</a:t>
            </a:r>
            <a:endParaRPr lang="en-US" sz="2600" dirty="0"/>
          </a:p>
        </p:txBody>
      </p:sp>
      <p:sp>
        <p:nvSpPr>
          <p:cNvPr id="11" name="Text 9"/>
          <p:cNvSpPr/>
          <p:nvPr/>
        </p:nvSpPr>
        <p:spPr>
          <a:xfrm>
            <a:off x="3319272" y="3456432"/>
            <a:ext cx="2651760" cy="457200"/>
          </a:xfrm>
          <a:prstGeom prst="rect">
            <a:avLst/>
          </a:prstGeom>
          <a:noFill/>
          <a:ln/>
        </p:spPr>
        <p:txBody>
          <a:bodyPr wrap="square" lIns="0" tIns="0" rIns="0" bIns="0" rtlCol="0" anchor="ctr"/>
          <a:lstStyle/>
          <a:p>
            <a:pPr algn="ctr" indent="0" marL="0">
              <a:buNone/>
            </a:pPr>
            <a:r>
              <a:rPr lang="en-US" sz="1000" dirty="0">
                <a:solidFill>
                  <a:srgbClr val="94A3B8"/>
                </a:solidFill>
              </a:rPr>
              <a:t>ARR at 1% India</a:t>
            </a:r>
            <a:endParaRPr lang="en-US" sz="1000" dirty="0"/>
          </a:p>
          <a:p>
            <a:pPr algn="ctr" indent="0" marL="0">
              <a:buNone/>
            </a:pPr>
            <a:r>
              <a:rPr lang="en-US" sz="1000" dirty="0">
                <a:solidFill>
                  <a:srgbClr val="94A3B8"/>
                </a:solidFill>
              </a:rPr>
              <a:t>market penetration</a:t>
            </a:r>
            <a:endParaRPr lang="en-US" sz="1000" dirty="0"/>
          </a:p>
        </p:txBody>
      </p:sp>
      <p:sp>
        <p:nvSpPr>
          <p:cNvPr id="12" name="Shape 10"/>
          <p:cNvSpPr/>
          <p:nvPr/>
        </p:nvSpPr>
        <p:spPr>
          <a:xfrm>
            <a:off x="6227064" y="2834640"/>
            <a:ext cx="2651760" cy="1188720"/>
          </a:xfrm>
          <a:prstGeom prst="roundRect">
            <a:avLst>
              <a:gd name="adj" fmla="val 7692"/>
            </a:avLst>
          </a:prstGeom>
          <a:solidFill>
            <a:srgbClr val="1A2F5C"/>
          </a:solidFill>
          <a:ln w="12700">
            <a:solidFill>
              <a:srgbClr val="028090">
                <a:alpha val="50000"/>
              </a:srgbClr>
            </a:solidFill>
            <a:prstDash val="solid"/>
          </a:ln>
        </p:spPr>
      </p:sp>
      <p:sp>
        <p:nvSpPr>
          <p:cNvPr id="13" name="Text 11"/>
          <p:cNvSpPr/>
          <p:nvPr/>
        </p:nvSpPr>
        <p:spPr>
          <a:xfrm>
            <a:off x="6227064" y="2907792"/>
            <a:ext cx="2651760" cy="548640"/>
          </a:xfrm>
          <a:prstGeom prst="rect">
            <a:avLst/>
          </a:prstGeom>
          <a:noFill/>
          <a:ln/>
        </p:spPr>
        <p:txBody>
          <a:bodyPr wrap="square" lIns="0" tIns="0" rIns="0" bIns="0" rtlCol="0" anchor="ctr"/>
          <a:lstStyle/>
          <a:p>
            <a:pPr algn="ctr" indent="0" marL="0">
              <a:buNone/>
            </a:pPr>
            <a:r>
              <a:rPr lang="en-US" sz="2600" b="1" dirty="0">
                <a:solidFill>
                  <a:srgbClr val="028090"/>
                </a:solidFill>
                <a:latin typeface="Cambria" pitchFamily="34" charset="0"/>
                <a:ea typeface="Cambria" pitchFamily="34" charset="-122"/>
                <a:cs typeface="Cambria" pitchFamily="34" charset="-120"/>
              </a:rPr>
              <a:t>135,000+</a:t>
            </a:r>
            <a:endParaRPr lang="en-US" sz="2600" dirty="0"/>
          </a:p>
        </p:txBody>
      </p:sp>
      <p:sp>
        <p:nvSpPr>
          <p:cNvPr id="14" name="Text 12"/>
          <p:cNvSpPr/>
          <p:nvPr/>
        </p:nvSpPr>
        <p:spPr>
          <a:xfrm>
            <a:off x="6227064" y="3456432"/>
            <a:ext cx="2651760" cy="457200"/>
          </a:xfrm>
          <a:prstGeom prst="rect">
            <a:avLst/>
          </a:prstGeom>
          <a:noFill/>
          <a:ln/>
        </p:spPr>
        <p:txBody>
          <a:bodyPr wrap="square" lIns="0" tIns="0" rIns="0" bIns="0" rtlCol="0" anchor="ctr"/>
          <a:lstStyle/>
          <a:p>
            <a:pPr algn="ctr" indent="0" marL="0">
              <a:buNone/>
            </a:pPr>
            <a:r>
              <a:rPr lang="en-US" sz="1000" dirty="0">
                <a:solidFill>
                  <a:srgbClr val="94A3B8"/>
                </a:solidFill>
              </a:rPr>
              <a:t>Addressable institutions</a:t>
            </a:r>
            <a:endParaRPr lang="en-US" sz="1000" dirty="0"/>
          </a:p>
          <a:p>
            <a:pPr algn="ctr" indent="0" marL="0">
              <a:buNone/>
            </a:pPr>
            <a:r>
              <a:rPr lang="en-US" sz="1000" dirty="0">
                <a:solidFill>
                  <a:srgbClr val="94A3B8"/>
                </a:solidFill>
              </a:rPr>
              <a:t>across 9 countries</a:t>
            </a:r>
            <a:endParaRPr lang="en-US" sz="1000" dirty="0"/>
          </a:p>
        </p:txBody>
      </p:sp>
      <p:sp>
        <p:nvSpPr>
          <p:cNvPr id="15" name="Text 13"/>
          <p:cNvSpPr/>
          <p:nvPr/>
        </p:nvSpPr>
        <p:spPr>
          <a:xfrm>
            <a:off x="411480" y="4389120"/>
            <a:ext cx="8321040" cy="365760"/>
          </a:xfrm>
          <a:prstGeom prst="rect">
            <a:avLst/>
          </a:prstGeom>
          <a:noFill/>
          <a:ln/>
        </p:spPr>
        <p:txBody>
          <a:bodyPr wrap="square" rtlCol="0" anchor="ctr"/>
          <a:lstStyle/>
          <a:p>
            <a:pPr algn="ctr" indent="0" marL="0">
              <a:buNone/>
            </a:pPr>
            <a:r>
              <a:rPr lang="en-US" sz="1300" b="1" dirty="0">
                <a:solidFill>
                  <a:srgbClr val="F9A825"/>
                </a:solidFill>
              </a:rPr>
              <a:t>Next step: Complete Phase 2.5 → Onboard first pilot institution → Ship it.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Aura ERP — Global Market Opportunity</dc:title>
  <dc:subject>PptxGenJS Presentation</dc:subject>
  <dc:creator>Aura</dc:creator>
  <cp:lastModifiedBy>Aura</cp:lastModifiedBy>
  <cp:revision>1</cp:revision>
  <dcterms:created xsi:type="dcterms:W3CDTF">2026-06-10T10:00:22Z</dcterms:created>
  <dcterms:modified xsi:type="dcterms:W3CDTF">2026-06-10T10:00:22Z</dcterms:modified>
</cp:coreProperties>
</file>